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269748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48840"/>
            <a:ext cx="1554480" cy="3810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158496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BFB3A8"/>
                </a:solidFill>
                <a:latin typeface="Söhne Halbfett"/>
                <a:cs typeface="Söhne Halbfett"/>
              </a:rPr>
              <a:t>PROJECT HANDOVER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Portfolio Allocation App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ECE8E5"/>
                </a:solidFill>
                <a:latin typeface="Sometimes Times Medium"/>
                <a:cs typeface="Sometimes Times Medium"/>
              </a:rPr>
              <a:t>Status, architecture &amp; how to run it on Teroxx 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öhne Kräftig"/>
                <a:cs typeface="Söhne Kräftig"/>
              </a:rPr>
              <a:t>Prepared by Aleksander Biesaga  —  Digital Assets, Teroxx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 spc="200">
                <a:solidFill>
                  <a:srgbClr val="BFB3A8"/>
                </a:solidFill>
                <a:latin typeface="Söhne Halbfett"/>
                <a:cs typeface="Söhne Halbfett"/>
              </a:rPr>
              <a:t>Handover 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CE8E5"/>
                </a:solidFill>
                <a:latin typeface="Söhne"/>
                <a:cs typeface="Söhne"/>
              </a:rPr>
              <a:t>Research — Jannick Broering, Leonardo Larieira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CE8E5"/>
                </a:solidFill>
                <a:latin typeface="Söhne"/>
                <a:cs typeface="Söhne"/>
              </a:rPr>
              <a:t>IT — Emil Jorgensen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093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095AB"/>
                </a:solidFill>
                <a:latin typeface="Söhne"/>
                <a:cs typeface="Söhne"/>
              </a:rPr>
              <a:t>Confidential — internal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ORIENTATION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How to read this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This one deck serves two audiences. </a:t>
            </a: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Every slide is tagged so you can read only what is relevant to you — or read it all for the full picture.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03120"/>
            <a:ext cx="5394960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103120"/>
            <a:ext cx="82296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8600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50">
                <a:solidFill>
                  <a:srgbClr val="0B688C"/>
                </a:solidFill>
                <a:latin typeface="Söhne Halbfett"/>
                <a:cs typeface="Söhne Halbfett"/>
              </a:rPr>
              <a:t>FOR RESEARCH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What the app does, the day-to-day workflow, the model, and where it lives. No code required.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2103120"/>
            <a:ext cx="5394960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2103120"/>
            <a:ext cx="82296" cy="141732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28600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Architecture, data, security, integrations, and a step-by-step runbook to redeploy on Teroxx-owned cloud.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94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00">
                <a:solidFill>
                  <a:srgbClr val="0B688C"/>
                </a:solidFill>
                <a:latin typeface="Söhne Halbfett"/>
                <a:cs typeface="Söhne Halbfett"/>
              </a:rPr>
              <a:t>WHAT'S INSIDE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öhne Fett"/>
                <a:cs typeface="Söhne Fett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133087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430"/>
                </a:solidFill>
                <a:latin typeface="Söhne Halbfett"/>
                <a:cs typeface="Söhne Halbfett"/>
              </a:rPr>
              <a:t>What the app does 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Capabilities, workflow, the model &amp; data — plain language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617720"/>
            <a:ext cx="384048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90288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430"/>
                </a:solidFill>
                <a:latin typeface="Söhne Halbfett"/>
                <a:cs typeface="Söhne Halbfett"/>
              </a:rPr>
              <a:t>Project status 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What's live, known limitations, where it runs today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74920"/>
            <a:ext cx="384048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074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öhne Fett"/>
                <a:cs typeface="Söhne Fett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047488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430"/>
                </a:solidFill>
                <a:latin typeface="Söhne Halbfett"/>
                <a:cs typeface="Söhne Halbfett"/>
              </a:rPr>
              <a:t>Architecture 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Stack, data, security, the proposal engine, integrations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32120"/>
            <a:ext cx="384048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öhne Fett"/>
                <a:cs typeface="Söhne Fett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04688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430"/>
                </a:solidFill>
                <a:latin typeface="Söhne Halbfett"/>
                <a:cs typeface="Söhne Halbfett"/>
              </a:rPr>
              <a:t>Standing it up on your cloud 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Migration runbook, recommended path, credentials transfer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989320"/>
            <a:ext cx="384048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9893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öhne Fett"/>
                <a:cs typeface="Söhne Fett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961888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430"/>
                </a:solidFill>
                <a:latin typeface="Söhne Halbfett"/>
                <a:cs typeface="Söhne Halbfett"/>
              </a:rPr>
              <a:t>Ownership &amp; handover 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Who owns what, first-week checklist, contacts &amp; index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D06643"/>
                </a:solidFill>
                <a:latin typeface="Sometimes Times Medium"/>
                <a:cs typeface="Sometimes Times Medium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1750" cy="219456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23317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What the app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370332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Capabilities &amp; the advisor workflow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The investable universes &amp; baskets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The allocation model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Where the data comes from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6172200"/>
            <a:ext cx="1036320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  <a:ln w="15875">
            <a:solidFill>
              <a:srgbClr val="BFB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BFB3A8"/>
                </a:solidFill>
                <a:latin typeface="Söhne Halbfett"/>
                <a:cs typeface="Söhne Halbfett"/>
              </a:rPr>
              <a:t>FOR RESEARCH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In one minute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430"/>
                </a:solidFill>
                <a:latin typeface="Söhne Halbfett"/>
                <a:cs typeface="Söhne Halbfett"/>
              </a:rPr>
              <a:t>The Portfolio Allocation App is the web version of Teroxx's Portfolio Allocation Model (v5.0). </a:t>
            </a:r>
            <a:r>
              <a:rPr sz="1450" b="0" i="0">
                <a:solidFill>
                  <a:srgbClr val="4A5170"/>
                </a:solidFill>
                <a:latin typeface="Söhne"/>
                <a:cs typeface="Söhne"/>
              </a:rPr>
              <a:t>An advisor picks a client's risk profile and investable universe; the app scores 79 crypto assets, builds a personalised allocation, tracks the live portfolio, and exports a fully branded client proposal as Word, PDF or Google Doc.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06040"/>
            <a:ext cx="2697480" cy="13716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06040"/>
            <a:ext cx="269748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761488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79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0156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assets scored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9095AB"/>
                </a:solidFill>
                <a:latin typeface="Söhne"/>
                <a:cs typeface="Söhne"/>
              </a:rPr>
              <a:t>multi-factor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4992" y="2606040"/>
            <a:ext cx="2697480" cy="13716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4992" y="2606040"/>
            <a:ext cx="269748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761488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340156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advisor tabs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9095AB"/>
                </a:solidFill>
                <a:latin typeface="Söhne"/>
                <a:cs typeface="Söhne"/>
              </a:rPr>
              <a:t>allocate → propose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2606040"/>
            <a:ext cx="2697480" cy="13716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2606040"/>
            <a:ext cx="269748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761488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340156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export formats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9095AB"/>
                </a:solidFill>
                <a:latin typeface="Söhne"/>
                <a:cs typeface="Söhne"/>
              </a:rPr>
              <a:t>DOCX · PDF · GDoc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2606040"/>
            <a:ext cx="2697480" cy="13716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97696" y="2606040"/>
            <a:ext cx="269748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2761488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7696" y="3401568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in daily use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9095AB"/>
                </a:solidFill>
                <a:latin typeface="Söhne"/>
                <a:cs typeface="Söhne"/>
              </a:rPr>
              <a:t>by the advisory desk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297680"/>
            <a:ext cx="11091672" cy="1691640"/>
          </a:xfrm>
          <a:prstGeom prst="rect">
            <a:avLst/>
          </a:prstGeom>
          <a:solidFill>
            <a:srgbClr val="FBF0EC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297680"/>
            <a:ext cx="82296" cy="169164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4805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80">
                <a:solidFill>
                  <a:srgbClr val="D06643"/>
                </a:solidFill>
                <a:latin typeface="Söhne Halbfett"/>
                <a:cs typeface="Söhne Halbfett"/>
              </a:rPr>
              <a:t>WHY THIS HANDOVER MATTERS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28032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Today the app runs on Aleksander's </a:t>
            </a: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private personal Render account</a:t>
            </a: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. When that account goes away, so does the deployment. The goal of this handover is to move it onto Teroxx-owned cloud and Teroxx-owned credentials, with Research owning the content and IT owning the infrastructure.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The eight advisor tabs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B688C"/>
                </a:solidFill>
                <a:latin typeface="Söhne Halbfett"/>
                <a:cs typeface="Söhne Halbfett"/>
              </a:rPr>
              <a:t>FOR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417320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417320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1572768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Allocator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Risk profile + universe → target allocation table &amp; donut chart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417320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417320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1417320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1572768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Your Portfolio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Enter a portfolio value → position sizes with BUY actions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97480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697480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697480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" y="2852928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Recurring Buys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DCA planner: scope, horizon, minimum order + backtest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2697480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1344" y="2697480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1344" y="2697480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2852928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Factor Scores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The 5-factor model: weights, radar &amp; composite scores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977639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977639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77639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4133087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Fundamentals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The 10-factor fundamental model per asset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3977639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81344" y="3977639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3977639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848" y="4133087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Allocations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Risk tilts, strategic weights, per-asset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257799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257799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257799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5413247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Rebalancing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Current vs target → concrete BUY / SELL actions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4" y="5257799"/>
            <a:ext cx="5458968" cy="1133856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1344" y="5257799"/>
            <a:ext cx="457200" cy="1133856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81344" y="5257799"/>
            <a:ext cx="457200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öhne Fett"/>
                <a:cs typeface="Söhne Fett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4848" y="5413247"/>
            <a:ext cx="47274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60D43"/>
                </a:solidFill>
                <a:latin typeface="Söhne Halbfett"/>
                <a:cs typeface="Söhne Halbfett"/>
              </a:rPr>
              <a:t>P&amp;L Tracker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Entry price/qty → unrealised P&amp;L against live prices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From risk profile to client proposal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B688C"/>
                </a:solidFill>
                <a:latin typeface="Söhne Halbfett"/>
                <a:cs typeface="Söhne Halbfett"/>
              </a:rPr>
              <a:t>FOR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The everyday advisor journey — five steps, ending in a branded document ready to send.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48840"/>
            <a:ext cx="2084831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148840"/>
            <a:ext cx="2084831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35023" y="2423160"/>
            <a:ext cx="512064" cy="512064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5023" y="242316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öhne Fett"/>
                <a:cs typeface="Söhne Fett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081528"/>
            <a:ext cx="1865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0D43"/>
                </a:solidFill>
                <a:latin typeface="Söhne Halbfett"/>
                <a:cs typeface="Söhne Halbfett"/>
              </a:rPr>
              <a:t>Select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7472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Choose the client, risk profile and investable universe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97180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2148840"/>
            <a:ext cx="2084831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70632" y="2148840"/>
            <a:ext cx="2084831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57015" y="2423160"/>
            <a:ext cx="512064" cy="512064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57015" y="242316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081528"/>
            <a:ext cx="1865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0D43"/>
                </a:solidFill>
                <a:latin typeface="Söhne Halbfett"/>
                <a:cs typeface="Söhne Halbfett"/>
              </a:rPr>
              <a:t>Allocate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1" y="347472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The app scores 79 assets and builds the target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7176" y="297180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92623" y="2148840"/>
            <a:ext cx="2084831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2623" y="2148840"/>
            <a:ext cx="2084831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79007" y="2423160"/>
            <a:ext cx="512064" cy="512064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9007" y="242316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öhne Fett"/>
                <a:cs typeface="Söhne Fett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2351" y="3081528"/>
            <a:ext cx="1865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0D43"/>
                </a:solidFill>
                <a:latin typeface="Söhne Halbfett"/>
                <a:cs typeface="Söhne Halbfett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9783" y="347472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Check positions, rebalancing actions, P&amp;L and drift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7" y="297180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14615" y="2148840"/>
            <a:ext cx="2084831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14615" y="2148840"/>
            <a:ext cx="2084831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1000" y="2423160"/>
            <a:ext cx="512064" cy="512064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242316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öhne Fett"/>
                <a:cs typeface="Söhne Fett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4343" y="3081528"/>
            <a:ext cx="1865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0D43"/>
                </a:solidFill>
                <a:latin typeface="Söhne Halbfett"/>
                <a:cs typeface="Söhne Halbfett"/>
              </a:rPr>
              <a:t>Personalise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347472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Add advisor notes, market view, execution plan (EN or 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59" y="297180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36607" y="2148840"/>
            <a:ext cx="2084831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436607" y="2148840"/>
            <a:ext cx="2084831" cy="3810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222992" y="2423160"/>
            <a:ext cx="512064" cy="512064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22992" y="242316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öhne Fett"/>
                <a:cs typeface="Söhne Fett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5" y="3081528"/>
            <a:ext cx="18653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0D43"/>
                </a:solidFill>
                <a:latin typeface="Söhne Halbfett"/>
                <a:cs typeface="Söhne Halbfett"/>
              </a:rPr>
              <a:t>Export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73767" y="347472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One click → branded Word, PDF or Google Doc proposal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892040"/>
            <a:ext cx="11091672" cy="1051560"/>
          </a:xfrm>
          <a:prstGeom prst="rect">
            <a:avLst/>
          </a:prstGeom>
          <a:solidFill>
            <a:srgbClr val="F0F5F7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04748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88C"/>
                </a:solidFill>
                <a:latin typeface="Söhne Halbfett"/>
                <a:cs typeface="Söhne Halbfett"/>
              </a:rPr>
              <a:t>Faithful proposals:  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when the advisor hits export, the app freezes the exact on-screen allocation, so the document is a true record of what was reviewed — not a later recompute against moved market data. The Word file is the master; PDF and Google Doc are conversions of it, so the three can never drift apart.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The selectable universes &amp; baskets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B688C"/>
                </a:solidFill>
                <a:latin typeface="Söhne Halbfett"/>
                <a:cs typeface="Söhne Halbfett"/>
              </a:rPr>
              <a:t>FOR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Before allocating, the advisor picks a starting list. Two kinds: the firm's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model portfolios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 (broad, risk-tiered) or a single-theme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thematic basket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 (index-style, 100% in-theme).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50">
                <a:solidFill>
                  <a:srgbClr val="0B688C"/>
                </a:solidFill>
                <a:latin typeface="Söhne Halbfett"/>
                <a:cs typeface="Söhne Halbfett"/>
              </a:rPr>
              <a:t>MODEL PORTFOLIOS  —  pick 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194560"/>
            <a:ext cx="5943600" cy="1170432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194560"/>
            <a:ext cx="82296" cy="1170432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0448" y="2340864"/>
            <a:ext cx="502920" cy="4572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2340864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öhne Fett"/>
                <a:cs typeface="Söhne Fett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31343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Teroxx Core   </a:t>
            </a:r>
            <a:r>
              <a:rPr sz="1050" b="0" i="1">
                <a:solidFill>
                  <a:srgbClr val="9095AB"/>
                </a:solidFill>
                <a:latin typeface="Söhne"/>
                <a:cs typeface="Söhne"/>
              </a:rPr>
              <a:t>Live, active offering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51760"/>
            <a:ext cx="5029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4A5170"/>
                </a:solidFill>
                <a:latin typeface="Söhne"/>
                <a:cs typeface="Söhne"/>
              </a:rPr>
              <a:t>USDC · EURC · PAXG · BTC · ETH · BNB · XRP · ADA · POL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56432"/>
            <a:ext cx="5943600" cy="1170432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456432"/>
            <a:ext cx="82296" cy="1170432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70448" y="3602736"/>
            <a:ext cx="502920" cy="4572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0448" y="3602736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öhne Fett"/>
                <a:cs typeface="Söhne Fett"/>
              </a:rPr>
              <a:t>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575303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Teroxx Expanded   </a:t>
            </a:r>
            <a:r>
              <a:rPr sz="1050" b="0" i="1">
                <a:solidFill>
                  <a:srgbClr val="9095AB"/>
                </a:solidFill>
                <a:latin typeface="Söhne"/>
                <a:cs typeface="Söhne"/>
              </a:rPr>
              <a:t>Confirmed MVP next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3913631"/>
            <a:ext cx="5029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4A5170"/>
                </a:solidFill>
                <a:latin typeface="Söhne"/>
                <a:cs typeface="Söhne"/>
              </a:rPr>
              <a:t>Core + MNT, and DeFi/infra: AAVE · UNI · COMP · EUL · PENDLE · SYRUP · ENA · ONDO · LINK · QNT · CHZ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18304"/>
            <a:ext cx="5943600" cy="1170432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718304"/>
            <a:ext cx="82296" cy="1170432"/>
          </a:xfrm>
          <a:prstGeom prst="rect">
            <a:avLst/>
          </a:prstGeom>
          <a:solidFill>
            <a:srgbClr val="5C6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70448" y="4864608"/>
            <a:ext cx="502920" cy="457200"/>
          </a:xfrm>
          <a:prstGeom prst="rect">
            <a:avLst/>
          </a:prstGeom>
          <a:solidFill>
            <a:srgbClr val="5C6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0448" y="4864608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öhne Fett"/>
                <a:cs typeface="Söhne Fett"/>
              </a:rPr>
              <a:t>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83717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Teroxx Extended   </a:t>
            </a:r>
            <a:r>
              <a:rPr sz="1050" b="0" i="1">
                <a:solidFill>
                  <a:srgbClr val="9095AB"/>
                </a:solidFill>
                <a:latin typeface="Söhne"/>
                <a:cs typeface="Söhne"/>
              </a:rPr>
              <a:t>Full acquirable universe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175504"/>
            <a:ext cx="5029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4A5170"/>
                </a:solidFill>
                <a:latin typeface="Söhne"/>
                <a:cs typeface="Söhne"/>
              </a:rPr>
              <a:t>Expanded + majors &amp; research picks: SOL · HYPE · TRX · AVAX · DOT · ARB · SUI · RENDER · AKT · AR · VVV · AERO · LTC · BCH · DOGE 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D06643"/>
                </a:solidFill>
                <a:latin typeface="Söhne Halbfett"/>
                <a:cs typeface="Söhne Halbfett"/>
              </a:rPr>
              <a:t>THEMATIC BASKETS  —  index-style, in-theme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2194560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219456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19456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DeFi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Lending, DEXs, perps &amp; yield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2834639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834639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834639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Smart-Contract L1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L1 platforms &amp; settlement networks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3474720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347472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347472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AI &amp; Compute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Decentralised AI, GPU compute, storage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0840" y="4114800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11480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411480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RWA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Tokenised real-world assets &amp; treasuries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20840" y="4754880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0" y="475488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Layer 2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Ethereum scaling networks &amp; rollups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20840" y="5394960"/>
            <a:ext cx="4919472" cy="5669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0" y="539496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06643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539496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Payments  Basket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Established P2P payment networks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5943600"/>
            <a:ext cx="11091672" cy="18288"/>
          </a:xfrm>
          <a:prstGeom prst="rect">
            <a:avLst/>
          </a:prstGeom>
          <a:solidFill>
            <a:srgbClr val="C9CCD9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601675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B688C"/>
                </a:solidFill>
                <a:latin typeface="Söhne Halbfett"/>
                <a:cs typeface="Söhne Halbfett"/>
              </a:rPr>
              <a:t>Then choose:  </a:t>
            </a:r>
            <a:r>
              <a:rPr sz="1050" b="1" i="0">
                <a:solidFill>
                  <a:srgbClr val="0E1430"/>
                </a:solidFill>
                <a:latin typeface="Söhne Halbfett"/>
                <a:cs typeface="Söhne Halbfett"/>
              </a:rPr>
              <a:t>risk profile </a:t>
            </a: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(Conservative · Balanced · Growth · Aggressive)  ×  </a:t>
            </a:r>
            <a:r>
              <a:rPr sz="1050" b="1" i="0">
                <a:solidFill>
                  <a:srgbClr val="0E1430"/>
                </a:solidFill>
                <a:latin typeface="Söhne Halbfett"/>
                <a:cs typeface="Söhne Halbfett"/>
              </a:rPr>
              <a:t>allocation mode </a:t>
            </a: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(Standard = market-cap weighted · </a:t>
            </a:r>
            <a:r>
              <a:rPr sz="1050" b="1" i="0">
                <a:solidFill>
                  <a:srgbClr val="0E1430"/>
                </a:solidFill>
                <a:latin typeface="Söhne Halbfett"/>
                <a:cs typeface="Söhne Halbfett"/>
              </a:rPr>
              <a:t>Fundamental = factor-score weighted, the default</a:t>
            </a: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).   The full research model scores 79 tokens; the 40-token union is what the firm can acquire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How the allocation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B688C"/>
                </a:solidFill>
                <a:latin typeface="Söhne Halbfett"/>
                <a:cs typeface="Söhne Halbfett"/>
              </a:rPr>
              <a:t>FOR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Every asset earns a score; scores drive tier weights; a macro overlay tilts risk up or down. All transparent and rules-based.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3575304" cy="32004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011680"/>
            <a:ext cx="3575304" cy="566928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011680"/>
            <a:ext cx="32095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FFFFFF"/>
                </a:solidFill>
                <a:latin typeface="Söhne Halbfett"/>
                <a:cs typeface="Söhne Halbfett"/>
              </a:rPr>
              <a:t>STEP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öhne Halbfett"/>
                <a:cs typeface="Söhne Halbfett"/>
              </a:rPr>
              <a:t>SCORE EACH ASSET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88920"/>
            <a:ext cx="3118104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Value-accrual signals: valuation (FDV/fees, FDV/TVL), fee revenue, dilution, buybacks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Sector-tailored signals incl. price momentum &amp; developer activity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Every signal computed live from market &amp; on-chain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2011680"/>
            <a:ext cx="3575304" cy="32004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6824" y="2011680"/>
            <a:ext cx="3575304" cy="5669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2011680"/>
            <a:ext cx="32095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FFFFFF"/>
                </a:solidFill>
                <a:latin typeface="Söhne Halbfett"/>
                <a:cs typeface="Söhne Halbfett"/>
              </a:rPr>
              <a:t>STEP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öhne Halbfett"/>
                <a:cs typeface="Söhne Halbfett"/>
              </a:rPr>
              <a:t>BUILD THE TIERS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2788920"/>
            <a:ext cx="3118104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Assets sorted into strategic tiers (core → satellite)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Risk profile sets how much sits in each tier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Defensive sleeve (stablecoins + gold hedge) for ballast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5008" y="2011680"/>
            <a:ext cx="3575304" cy="32004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65008" y="2011680"/>
            <a:ext cx="3575304" cy="566928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2011680"/>
            <a:ext cx="32095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FFFFFF"/>
                </a:solidFill>
                <a:latin typeface="Söhne Halbfett"/>
                <a:cs typeface="Söhne Halbfett"/>
              </a:rPr>
              <a:t>STEP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öhne Halbfett"/>
                <a:cs typeface="Söhne Halbfett"/>
              </a:rPr>
              <a:t>OVERLAY THE REGIME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788920"/>
            <a:ext cx="3118104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22-indicator macro composite scores the market 0–100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Sentiment, TradFi, on-chain and technical signals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Tilts overall risk toward the current regime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Result: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a client-ready, risk-appropriate target allocation the advisor can explain line by 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1 · 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Where the numbers come 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The app pulls live market data from six external sources. Only two need an API key; the other four are public. Prices are cached to stay fast and within rate limits.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0116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1579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CoinMarketCap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146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Spot prices, market cap, 24h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0723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API key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5 min cache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06824" y="20116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6824" y="20116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21579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CoinGecko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5146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Fallback prices, dev activity, supply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30723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Demo key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up to 24h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5008" y="20116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20116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21579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Binance Futures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5146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Funding rates, open interest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0723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Public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5 min cache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6118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6118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37581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DeFiLlama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1148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Protocol TVL, fees, DEX volume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6725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Public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2 h cache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06824" y="36118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06824" y="36118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62856" y="37581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Messari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41148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Network transactions &amp; active addresses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62856" y="46725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Public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1 h cache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3611880"/>
            <a:ext cx="3575304" cy="141732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65008" y="3611880"/>
            <a:ext cx="73152" cy="141732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3758184"/>
            <a:ext cx="32095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Macro composite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114800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Fear/greed, VIX, treasuries, BTC trend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672584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1430"/>
                </a:solidFill>
                <a:latin typeface="Söhne Halbfett"/>
                <a:cs typeface="Söhne Halbfett"/>
              </a:rPr>
              <a:t>Auth: </a:t>
            </a:r>
            <a:r>
              <a:rPr sz="950" b="0" i="0">
                <a:solidFill>
                  <a:srgbClr val="4A5170"/>
                </a:solidFill>
                <a:latin typeface="Söhne"/>
                <a:cs typeface="Söhne"/>
              </a:rPr>
              <a:t>Public mix   ·   </a:t>
            </a:r>
            <a:r>
              <a:rPr sz="950" b="1" i="0">
                <a:solidFill>
                  <a:srgbClr val="0B688C"/>
                </a:solidFill>
                <a:latin typeface="Söhne"/>
                <a:cs typeface="Söhne"/>
              </a:rPr>
              <a:t>hysteresis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Action for IT: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CoinMarketCap and CoinGecko must run on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Teroxx-owned API keys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 — the app currently relies on shared / personal defaults. The four public sources need no key.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1">
                <a:solidFill>
                  <a:srgbClr val="9095AB"/>
                </a:solidFill>
                <a:latin typeface="Söhne"/>
                <a:cs typeface="Söhne"/>
              </a:rPr>
              <a:t>If a source is briefly down, the app retries with backoff and falls back to cached values — it degrades gracefully rather than breaking.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D06643"/>
                </a:solidFill>
                <a:latin typeface="Sometimes Times Medium"/>
                <a:cs typeface="Sometimes Times Medium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1750" cy="219456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23317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Project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370332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What is live and working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Known limitations to watch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Where it runs today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6172200"/>
            <a:ext cx="1036320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  <a:ln w="15875">
            <a:solidFill>
              <a:srgbClr val="BFB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BFB3A8"/>
                </a:solidFill>
                <a:latin typeface="Söhne Halbfett"/>
                <a:cs typeface="Söhne Halbfett"/>
              </a:rPr>
              <a:t>RESEARCH +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2 · PROJECT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What's done, and what to 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solidFill>
            <a:srgbClr val="EFF6F0"/>
          </a:solidFill>
          <a:ln w="9525">
            <a:solidFill>
              <a:srgbClr val="1A8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1A8A4A"/>
                </a:solidFill>
                <a:latin typeface="Söhne Halbfett"/>
                <a:cs typeface="Söhne Halbfett"/>
              </a:rPr>
              <a:t>LIVE &amp; WORKING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11680"/>
            <a:ext cx="50292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Allocation engine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all 8 tabs, 79 assets, both scoring models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Client CRM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clients, positions/lots, drift, scenarios, audit log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Proposal export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DOCX / PDF / Google Doc, EN + DE, fully branded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Live market data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6 sources with caching and graceful fallback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Auth &amp; audit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session login; every change logged by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Stable v1 API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token-authenticated client endpoints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A8A4A"/>
                </a:solidFill>
                <a:latin typeface="Söhne Halbfett"/>
                <a:cs typeface="Söhne Halbfett"/>
              </a:rPr>
              <a:t>✓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Deployed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auto-deploys on every git push to main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371600"/>
            <a:ext cx="5394960" cy="4572000"/>
          </a:xfrm>
          <a:prstGeom prst="rect">
            <a:avLst/>
          </a:prstGeom>
          <a:solidFill>
            <a:srgbClr val="FBF0EC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54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D06643"/>
                </a:solidFill>
                <a:latin typeface="Söhne Halbfett"/>
                <a:cs typeface="Söhne Halbfett"/>
              </a:rPr>
              <a:t>KNOWN LIMITATIONS &amp; GOTCHAS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011680"/>
            <a:ext cx="49377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!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Data is not durable today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runs SQLite on Render's free tier, whose disk resets on restart. Managed Postgres fixes this (Section 4).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!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No automated test suite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changes are verified manually in the UI.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!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Free-tier memory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vector charts are off to avoid out-of-memory on 512 MB; PNG charts used instead.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!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Google Docs geo-blocks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export must run from an allowed region; some servers get 403.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!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Secrets in repo config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a few keys sit in render.yaml; rotate them on migration.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2 · PROJECT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Where it lives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One running deployment, two code repositories. The deployment is the single point of failure this handover resolves.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5394960" cy="1874519"/>
          </a:xfrm>
          <a:prstGeom prst="rect">
            <a:avLst/>
          </a:prstGeom>
          <a:solidFill>
            <a:srgbClr val="FBF0EC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011680"/>
            <a:ext cx="5394960" cy="3810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1945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D06643"/>
                </a:solidFill>
                <a:latin typeface="Söhne Halbfett"/>
                <a:cs typeface="Söhne Halbfett"/>
              </a:rPr>
              <a:t>RUNTIME  —  action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4203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E1430"/>
                </a:solidFill>
                <a:latin typeface="Söhne Halbfett"/>
                <a:cs typeface="Söhne Halbfett"/>
              </a:rPr>
              <a:t>Render.com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  ·  free web-service tier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Hosted on Aleksander's </a:t>
            </a:r>
            <a:r>
              <a:rPr sz="1200" b="1" i="0">
                <a:solidFill>
                  <a:srgbClr val="C0432A"/>
                </a:solidFill>
                <a:latin typeface="Söhne Halbfett"/>
                <a:cs typeface="Söhne Halbfett"/>
              </a:rPr>
              <a:t>private personal account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. Docker image built from the repo; auto-deploys on push. This must move to a Teroxx-owned account/cloud.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2011680"/>
            <a:ext cx="5394960" cy="1874519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2011680"/>
            <a:ext cx="539496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1945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0B688C"/>
                </a:solidFill>
                <a:latin typeface="Söhne Halbfett"/>
                <a:cs typeface="Söhne Halbfett"/>
              </a:rPr>
              <a:t>SOURCE CODE  —  in good shape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54203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GitLab (Teroxx)</a:t>
            </a: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  — IT-created group; Aleksander is maintainer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GitHub (private)</a:t>
            </a: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  — personal mirror, to be retired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Full codebase is on GitLab (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main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+ import). IT owns deployment going forward.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14800"/>
            <a:ext cx="11091672" cy="1828800"/>
          </a:xfrm>
          <a:prstGeom prst="rect">
            <a:avLst/>
          </a:prstGeom>
          <a:solidFill>
            <a:srgbClr val="F0F5F7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7939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0B688C"/>
                </a:solidFill>
                <a:latin typeface="Söhne Halbfett"/>
                <a:cs typeface="Söhne Halbfett"/>
              </a:rPr>
              <a:t>TO KEEP THE APP RUNNING AFTER MIGRATION, FOUR THINGS MUST TRANSFER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091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60D43"/>
                </a:solidFill>
                <a:latin typeface="Söhne Halbfett"/>
                <a:cs typeface="Söhne Halbfett"/>
              </a:rPr>
              <a:t>1 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Already on Teroxx GitLab — nothing to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47091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60D43"/>
                </a:solidFill>
                <a:latin typeface="Söhne Halbfett"/>
                <a:cs typeface="Söhne Halbfett"/>
              </a:rPr>
              <a:t>2  A host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Any Docker-capable cloud (Section 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47091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60D43"/>
                </a:solidFill>
                <a:latin typeface="Söhne Halbfett"/>
                <a:cs typeface="Söhne Halbfett"/>
              </a:rPr>
              <a:t>3  A database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New managed Postgres for durable client 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47091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60D43"/>
                </a:solidFill>
                <a:latin typeface="Söhne Halbfett"/>
                <a:cs typeface="Söhne Halbfett"/>
              </a:rPr>
              <a:t>4  Credentials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API keys, session secret, Google service account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D06643"/>
                </a:solidFill>
                <a:latin typeface="Sometimes Times Medium"/>
                <a:cs typeface="Sometimes Times Medium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1750" cy="219456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23317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370332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The stack &amp; how it fits together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Data, security &amp; the proposal engine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The environment-variable contract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6172200"/>
            <a:ext cx="1036320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How the system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554480"/>
            <a:ext cx="1920240" cy="914400"/>
          </a:xfrm>
          <a:prstGeom prst="rect">
            <a:avLst/>
          </a:prstGeom>
          <a:solidFill>
            <a:srgbClr val="171E4B"/>
          </a:solidFill>
          <a:ln w="9525">
            <a:solidFill>
              <a:srgbClr val="171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45920"/>
            <a:ext cx="1737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Advisor's browser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HTMX + Chart.js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18288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095AB"/>
                </a:solidFill>
                <a:latin typeface="Söhne Fett"/>
                <a:cs typeface="Söhne Fett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417320"/>
            <a:ext cx="5852160" cy="4160520"/>
          </a:xfrm>
          <a:prstGeom prst="rect">
            <a:avLst/>
          </a:prstGeom>
          <a:solidFill>
            <a:srgbClr val="F4F2EF"/>
          </a:solidFill>
          <a:ln w="952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40" y="150876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060D43"/>
                </a:solidFill>
                <a:latin typeface="Söhne Halbfett"/>
                <a:cs typeface="Söhne Halbfett"/>
              </a:rPr>
              <a:t>DOCKER CONTAINER  —  the whole app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965960"/>
            <a:ext cx="5394960" cy="777240"/>
          </a:xfrm>
          <a:prstGeom prst="rect">
            <a:avLst/>
          </a:prstGeom>
          <a:solidFill>
            <a:srgbClr val="060D43"/>
          </a:solidFill>
          <a:ln w="952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057400"/>
            <a:ext cx="521208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FastAPI + Uvicorn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web server · routes · session auth · v1 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852928"/>
            <a:ext cx="2606040" cy="868680"/>
          </a:xfrm>
          <a:prstGeom prst="rect">
            <a:avLst/>
          </a:prstGeom>
          <a:solidFill>
            <a:srgbClr val="0B688C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2944368"/>
            <a:ext cx="2423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Allocation engine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scoring · DCA · rebalance · P&amp;L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2852928"/>
            <a:ext cx="2606040" cy="868680"/>
          </a:xfrm>
          <a:prstGeom prst="rect">
            <a:avLst/>
          </a:prstGeom>
          <a:solidFill>
            <a:srgbClr val="0B688C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944368"/>
            <a:ext cx="2423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Proposal engine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DOCX master → PDF / GDoc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3840480"/>
            <a:ext cx="2606040" cy="777240"/>
          </a:xfrm>
          <a:prstGeom prst="rect">
            <a:avLst/>
          </a:prstGeom>
          <a:solidFill>
            <a:srgbClr val="5C6FA1"/>
          </a:solidFill>
          <a:ln w="9525">
            <a:solidFill>
              <a:srgbClr val="5C6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3931920"/>
            <a:ext cx="242316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Jinja templates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server-rendered HTML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3840480"/>
            <a:ext cx="2606040" cy="777240"/>
          </a:xfrm>
          <a:prstGeom prst="rect">
            <a:avLst/>
          </a:prstGeom>
          <a:solidFill>
            <a:srgbClr val="5C6FA1"/>
          </a:solidFill>
          <a:ln w="9525">
            <a:solidFill>
              <a:srgbClr val="5C6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3931920"/>
            <a:ext cx="242316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LibreOffice + fonts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DOCX→PDF · Söhne baked 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4709160"/>
            <a:ext cx="5394960" cy="731520"/>
          </a:xfrm>
          <a:prstGeom prst="rect">
            <a:avLst/>
          </a:prstGeom>
          <a:solidFill>
            <a:srgbClr val="BFB3A8"/>
          </a:solidFill>
          <a:ln w="9525">
            <a:solidFill>
              <a:srgbClr val="BFB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4800600"/>
            <a:ext cx="5212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In-memory caches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E1430"/>
                </a:solidFill>
                <a:latin typeface="Söhne"/>
                <a:cs typeface="Söhne"/>
              </a:rPr>
              <a:t>prices · macro · DeFi (warm on startup)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1554480"/>
            <a:ext cx="2331720" cy="868680"/>
          </a:xfrm>
          <a:prstGeom prst="rect">
            <a:avLst/>
          </a:prstGeom>
          <a:solidFill>
            <a:srgbClr val="0E1430"/>
          </a:solidFill>
          <a:ln w="9525">
            <a:solidFill>
              <a:srgbClr val="0E14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1645920"/>
            <a:ext cx="21488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PostgreSQL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clients · lots · audit · snapshots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1828800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9095AB"/>
                </a:solidFill>
                <a:latin typeface="Söhne Fett"/>
                <a:cs typeface="Söhne Fett"/>
              </a:rPr>
              <a:t>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2697480"/>
            <a:ext cx="2331720" cy="868680"/>
          </a:xfrm>
          <a:prstGeom prst="rect">
            <a:avLst/>
          </a:prstGeom>
          <a:solidFill>
            <a:srgbClr val="171E4B"/>
          </a:solidFill>
          <a:ln w="9525">
            <a:solidFill>
              <a:srgbClr val="171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788920"/>
            <a:ext cx="21488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Market data APIs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CMC · CoinGecko · Binance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2953512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095AB"/>
                </a:solidFill>
                <a:latin typeface="Söhne Fett"/>
                <a:cs typeface="Söhne Fett"/>
              </a:rPr>
              <a:t>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3675888"/>
            <a:ext cx="2331720" cy="868680"/>
          </a:xfrm>
          <a:prstGeom prst="rect">
            <a:avLst/>
          </a:prstGeom>
          <a:solidFill>
            <a:srgbClr val="171E4B"/>
          </a:solidFill>
          <a:ln w="9525">
            <a:solidFill>
              <a:srgbClr val="171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3767328"/>
            <a:ext cx="21488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On-chain data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DeFiLlama · Messari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3931920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095AB"/>
                </a:solidFill>
                <a:latin typeface="Söhne Fett"/>
                <a:cs typeface="Söhne Fett"/>
              </a:rPr>
              <a:t>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1160" y="4654296"/>
            <a:ext cx="2331720" cy="868680"/>
          </a:xfrm>
          <a:prstGeom prst="rect">
            <a:avLst/>
          </a:prstGeom>
          <a:solidFill>
            <a:srgbClr val="171E4B"/>
          </a:solidFill>
          <a:ln w="9525">
            <a:solidFill>
              <a:srgbClr val="171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4745736"/>
            <a:ext cx="21488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Google Drive API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Söhne"/>
                <a:cs typeface="Söhne"/>
              </a:rPr>
              <a:t>Google Doc export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4910328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095AB"/>
                </a:solidFill>
                <a:latin typeface="Söhne Fett"/>
                <a:cs typeface="Söhne Fett"/>
              </a:rPr>
              <a:t>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77900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No dependencies on other internal Teroxx systems</a:t>
            </a:r>
            <a:r>
              <a:rPr sz="1150" b="0" i="1">
                <a:solidFill>
                  <a:srgbClr val="4A5170"/>
                </a:solidFill>
                <a:latin typeface="Söhne"/>
                <a:cs typeface="Söhne"/>
              </a:rPr>
              <a:t> (confirmed with IT) — only outbound calls to public data APIs. Everything else ships inside one container image, which is what makes it portable to any cloud.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Data &amp; persistence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SQLAlchemy ORM. The connection string is chosen at startup: </a:t>
            </a:r>
            <a:r>
              <a:rPr sz="1250" b="1" i="0">
                <a:solidFill>
                  <a:srgbClr val="0B688C"/>
                </a:solidFill>
                <a:latin typeface="Söhne Halbfett"/>
                <a:cs typeface="Söhne Halbfett"/>
              </a:rPr>
              <a:t>DATABASE_URL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 (Postgres) → </a:t>
            </a:r>
            <a:r>
              <a:rPr sz="1250" b="1" i="0">
                <a:solidFill>
                  <a:srgbClr val="0B688C"/>
                </a:solidFill>
                <a:latin typeface="Söhne Halbfett"/>
                <a:cs typeface="Söhne Halbfett"/>
              </a:rPr>
              <a:t>TEROXX_DB_PATH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 → local SQLite → /tmp fallback.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65960"/>
            <a:ext cx="5486400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12140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B688C"/>
                </a:solidFill>
                <a:latin typeface="Söhne Halbfett"/>
                <a:cs typeface="Söhne Halbfett"/>
              </a:rPr>
              <a:t>SIX 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42032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Client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profile, domicile, currency, defaults, overrides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ClientLot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individual holdings: ticker, qty, entry price/date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AllocationSnapshot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frozen allocations behind each proposal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AdvisorAction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full audit trail: who did what, when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ApiToken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hashed tokens for the v1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▪  </a:t>
            </a:r>
            <a:r>
              <a:rPr sz="1150" b="1" i="0">
                <a:solidFill>
                  <a:srgbClr val="0E1430"/>
                </a:solidFill>
                <a:latin typeface="Söhne Halbfett"/>
                <a:cs typeface="Söhne Halbfett"/>
              </a:rPr>
              <a:t>Scenario —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saved A/B allocation comparisons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1965960"/>
            <a:ext cx="5394960" cy="3977639"/>
          </a:xfrm>
          <a:prstGeom prst="rect">
            <a:avLst/>
          </a:prstGeom>
          <a:solidFill>
            <a:srgbClr val="FBF0EC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12140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D06643"/>
                </a:solidFill>
                <a:latin typeface="Söhne Halbfett"/>
                <a:cs typeface="Söhne Halbfett"/>
              </a:rPr>
              <a:t>THE DURABILITY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542032"/>
            <a:ext cx="4937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Today no </a:t>
            </a: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DATABASE_URL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 is set, so the app uses SQLite on Render's free tier — whose filesystem is </a:t>
            </a:r>
            <a:r>
              <a:rPr sz="1200" b="1" i="0">
                <a:solidFill>
                  <a:srgbClr val="C0432A"/>
                </a:solidFill>
                <a:latin typeface="Söhne Halbfett"/>
                <a:cs typeface="Söhne Halbfett"/>
              </a:rPr>
              <a:t>ephemeral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. It resets on every deploy and periodic restart.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4A5170"/>
                </a:solidFill>
                <a:latin typeface="Söhne"/>
                <a:cs typeface="Söhne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Consequence: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client records entered in the CRM are not guaranteed to survive a restart. In practice the app is used to build allocations and proposals on the fly, which do not depend on stored state.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4A5170"/>
                </a:solidFill>
                <a:latin typeface="Söhne"/>
                <a:cs typeface="Söhne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8A4A"/>
                </a:solidFill>
                <a:latin typeface="Söhne Halbfett"/>
                <a:cs typeface="Söhne Halbfett"/>
              </a:rPr>
              <a:t>The fix: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provision a managed PostgreSQL and set DATABASE_URL. The code already supports it — no changes needed. This is step 2 of the migration runbook.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Access &amp; security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3575304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417320"/>
            <a:ext cx="3575304" cy="530352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17320"/>
            <a:ext cx="3209544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WHO CAN LOG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48840"/>
            <a:ext cx="317296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Session-based login, no external identity provider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Four users today: Jannick, Leonardo, Aleksander, Christopher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Passwords stored salted + SHA-256 hashed in auth.py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Emil (IT) has no login yet — add on handover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6824" y="1417320"/>
            <a:ext cx="3575304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6824" y="1417320"/>
            <a:ext cx="3575304" cy="530352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1417320"/>
            <a:ext cx="3209544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HOW SESSIONS ARE SIGNED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2148840"/>
            <a:ext cx="317296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Signed cookies via SESSION_SECRET (7-day expiry)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Default dev secret MUST be overridden in production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Middleware guards all UI routes; /health &amp; static are open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60D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Regenerate the secret on migration (logs everyone out once)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5008" y="1417320"/>
            <a:ext cx="3575304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65008" y="1417320"/>
            <a:ext cx="3575304" cy="530352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6" y="1417320"/>
            <a:ext cx="3209544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öhne Halbfett"/>
                <a:cs typeface="Söhne Halbfett"/>
              </a:rPr>
              <a:t>MACHINE ACCESS (v1 API)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2148840"/>
            <a:ext cx="3172968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Bearer tokens for /api/v1/* integrations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Tokens stored hashed; plaintext shown once at creation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Scoped (read / write / admin); revocable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100" b="0" i="0">
                <a:solidFill>
                  <a:srgbClr val="0E1430"/>
                </a:solidFill>
                <a:latin typeface="Söhne"/>
                <a:cs typeface="Söhne"/>
              </a:rPr>
              <a:t>Lost tokens can't be recovered — mint a new 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06643"/>
                </a:solidFill>
                <a:latin typeface="Söhne Halbfett"/>
                <a:cs typeface="Söhne Halbfett"/>
              </a:rPr>
              <a:t>Note for IT:  </a:t>
            </a:r>
            <a:r>
              <a:rPr sz="1150" b="0" i="0">
                <a:solidFill>
                  <a:srgbClr val="4A5170"/>
                </a:solidFill>
                <a:latin typeface="Söhne"/>
                <a:cs typeface="Söhne"/>
              </a:rPr>
              <a:t>this is lightweight internal auth, adequate for a small trusted desk. If the app is ever exposed more widely, front it with SSO / an identity-aware proxy and move users out of source code.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The proposal engine (and its dependencies)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One design rule keeps the three outputs identical: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the Word document is the single source of truth.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57400"/>
            <a:ext cx="2697480" cy="16002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057400"/>
            <a:ext cx="2697480" cy="381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22199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Build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24328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proposal.py assembles allocation + market data + narrative (EN/DE)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56032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4992" y="2057400"/>
            <a:ext cx="2697480" cy="16002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64992" y="2057400"/>
            <a:ext cx="2697480" cy="381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2" y="222199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Render DOCX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2624328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proposal_docx.py — python-docx, brand fonts, charts as 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56032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2057400"/>
            <a:ext cx="2697480" cy="16002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2057400"/>
            <a:ext cx="2697480" cy="38100"/>
          </a:xfrm>
          <a:prstGeom prst="rect">
            <a:avLst/>
          </a:prstGeom>
          <a:solidFill>
            <a:srgbClr val="5C6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22199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Convert PDF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624328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LibreOffice (soffice) renders the DOCX to PDF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51392" y="2560320"/>
            <a:ext cx="228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FB3A8"/>
                </a:solidFill>
                <a:latin typeface="Söhne Fett"/>
                <a:cs typeface="Söhne Fett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97696" y="2057400"/>
            <a:ext cx="2697480" cy="16002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97696" y="2057400"/>
            <a:ext cx="2697480" cy="3810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0576" y="222199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60D43"/>
                </a:solidFill>
                <a:latin typeface="Söhne Halbfett"/>
                <a:cs typeface="Söhne Halbfett"/>
              </a:rPr>
              <a:t>Or Google Doc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2624328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upload DOCX to Drive → native Google Doc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931920"/>
            <a:ext cx="11091672" cy="2011680"/>
          </a:xfrm>
          <a:prstGeom prst="rect">
            <a:avLst/>
          </a:prstGeom>
          <a:solidFill>
            <a:srgbClr val="F0F5F7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09651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0B688C"/>
                </a:solidFill>
                <a:latin typeface="Söhne Halbfett"/>
                <a:cs typeface="Söhne Halbfett"/>
              </a:rPr>
              <a:t>WHAT THE CONTAINER MUST PROVIDE (all baked into the Docker image already)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52628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60D43"/>
                </a:solidFill>
                <a:latin typeface="Söhne Halbfett"/>
                <a:cs typeface="Söhne Halbfett"/>
              </a:rPr>
              <a:t>LibreOffice Writer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converts DOCX → PDF (the soffice binary)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452628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60D43"/>
                </a:solidFill>
                <a:latin typeface="Söhne Halbfett"/>
                <a:cs typeface="Söhne Halbfett"/>
              </a:rPr>
              <a:t>Pango / Cairo / HarfBuzz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rasterise SVG charts and shape 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52628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60D43"/>
                </a:solidFill>
                <a:latin typeface="Söhne Halbfett"/>
                <a:cs typeface="Söhne Halbfett"/>
              </a:rPr>
              <a:t>Brand fonts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Söhne + Sometimes Times installed system-wide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452628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60D43"/>
                </a:solidFill>
                <a:latin typeface="Söhne Halbfett"/>
                <a:cs typeface="Söhne Halbfett"/>
              </a:rPr>
              <a:t>TEROXX_VECTOR_CHARTS=0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PNG charts on small instances to avoid OOM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Environment-variable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2984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Everything configurable is an environment variable. This is the full contract between the app and its host.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11091672" cy="38404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74519"/>
            <a:ext cx="3063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FFFFFF"/>
                </a:solidFill>
                <a:latin typeface="Söhne Halbfett"/>
                <a:cs typeface="Söhne Halbfett"/>
              </a:rPr>
              <a:t>VARIABLE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874519"/>
            <a:ext cx="4343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FFFFFF"/>
                </a:solidFill>
                <a:latin typeface="Söhne Halbfett"/>
                <a:cs typeface="Söhne Halbfett"/>
              </a:rPr>
              <a:t>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1874519"/>
            <a:ext cx="2606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FFFFFF"/>
                </a:solidFill>
                <a:latin typeface="Söhne Halbfett"/>
                <a:cs typeface="Söhne Halbfett"/>
              </a:rPr>
              <a:t>ON MIGRATION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2528" y="1874519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FFFFFF"/>
                </a:solidFill>
                <a:latin typeface="Söhne Halbfett"/>
                <a:cs typeface="Söhne Halbfett"/>
              </a:rPr>
              <a:t>REQ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258568"/>
            <a:ext cx="11091672" cy="367588"/>
          </a:xfrm>
          <a:prstGeom prst="rect">
            <a:avLst/>
          </a:prstGeom>
          <a:solidFill>
            <a:srgbClr val="F4F2EF"/>
          </a:solidFill>
          <a:ln w="12700">
            <a:solidFill>
              <a:srgbClr val="F4F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258568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DATABASE_URL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2258568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Postgres connection string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258568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Set on migration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2258568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C0432A"/>
                </a:solidFill>
                <a:latin typeface="Söhne Halbfett"/>
                <a:cs typeface="Söhne Halbfett"/>
              </a:rPr>
              <a:t>required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626156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SESSION_SECRET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2626156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Signs login cookies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626156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Regenerate — secret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2626156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C0432A"/>
                </a:solidFill>
                <a:latin typeface="Söhne Halbfett"/>
                <a:cs typeface="Söhne Halbfett"/>
              </a:rPr>
              <a:t>required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993745"/>
            <a:ext cx="11091672" cy="367588"/>
          </a:xfrm>
          <a:prstGeom prst="rect">
            <a:avLst/>
          </a:prstGeom>
          <a:solidFill>
            <a:srgbClr val="F4F2EF"/>
          </a:solidFill>
          <a:ln w="12700">
            <a:solidFill>
              <a:srgbClr val="F4F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2993745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CMC_API_KEY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58768" y="2993745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CoinMarketCap prices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2993745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Has public default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82528" y="2993745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095AB"/>
                </a:solidFill>
                <a:latin typeface="Söhne Halbfett"/>
                <a:cs typeface="Söhne Halbfett"/>
              </a:rPr>
              <a:t>default 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3361334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COINGECKO_API_KEY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58768" y="3361334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CoinGecko fallback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7" y="3361334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Has demo default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82528" y="3361334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095AB"/>
                </a:solidFill>
                <a:latin typeface="Söhne Halbfett"/>
                <a:cs typeface="Söhne Halbfett"/>
              </a:rPr>
              <a:t>default ok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28923"/>
            <a:ext cx="11091672" cy="367588"/>
          </a:xfrm>
          <a:prstGeom prst="rect">
            <a:avLst/>
          </a:prstGeom>
          <a:solidFill>
            <a:srgbClr val="F4F2EF"/>
          </a:solidFill>
          <a:ln w="12700">
            <a:solidFill>
              <a:srgbClr val="F4F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728923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GOOGLE_SERVICE_ACCOUNT_JSON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58768" y="3728923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Google Doc export credentials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9327" y="3728923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Feature-off if unset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82528" y="3728923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06643"/>
                </a:solidFill>
                <a:latin typeface="Söhne Halbfett"/>
                <a:cs typeface="Söhne Halbfett"/>
              </a:rPr>
              <a:t>optional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096512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GOOGLE_DRIVE_FOLDER_ID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8768" y="4096512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Target Drive/Shared-Drive folder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7" y="4096512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Optional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82528" y="4096512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06643"/>
                </a:solidFill>
                <a:latin typeface="Söhne Halbfett"/>
                <a:cs typeface="Söhne Halbfett"/>
              </a:rPr>
              <a:t>optional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464100"/>
            <a:ext cx="11091672" cy="367588"/>
          </a:xfrm>
          <a:prstGeom prst="rect">
            <a:avLst/>
          </a:prstGeom>
          <a:solidFill>
            <a:srgbClr val="F4F2EF"/>
          </a:solidFill>
          <a:ln w="12700">
            <a:solidFill>
              <a:srgbClr val="F4F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4464100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GOOGLE_IMPERSONATE_SUBJECT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58768" y="4464100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Domain-wide delegation 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39327" y="4464100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Optional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82528" y="4464100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06643"/>
                </a:solidFill>
                <a:latin typeface="Söhne Halbfett"/>
                <a:cs typeface="Söhne Halbfett"/>
              </a:rPr>
              <a:t>optional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831689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GOOGLE_DOCS_SHARE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58768" y="4831689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Share mode: none / domain / anyone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39327" y="4831689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Default none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82528" y="4831689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06643"/>
                </a:solidFill>
                <a:latin typeface="Söhne Halbfett"/>
                <a:cs typeface="Söhne Halbfett"/>
              </a:rPr>
              <a:t>optional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199278"/>
            <a:ext cx="11091672" cy="367588"/>
          </a:xfrm>
          <a:prstGeom prst="rect">
            <a:avLst/>
          </a:prstGeom>
          <a:solidFill>
            <a:srgbClr val="F4F2EF"/>
          </a:solidFill>
          <a:ln w="12700">
            <a:solidFill>
              <a:srgbClr val="F4F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5199278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TEROXX_VECTOR_CHARTS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58768" y="5199278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Vector(1)/PNG(0) charts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5199278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0 on small hosts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82528" y="5199278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095AB"/>
                </a:solidFill>
                <a:latin typeface="Söhne Halbfett"/>
                <a:cs typeface="Söhne Halbfett"/>
              </a:rPr>
              <a:t>default ok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566867"/>
            <a:ext cx="30632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0D43"/>
                </a:solidFill>
                <a:latin typeface="Söhne Halbfett"/>
                <a:cs typeface="Söhne Halbfett"/>
              </a:rPr>
              <a:t>PORT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58768" y="5566867"/>
            <a:ext cx="434340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Port the server binds 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7" y="5566867"/>
            <a:ext cx="2606040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Host usually sets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82528" y="5566867"/>
            <a:ext cx="576072" cy="3675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095AB"/>
                </a:solidFill>
                <a:latin typeface="Söhne Halbfett"/>
                <a:cs typeface="Söhne Halbfett"/>
              </a:rPr>
              <a:t>default 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007608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095AB"/>
                </a:solidFill>
                <a:latin typeface="Söhne"/>
                <a:cs typeface="Söhne"/>
              </a:rPr>
              <a:t>● required for a healthy production deploy    ◐ needed only for Google Doc export    ○ safe default exists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D06643"/>
                </a:solidFill>
                <a:latin typeface="Sometimes Times Medium"/>
                <a:cs typeface="Sometimes Times Medium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1750" cy="219456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23317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Standing it up on your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370332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The migration in one picture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A step-by-step runbook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Hosting options &amp; credentials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6172200"/>
            <a:ext cx="1036320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4 · STANDING IT UP ON YOUR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The migration in one picture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The app is a </a:t>
            </a: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single Docker container</a:t>
            </a: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 plus a </a:t>
            </a: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Postgres database</a:t>
            </a: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 plus a handful of </a:t>
            </a:r>
            <a:r>
              <a:rPr sz="1300" b="1" i="0">
                <a:solidFill>
                  <a:srgbClr val="0E1430"/>
                </a:solidFill>
                <a:latin typeface="Söhne Halbfett"/>
                <a:cs typeface="Söhne Halbfett"/>
              </a:rPr>
              <a:t>environment variables</a:t>
            </a: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. Anything that can run a container can run this — no code changes required.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86000"/>
            <a:ext cx="5458968" cy="16916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286000"/>
            <a:ext cx="82296" cy="169164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468880"/>
            <a:ext cx="5001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0D43"/>
                </a:solidFill>
                <a:latin typeface="Söhne Halbfett"/>
                <a:cs typeface="Söhne Halbfett"/>
              </a:rPr>
              <a:t>The container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880360"/>
            <a:ext cx="495604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Built from the repo's Dockerfile. Bundles the app, LibreOffice and brand fonts. Nothing else to install.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2286000"/>
            <a:ext cx="5458968" cy="16916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2286000"/>
            <a:ext cx="82296" cy="169164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468880"/>
            <a:ext cx="5001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0D43"/>
                </a:solidFill>
                <a:latin typeface="Söhne Halbfett"/>
                <a:cs typeface="Söhne Halbfett"/>
              </a:rPr>
              <a:t>The 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880360"/>
            <a:ext cx="495604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A managed PostgreSQL. Point the app at it with DATABASE_URL. Durable, backed up, no ops.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42232"/>
            <a:ext cx="5458968" cy="16916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42232"/>
            <a:ext cx="82296" cy="169164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4325112"/>
            <a:ext cx="5001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0D43"/>
                </a:solidFill>
                <a:latin typeface="Söhne Halbfett"/>
                <a:cs typeface="Söhne Halbfett"/>
              </a:rPr>
              <a:t>The secrets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736592"/>
            <a:ext cx="495604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~5 environment variables (Section 3 table). Set once in the host's dashboard.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1344" y="4142232"/>
            <a:ext cx="5458968" cy="16916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1344" y="4142232"/>
            <a:ext cx="82296" cy="1691640"/>
          </a:xfrm>
          <a:prstGeom prst="rect">
            <a:avLst/>
          </a:prstGeom>
          <a:solidFill>
            <a:srgbClr val="5C6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4325112"/>
            <a:ext cx="5001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0D43"/>
                </a:solidFill>
                <a:latin typeface="Söhne Halbfett"/>
                <a:cs typeface="Söhne Halbfett"/>
              </a:rPr>
              <a:t>The domain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736592"/>
            <a:ext cx="495604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Optional: map a Teroxx URL and TLS certificate. Most hosts do this in a click.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4 · STANDING IT UP ON YOUR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Step-by-step deployment runbook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71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371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1508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Get the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Clone from Teroxx GitLab. IT should own the repo and CI going forward.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371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1371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1508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Provision Postgres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Create a managed PostgreSQL; copy its connection string.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14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514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514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2651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Provision the 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Create a container service pointing at the repo's Dockerfile.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2514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1344" y="2514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1344" y="2514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59" y="2651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Set env vars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DATABASE_URL, a fresh SESSION_SECRET, API keys, TEROXX_VECTOR_CHARTS.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657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657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657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3794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Build the image and start it. Tables auto-create on first boot.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3657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81344" y="3657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3657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59" y="3794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Verify health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Hit /health (200 OK), log in, generate a test PDF proposal.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800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800600"/>
            <a:ext cx="457200" cy="1024128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800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937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Map the domain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Point a Teroxx subdomain at the service; enable TLS.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4" y="4800600"/>
            <a:ext cx="5458968" cy="1024128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1344" y="4800600"/>
            <a:ext cx="457200" cy="1024128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81344" y="4800600"/>
            <a:ext cx="45720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öhne Fett"/>
                <a:cs typeface="Söhne Fett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59" y="4937760"/>
            <a:ext cx="4745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60D43"/>
                </a:solidFill>
                <a:latin typeface="Söhne Halbfett"/>
                <a:cs typeface="Söhne Halbfett"/>
              </a:rPr>
              <a:t>Cut over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A5170"/>
                </a:solidFill>
                <a:latin typeface="Söhne"/>
                <a:cs typeface="Söhne"/>
              </a:rPr>
              <a:t>Update bookmarks, add Emil's login, suspend the old Render app.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053328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095AB"/>
                </a:solidFill>
                <a:latin typeface="Söhne"/>
                <a:cs typeface="Söhne"/>
              </a:rPr>
              <a:t>Because the whole runtime is in the image, steps 3–5 are the same on every provider — only the dashboard differs. A companion runbook with exact commands accompanies this deck.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4 · STANDING IT UP ON YOUR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Where to run it — a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11091672" cy="1508760"/>
          </a:xfrm>
          <a:prstGeom prst="rect">
            <a:avLst/>
          </a:prstGeom>
          <a:solidFill>
            <a:srgbClr val="EFF6F0"/>
          </a:solidFill>
          <a:ln w="9525">
            <a:solidFill>
              <a:srgbClr val="1A8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71600"/>
            <a:ext cx="91440" cy="1508760"/>
          </a:xfrm>
          <a:prstGeom prst="rect">
            <a:avLst/>
          </a:prstGeom>
          <a:solidFill>
            <a:srgbClr val="1A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3619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1A8A4A"/>
                </a:solidFill>
                <a:latin typeface="Söhne Halbfett"/>
                <a:cs typeface="Söhne Halbfett"/>
              </a:rPr>
              <a:t>RECOMMENDED — AWS, aligned with Teroxx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IT has indicated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AWS with the EKS container platform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 as Teroxx's standard, plus a managed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RDS Postgres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. The app is a single small, stateless service, so on EKS it is just one Deployment + Service + Ingress. If lower operational overhead is preferred, the same image runs unchanged on </a:t>
            </a:r>
            <a:r>
              <a:rPr sz="1250" b="1" i="0">
                <a:solidFill>
                  <a:srgbClr val="0E1430"/>
                </a:solidFill>
                <a:latin typeface="Söhne Halbfett"/>
                <a:cs typeface="Söhne Halbfett"/>
              </a:rPr>
              <a:t>AWS App Runner or ECS Fargate</a:t>
            </a:r>
            <a:r>
              <a:rPr sz="1250" b="0" i="0">
                <a:solidFill>
                  <a:srgbClr val="4A5170"/>
                </a:solidFill>
                <a:latin typeface="Söhne"/>
                <a:cs typeface="Söhne"/>
              </a:rPr>
              <a:t>. Exact setup to be finalised with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0B688C"/>
                </a:solidFill>
                <a:latin typeface="Söhne Halbfett"/>
                <a:cs typeface="Söhne Halbfett"/>
              </a:rPr>
              <a:t>OPTIONS AT A GLANCE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29000"/>
            <a:ext cx="2697480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429000"/>
            <a:ext cx="2697480" cy="44450"/>
          </a:xfrm>
          <a:prstGeom prst="rect">
            <a:avLst/>
          </a:prstGeom>
          <a:solidFill>
            <a:srgbClr val="1A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7530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AWS EKS
(Teroxx container standard)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61688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One Deployment + Service + Ingress, with RDS Postgres alongside. IT's named platform.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6752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8A4A"/>
                </a:solidFill>
                <a:latin typeface="Söhne Halbfett"/>
                <a:cs typeface="Söhne Halbfett"/>
              </a:rPr>
              <a:t>Target — align with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3429000"/>
            <a:ext cx="2697480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3429000"/>
            <a:ext cx="2697480" cy="4445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357530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AWS App Runner / ECS Fargate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4361688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Same image, AWS-native, far less to operate than a full cluster.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36752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B688C"/>
                </a:solidFill>
                <a:latin typeface="Söhne Halbfett"/>
                <a:cs typeface="Söhne Halbfett"/>
              </a:rPr>
              <a:t>Lower-ops AWS option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429000"/>
            <a:ext cx="2697480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3429000"/>
            <a:ext cx="2697480" cy="4445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357530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PaaS
(Render / Railway / Fly.io)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4361688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Same model as today; render.yaml already in the repo. A quick bridge.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36752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06643"/>
                </a:solidFill>
                <a:latin typeface="Söhne Halbfett"/>
                <a:cs typeface="Söhne Halbfett"/>
              </a:rPr>
              <a:t>Fastest lift-and-shift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97696" y="3429000"/>
            <a:ext cx="2697480" cy="237744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97696" y="3429000"/>
            <a:ext cx="2697480" cy="44450"/>
          </a:xfrm>
          <a:prstGeom prst="rect">
            <a:avLst/>
          </a:prstGeom>
          <a:solidFill>
            <a:srgbClr val="4A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0576" y="357530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Other clouds
(Cloud Run / Container Apps)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576" y="4361688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170"/>
                </a:solidFill>
                <a:latin typeface="Söhne"/>
                <a:cs typeface="Söhne"/>
              </a:rPr>
              <a:t>The identical container runs anywhere — noted for completeness.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36752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170"/>
                </a:solidFill>
                <a:latin typeface="Söhne Halbfett"/>
                <a:cs typeface="Söhne Halbfett"/>
              </a:rPr>
              <a:t>Portable if ever needed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4 · STANDING IT UP ON YOUR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Credentials &amp; data transfer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D06643"/>
                </a:solidFill>
                <a:latin typeface="Söhne Halbfett"/>
                <a:cs typeface="Söhne Halbfett"/>
              </a:rPr>
              <a:t>FOR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29844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No live secrets are printed in this deck.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Aleksander will hand these over through a secure channel (password manager / vault), not email or chat.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5486400" cy="406908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2996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30">
                <a:solidFill>
                  <a:srgbClr val="D06643"/>
                </a:solidFill>
                <a:latin typeface="Söhne Halbfett"/>
                <a:cs typeface="Söhne Halbfett"/>
              </a:rPr>
              <a:t>SECRETS TO TRANSFER &amp; ROTATE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50592"/>
            <a:ext cx="50292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SESSION_SECRET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generate a brand-new random value on the new host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CMC_API_KEY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register Teroxx's own CoinMarketCap account &amp; key; stop using the shared default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COINGECKO_API_KEY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register Teroxx's own CoinGecko key; stop using the personal one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Google service account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re-issue under Teroxx Workspace; share the Drive folder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Repo access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transfer GitLab ownership to IT; retire the personal GitHub mirror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D06643"/>
                </a:solidFill>
                <a:latin typeface="Söhne Halbfett"/>
                <a:cs typeface="Söhne Halbfett"/>
              </a:rPr>
              <a:t>→  </a:t>
            </a:r>
            <a:r>
              <a:rPr sz="1100" b="1" i="0">
                <a:solidFill>
                  <a:srgbClr val="0E1430"/>
                </a:solidFill>
                <a:latin typeface="Söhne Halbfett"/>
                <a:cs typeface="Söhne Halbfett"/>
              </a:rPr>
              <a:t>Render account — 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hand over or rebuild; then delete the personal deployment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1874519"/>
            <a:ext cx="5394960" cy="4069080"/>
          </a:xfrm>
          <a:prstGeom prst="rect">
            <a:avLst/>
          </a:prstGeom>
          <a:solidFill>
            <a:srgbClr val="F0F5F7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02996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30">
                <a:solidFill>
                  <a:srgbClr val="0B688C"/>
                </a:solidFill>
                <a:latin typeface="Söhne Halbfett"/>
                <a:cs typeface="Söhne Halbfett"/>
              </a:rPr>
              <a:t>MOVING EXISTING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450592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Because the current deployment uses ephemeral SQLite, there is likely </a:t>
            </a: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little or no durable client data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 to migrate — clients are typically re-entered as needed.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4A5170"/>
                </a:solidFill>
                <a:latin typeface="Söhne"/>
                <a:cs typeface="Söhne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1430"/>
                </a:solidFill>
                <a:latin typeface="Söhne Halbfett"/>
                <a:cs typeface="Söhne Halbfett"/>
              </a:rPr>
              <a:t>If any records must be preserved: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export the current SQLite tables (Client, ClientLot, Scenario) and import them into the new Postgres before cut-over. The schema is identical — SQLAlchemy creates it automatically.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4A5170"/>
                </a:solidFill>
                <a:latin typeface="Söhne"/>
                <a:cs typeface="Söhne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8A4A"/>
                </a:solidFill>
                <a:latin typeface="Söhne Halbfett"/>
                <a:cs typeface="Söhne Halbfett"/>
              </a:rPr>
              <a:t>Going forward: </a:t>
            </a:r>
            <a:r>
              <a:rPr sz="1200" b="0" i="0">
                <a:solidFill>
                  <a:srgbClr val="4A5170"/>
                </a:solidFill>
                <a:latin typeface="Söhne"/>
                <a:cs typeface="Söhne"/>
              </a:rPr>
              <a:t>with managed Postgres, enable automated daily backups. Client data then survives restarts and is recoverable.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D06643"/>
                </a:solidFill>
                <a:latin typeface="Sometimes Times Medium"/>
                <a:cs typeface="Sometimes Times Medium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1750" cy="219456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23317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Ownership &amp; handover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370332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Who owns what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First-week checklist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400" b="0" i="0">
                <a:solidFill>
                  <a:srgbClr val="ECE8E5"/>
                </a:solidFill>
                <a:latin typeface="Söhne"/>
                <a:cs typeface="Söhne"/>
              </a:rPr>
              <a:t>Contacts &amp; references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6172200"/>
            <a:ext cx="1036320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  <a:ln w="15875">
            <a:solidFill>
              <a:srgbClr val="BFB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783080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BFB3A8"/>
                </a:solidFill>
                <a:latin typeface="Söhne Halbfett"/>
                <a:cs typeface="Söhne Halbfett"/>
              </a:rPr>
              <a:t>RESEARCH + IT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5 · OWNERSHIP &amp; 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Who owns what, going forward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170"/>
                </a:solidFill>
                <a:latin typeface="Söhne"/>
                <a:cs typeface="Söhne"/>
              </a:rPr>
              <a:t>A clean split: Research owns the content and daily use; IT owns the platform it runs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65960"/>
            <a:ext cx="5486400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965960"/>
            <a:ext cx="5486400" cy="566928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6596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öhne Halbfett"/>
                <a:cs typeface="Söhne Halbfett"/>
              </a:rPr>
              <a:t>RESEARCH  —  Jannick &amp; Leonardo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43200"/>
            <a:ext cx="5029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Day-to-day use: allocations, proposals, client reviews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The model: universe, factor weights, tier rules, tilts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Proposal content: narrative templates, EN/DE wording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Deciding what changes are needed and prioritising them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B688C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Adding / offboarding client records and advisor users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1965960"/>
            <a:ext cx="5394960" cy="3977639"/>
          </a:xfrm>
          <a:prstGeom prst="rect">
            <a:avLst/>
          </a:prstGeom>
          <a:solidFill>
            <a:srgbClr val="F4F2EF"/>
          </a:solidFill>
          <a:ln w="9525">
            <a:solidFill>
              <a:srgbClr val="D066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965960"/>
            <a:ext cx="5394960" cy="566928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965960"/>
            <a:ext cx="4937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öhne Halbfett"/>
                <a:cs typeface="Söhne Halbfett"/>
              </a:rPr>
              <a:t>IT  —  Emil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743200"/>
            <a:ext cx="49377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The cloud host, the database and its backups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Secrets &amp; environment variables (rotation, storage)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The repo, CI/CD and deployments on push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Domain, TLS, uptime and monitoring /health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D06643"/>
                </a:solidFill>
                <a:latin typeface="Söhne Halbfett"/>
                <a:cs typeface="Söhne Halbfett"/>
              </a:rPr>
              <a:t>—  </a:t>
            </a:r>
            <a:r>
              <a:rPr sz="1200" b="0" i="0">
                <a:solidFill>
                  <a:srgbClr val="0E1430"/>
                </a:solidFill>
                <a:latin typeface="Söhne"/>
                <a:cs typeface="Söhne"/>
              </a:rPr>
              <a:t>Applying code changes Research requests (or a dev)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B688C"/>
                </a:solidFill>
                <a:latin typeface="Söhne Halbfett"/>
                <a:cs typeface="Söhne Halbfett"/>
              </a:rPr>
              <a:t>SECTION 5 · OWNERSHIP &amp; 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60D43"/>
                </a:solidFill>
                <a:latin typeface="Sometimes Times Medium"/>
                <a:cs typeface="Sometimes Times Medium"/>
              </a:rPr>
              <a:t>First-week checklist &amp; key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33856"/>
            <a:ext cx="11091672" cy="25400"/>
          </a:xfrm>
          <a:prstGeom prst="rect">
            <a:avLst/>
          </a:prstGeom>
          <a:solidFill>
            <a:srgbClr val="0B6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  <a:ln w="15875">
            <a:solidFill>
              <a:srgbClr val="060D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47472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60D43"/>
                </a:solidFill>
                <a:latin typeface="Söhne Halbfett"/>
                <a:cs typeface="Söhne Halbfett"/>
              </a:rPr>
              <a:t>RESEARCH +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— Handover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3327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095AB"/>
                </a:solidFill>
                <a:latin typeface="Söhne Halbfett"/>
                <a:cs typeface="Söhne Halbfett"/>
              </a:rPr>
              <a:t>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solidFill>
            <a:srgbClr val="F0F5F7"/>
          </a:solidFill>
          <a:ln w="9525">
            <a:solidFill>
              <a:srgbClr val="0B6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361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30">
                <a:solidFill>
                  <a:srgbClr val="0B688C"/>
                </a:solidFill>
                <a:latin typeface="Söhne Halbfett"/>
                <a:cs typeface="Söhne Halbfett"/>
              </a:rPr>
              <a:t>FIRST WEEK — IN 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93392"/>
            <a:ext cx="50292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IT takes ownership of the GitLab repo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Provision Postgres + container host (Section 4)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Securely receive &amp; set the secrets; rotate keys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Deploy; verify /health, login, a test PDF proposal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Map a Teroxx domain + TLS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Add Emil's login; confirm Research can log 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Cut over, then suspend the personal Render app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☐  </a:t>
            </a:r>
            <a:r>
              <a:rPr sz="1150" b="0" i="0">
                <a:solidFill>
                  <a:srgbClr val="0E1430"/>
                </a:solidFill>
                <a:latin typeface="Söhne"/>
                <a:cs typeface="Söhne"/>
              </a:rPr>
              <a:t>Turn on database backups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371600"/>
            <a:ext cx="5394960" cy="4572000"/>
          </a:xfrm>
          <a:prstGeom prst="rect">
            <a:avLst/>
          </a:prstGeom>
          <a:solidFill>
            <a:srgbClr val="F4F2EF"/>
          </a:solidFill>
          <a:ln w="9525">
            <a:solidFill>
              <a:srgbClr val="C9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3619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30">
                <a:solidFill>
                  <a:srgbClr val="D06643"/>
                </a:solidFill>
                <a:latin typeface="Söhne Halbfett"/>
                <a:cs typeface="Söhne Halbfett"/>
              </a:rPr>
              <a:t>KEY FILES IN THE 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2"/>
            <a:ext cx="49377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Dockerfile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the entire runtime recipe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render.yaml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current deploy config &amp; env keys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requirements.txt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Python dependencies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app/db.py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database models &amp; connection logic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app/auth.py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users &amp; session secret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app/main.py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all routes / the API surface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app/pdf/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the proposal (DOCX/PDF/GDoc) engine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CLAUDE.md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in-repo notes &amp; design decisions</a:t>
            </a:r>
          </a:p>
          <a:p>
            <a:pPr>
              <a:lnSpc>
                <a:spcPct val="110000"/>
              </a:lnSpc>
              <a:spcAft>
                <a:spcPts val="850"/>
              </a:spcAft>
            </a:pPr>
            <a:r>
              <a:rPr sz="1150" b="1" i="0">
                <a:solidFill>
                  <a:srgbClr val="060D43"/>
                </a:solidFill>
                <a:latin typeface="Söhne Halbfett"/>
                <a:cs typeface="Söhne Halbfett"/>
              </a:rPr>
              <a:t>handover/</a:t>
            </a:r>
            <a:r>
              <a:rPr sz="1100" b="0" i="0">
                <a:solidFill>
                  <a:srgbClr val="4A5170"/>
                </a:solidFill>
                <a:latin typeface="Söhne"/>
                <a:cs typeface="Söhne"/>
              </a:rPr>
              <a:t>   this deck + companion runbook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60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1554480" cy="38100"/>
          </a:xfrm>
          <a:prstGeom prst="rect">
            <a:avLst/>
          </a:prstGeom>
          <a:solidFill>
            <a:srgbClr val="D066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15240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00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4000" b="0" i="0">
                <a:solidFill>
                  <a:srgbClr val="FFFFFF"/>
                </a:solidFill>
                <a:latin typeface="Sometimes Times Medium"/>
                <a:cs typeface="Sometimes Times Medium"/>
              </a:rPr>
              <a:t>Thank you — over to you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ECE8E5"/>
                </a:solidFill>
                <a:latin typeface="Sometimes Times Medium"/>
                <a:cs typeface="Sometimes Times Medium"/>
              </a:rPr>
              <a:t>The app is small, self-contained and fully documented. Migrating it is a provision-and-deploy exercise, not a rewrite.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00">
                <a:solidFill>
                  <a:srgbClr val="BFB3A8"/>
                </a:solidFill>
                <a:latin typeface="Söhne Halbfett"/>
                <a:cs typeface="Söhne Halbfett"/>
              </a:rPr>
              <a:t>QUESTIONS DURING TRANSITION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33832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100">
                <a:solidFill>
                  <a:srgbClr val="D06643"/>
                </a:solidFill>
                <a:latin typeface="Söhne Halbfett"/>
                <a:cs typeface="Söhne Halbfett"/>
              </a:rPr>
              <a:t>Handover from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öhne Halbfett"/>
                <a:cs typeface="Söhne Halbfett"/>
              </a:rPr>
              <a:t>Aleksander Biesaga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8E5"/>
                </a:solidFill>
                <a:latin typeface="Söhne"/>
                <a:cs typeface="Söhne"/>
              </a:rPr>
              <a:t>aleksander.biesaga@teroxx.com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572000"/>
            <a:ext cx="33832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100">
                <a:solidFill>
                  <a:srgbClr val="D06643"/>
                </a:solidFill>
                <a:latin typeface="Söhne Halbfett"/>
                <a:cs typeface="Söhne Halbfett"/>
              </a:rPr>
              <a:t>Research owners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öhne Halbfett"/>
                <a:cs typeface="Söhne Halbfett"/>
              </a:rPr>
              <a:t>Jannick Broering · Leonardo Larieira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8E5"/>
                </a:solidFill>
                <a:latin typeface="Söhne"/>
                <a:cs typeface="Söhne"/>
              </a:rPr>
              <a:t>product &amp; daily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4572000"/>
            <a:ext cx="33832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100">
                <a:solidFill>
                  <a:srgbClr val="D06643"/>
                </a:solidFill>
                <a:latin typeface="Söhne Halbfett"/>
                <a:cs typeface="Söhne Halbfett"/>
              </a:rPr>
              <a:t>IT owner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öhne Halbfett"/>
                <a:cs typeface="Söhne Halbfett"/>
              </a:rPr>
              <a:t>Emil Jorgensen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8E5"/>
                </a:solidFill>
                <a:latin typeface="Söhne"/>
                <a:cs typeface="Söhne"/>
              </a:rPr>
              <a:t>platform &amp;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095AB"/>
                </a:solidFill>
                <a:latin typeface="Söhne"/>
                <a:cs typeface="Söhne"/>
              </a:rPr>
              <a:t>Teroxx  ·  Portfolio Allocation App  ·  Handover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