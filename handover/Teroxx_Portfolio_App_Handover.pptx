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0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2697480"/>
          </a:xfrm>
          <a:prstGeom prst="rect">
            <a:avLst/>
          </a:prstGeom>
          <a:solidFill>
            <a:srgbClr val="060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48840"/>
            <a:ext cx="1554480" cy="38100"/>
          </a:xfrm>
          <a:prstGeom prst="rect">
            <a:avLst/>
          </a:prstGeom>
          <a:solidFill>
            <a:srgbClr val="D066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"/>
            <a:ext cx="1584960" cy="4754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300">
                <a:solidFill>
                  <a:srgbClr val="BFB3A8"/>
                </a:solidFill>
                <a:latin typeface="Söhne Halbfett"/>
                <a:cs typeface="Söhne Halbfett"/>
              </a:rPr>
              <a:t>PROJECT HANDOVER  ·  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106070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4600" b="0" i="0">
                <a:solidFill>
                  <a:srgbClr val="FFFFFF"/>
                </a:solidFill>
                <a:latin typeface="Sometimes Times Medium"/>
                <a:cs typeface="Sometimes Times Medium"/>
              </a:rPr>
              <a:t>Portfolio Allocation App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ECE8E5"/>
                </a:solidFill>
                <a:latin typeface="Sometimes Times Medium"/>
                <a:cs typeface="Sometimes Times Medium"/>
              </a:rPr>
              <a:t>Status, architecture &amp; how to run it on Teroxx cloud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26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Söhne Kräftig"/>
                <a:cs typeface="Söhne Kräftig"/>
              </a:rPr>
              <a:t>Prepared by Aleksander Biesaga  —  Digital Assets, Teroxx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02920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 spc="200">
                <a:solidFill>
                  <a:srgbClr val="BFB3A8"/>
                </a:solidFill>
                <a:latin typeface="Söhne Halbfett"/>
                <a:cs typeface="Söhne Halbfett"/>
              </a:rPr>
              <a:t>Handover to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ECE8E5"/>
                </a:solidFill>
                <a:latin typeface="Söhne"/>
                <a:cs typeface="Söhne"/>
              </a:rPr>
              <a:t>Research — Jannick Broering, Leonardo Larieira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ECE8E5"/>
                </a:solidFill>
                <a:latin typeface="Söhne"/>
                <a:cs typeface="Söhne"/>
              </a:rPr>
              <a:t>IT — Emil Jorgensen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30936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095AB"/>
                </a:solidFill>
                <a:latin typeface="Söhne"/>
                <a:cs typeface="Söhne"/>
              </a:rPr>
              <a:t>Confidential — internal use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220">
                <a:solidFill>
                  <a:srgbClr val="0B688C"/>
                </a:solidFill>
                <a:latin typeface="Söhne Halbfett"/>
                <a:cs typeface="Söhne Halbfett"/>
              </a:rPr>
              <a:t>ORIENTATION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0">
                <a:solidFill>
                  <a:srgbClr val="060D43"/>
                </a:solidFill>
                <a:latin typeface="Sometimes Times Medium"/>
                <a:cs typeface="Sometimes Times Medium"/>
              </a:rPr>
              <a:t>How to read this deck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33856"/>
            <a:ext cx="11091672" cy="25400"/>
          </a:xfrm>
          <a:prstGeom prst="rect">
            <a:avLst/>
          </a:prstGeom>
          <a:solidFill>
            <a:srgbClr val="0B6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0" y="347472"/>
            <a:ext cx="1600200" cy="310896"/>
          </a:xfrm>
          <a:prstGeom prst="rect">
            <a:avLst/>
          </a:prstGeom>
          <a:noFill/>
          <a:ln w="15875">
            <a:solidFill>
              <a:srgbClr val="060D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347472"/>
            <a:ext cx="1600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50">
                <a:solidFill>
                  <a:srgbClr val="060D43"/>
                </a:solidFill>
                <a:latin typeface="Söhne Halbfett"/>
                <a:cs typeface="Söhne Halbfett"/>
              </a:rPr>
              <a:t>RESEARCH +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095AB"/>
                </a:solidFill>
                <a:latin typeface="Söhne"/>
                <a:cs typeface="Söhne"/>
              </a:rPr>
              <a:t>Teroxx  ·  Portfolio Allocation App — Handover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55664"/>
            <a:ext cx="1033271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095AB"/>
                </a:solidFill>
                <a:latin typeface="Söhne Halbfett"/>
                <a:cs typeface="Söhne Halbfett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37160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1430"/>
                </a:solidFill>
                <a:latin typeface="Söhne Halbfett"/>
                <a:cs typeface="Söhne Halbfett"/>
              </a:rPr>
              <a:t>This one deck serves two audiences. </a:t>
            </a:r>
            <a:r>
              <a:rPr sz="1300" b="0" i="0">
                <a:solidFill>
                  <a:srgbClr val="4A5170"/>
                </a:solidFill>
                <a:latin typeface="Söhne"/>
                <a:cs typeface="Söhne"/>
              </a:rPr>
              <a:t>Every slide is tagged so you can read only what is relevant to you — or read it all for the full picture.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103120"/>
            <a:ext cx="5394960" cy="1417320"/>
          </a:xfrm>
          <a:prstGeom prst="rect">
            <a:avLst/>
          </a:prstGeom>
          <a:solidFill>
            <a:srgbClr val="F4F2EF"/>
          </a:solidFill>
          <a:ln w="9525">
            <a:solidFill>
              <a:srgbClr val="0B68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103120"/>
            <a:ext cx="82296" cy="1417320"/>
          </a:xfrm>
          <a:prstGeom prst="rect">
            <a:avLst/>
          </a:prstGeom>
          <a:solidFill>
            <a:srgbClr val="0B6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286000"/>
            <a:ext cx="5029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spc="150">
                <a:solidFill>
                  <a:srgbClr val="0B688C"/>
                </a:solidFill>
                <a:latin typeface="Söhne Halbfett"/>
                <a:cs typeface="Söhne Halbfett"/>
              </a:rPr>
              <a:t>FOR RESEARCH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4A5170"/>
                </a:solidFill>
                <a:latin typeface="Söhne"/>
                <a:cs typeface="Söhne"/>
              </a:rPr>
              <a:t>What the app does, the day-to-day workflow, the model, and where it lives. No code required.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45352" y="2103120"/>
            <a:ext cx="5394960" cy="1417320"/>
          </a:xfrm>
          <a:prstGeom prst="rect">
            <a:avLst/>
          </a:prstGeom>
          <a:solidFill>
            <a:srgbClr val="F4F2EF"/>
          </a:solidFill>
          <a:ln w="9525">
            <a:solidFill>
              <a:srgbClr val="D066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45352" y="2103120"/>
            <a:ext cx="82296" cy="1417320"/>
          </a:xfrm>
          <a:prstGeom prst="rect">
            <a:avLst/>
          </a:prstGeom>
          <a:solidFill>
            <a:srgbClr val="D066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2" y="2286000"/>
            <a:ext cx="5029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spc="150">
                <a:solidFill>
                  <a:srgbClr val="D06643"/>
                </a:solidFill>
                <a:latin typeface="Söhne Halbfett"/>
                <a:cs typeface="Söhne Halbfett"/>
              </a:rPr>
              <a:t>FOR IT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4A5170"/>
                </a:solidFill>
                <a:latin typeface="Söhne"/>
                <a:cs typeface="Söhne"/>
              </a:rPr>
              <a:t>Architecture, data, security, integrations, and a step-by-step runbook to redeploy on Teroxx-owned cloud.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7947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200">
                <a:solidFill>
                  <a:srgbClr val="0B688C"/>
                </a:solidFill>
                <a:latin typeface="Söhne Halbfett"/>
                <a:cs typeface="Söhne Halbfett"/>
              </a:rPr>
              <a:t>WHAT'S INSIDE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160520"/>
            <a:ext cx="384048" cy="384048"/>
          </a:xfrm>
          <a:prstGeom prst="rect">
            <a:avLst/>
          </a:prstGeom>
          <a:solidFill>
            <a:srgbClr val="060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16052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öhne Fett"/>
                <a:cs typeface="Söhne Fett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133087"/>
            <a:ext cx="10424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E1430"/>
                </a:solidFill>
                <a:latin typeface="Söhne Halbfett"/>
                <a:cs typeface="Söhne Halbfett"/>
              </a:rPr>
              <a:t>What the app does   </a:t>
            </a:r>
            <a:r>
              <a:rPr sz="1150" b="0" i="0">
                <a:solidFill>
                  <a:srgbClr val="4A5170"/>
                </a:solidFill>
                <a:latin typeface="Söhne"/>
                <a:cs typeface="Söhne"/>
              </a:rPr>
              <a:t>Capabilities, workflow, the model &amp; data — plain language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617720"/>
            <a:ext cx="384048" cy="384048"/>
          </a:xfrm>
          <a:prstGeom prst="rect">
            <a:avLst/>
          </a:prstGeom>
          <a:solidFill>
            <a:srgbClr val="060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61772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öhne Fett"/>
                <a:cs typeface="Söhne Fett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590288"/>
            <a:ext cx="10424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E1430"/>
                </a:solidFill>
                <a:latin typeface="Söhne Halbfett"/>
                <a:cs typeface="Söhne Halbfett"/>
              </a:rPr>
              <a:t>Project status   </a:t>
            </a:r>
            <a:r>
              <a:rPr sz="1150" b="0" i="0">
                <a:solidFill>
                  <a:srgbClr val="4A5170"/>
                </a:solidFill>
                <a:latin typeface="Söhne"/>
                <a:cs typeface="Söhne"/>
              </a:rPr>
              <a:t>What's live, known limitations, where it runs today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074920"/>
            <a:ext cx="384048" cy="384048"/>
          </a:xfrm>
          <a:prstGeom prst="rect">
            <a:avLst/>
          </a:prstGeom>
          <a:solidFill>
            <a:srgbClr val="060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07492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öhne Fett"/>
                <a:cs typeface="Söhne Fett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047488"/>
            <a:ext cx="10424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E1430"/>
                </a:solidFill>
                <a:latin typeface="Söhne Halbfett"/>
                <a:cs typeface="Söhne Halbfett"/>
              </a:rPr>
              <a:t>Architecture   </a:t>
            </a:r>
            <a:r>
              <a:rPr sz="1150" b="0" i="0">
                <a:solidFill>
                  <a:srgbClr val="4A5170"/>
                </a:solidFill>
                <a:latin typeface="Söhne"/>
                <a:cs typeface="Söhne"/>
              </a:rPr>
              <a:t>Stack, data, security, the proposal engine, integrations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532120"/>
            <a:ext cx="384048" cy="384048"/>
          </a:xfrm>
          <a:prstGeom prst="rect">
            <a:avLst/>
          </a:prstGeom>
          <a:solidFill>
            <a:srgbClr val="060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553212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öhne Fett"/>
                <a:cs typeface="Söhne Fett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504688"/>
            <a:ext cx="10424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E1430"/>
                </a:solidFill>
                <a:latin typeface="Söhne Halbfett"/>
                <a:cs typeface="Söhne Halbfett"/>
              </a:rPr>
              <a:t>Standing it up on your cloud   </a:t>
            </a:r>
            <a:r>
              <a:rPr sz="1150" b="0" i="0">
                <a:solidFill>
                  <a:srgbClr val="4A5170"/>
                </a:solidFill>
                <a:latin typeface="Söhne"/>
                <a:cs typeface="Söhne"/>
              </a:rPr>
              <a:t>Migration runbook, recommended path, credentials transfer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989320"/>
            <a:ext cx="384048" cy="384048"/>
          </a:xfrm>
          <a:prstGeom prst="rect">
            <a:avLst/>
          </a:prstGeom>
          <a:solidFill>
            <a:srgbClr val="060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598932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öhne Fett"/>
                <a:cs typeface="Söhne Fett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5961888"/>
            <a:ext cx="10424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E1430"/>
                </a:solidFill>
                <a:latin typeface="Söhne Halbfett"/>
                <a:cs typeface="Söhne Halbfett"/>
              </a:rPr>
              <a:t>Ownership &amp; handover   </a:t>
            </a:r>
            <a:r>
              <a:rPr sz="1150" b="0" i="0">
                <a:solidFill>
                  <a:srgbClr val="4A5170"/>
                </a:solidFill>
                <a:latin typeface="Söhne"/>
                <a:cs typeface="Söhne"/>
              </a:rPr>
              <a:t>Who owns what, first-week checklist, contacts &amp; index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0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060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27432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0" b="0" i="0">
                <a:solidFill>
                  <a:srgbClr val="D06643"/>
                </a:solidFill>
                <a:latin typeface="Sometimes Times Medium"/>
                <a:cs typeface="Sometimes Times Medium"/>
              </a:rP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4480560" y="2286000"/>
            <a:ext cx="31750" cy="2194560"/>
          </a:xfrm>
          <a:prstGeom prst="rect">
            <a:avLst/>
          </a:prstGeom>
          <a:solidFill>
            <a:srgbClr val="D066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00600" y="2331720"/>
            <a:ext cx="6858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 i="0">
                <a:solidFill>
                  <a:srgbClr val="FFFFFF"/>
                </a:solidFill>
                <a:latin typeface="Sometimes Times Medium"/>
                <a:cs typeface="Sometimes Times Medium"/>
              </a:rPr>
              <a:t>What the app does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28032" y="3703320"/>
            <a:ext cx="66751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D06643"/>
                </a:solidFill>
                <a:latin typeface="Söhne Halbfett"/>
                <a:cs typeface="Söhne Halbfett"/>
              </a:rPr>
              <a:t>—  </a:t>
            </a:r>
            <a:r>
              <a:rPr sz="1400" b="0" i="0">
                <a:solidFill>
                  <a:srgbClr val="ECE8E5"/>
                </a:solidFill>
                <a:latin typeface="Söhne"/>
                <a:cs typeface="Söhne"/>
              </a:rPr>
              <a:t>Capabilities &amp; the advisor workflow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D06643"/>
                </a:solidFill>
                <a:latin typeface="Söhne Halbfett"/>
                <a:cs typeface="Söhne Halbfett"/>
              </a:rPr>
              <a:t>—  </a:t>
            </a:r>
            <a:r>
              <a:rPr sz="1400" b="0" i="0">
                <a:solidFill>
                  <a:srgbClr val="ECE8E5"/>
                </a:solidFill>
                <a:latin typeface="Söhne"/>
                <a:cs typeface="Söhne"/>
              </a:rPr>
              <a:t>The investable universes &amp; baskets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D06643"/>
                </a:solidFill>
                <a:latin typeface="Söhne Halbfett"/>
                <a:cs typeface="Söhne Halbfett"/>
              </a:rPr>
              <a:t>—  </a:t>
            </a:r>
            <a:r>
              <a:rPr sz="1400" b="0" i="0">
                <a:solidFill>
                  <a:srgbClr val="ECE8E5"/>
                </a:solidFill>
                <a:latin typeface="Söhne"/>
                <a:cs typeface="Söhne"/>
              </a:rPr>
              <a:t>The allocation model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D06643"/>
                </a:solidFill>
                <a:latin typeface="Söhne Halbfett"/>
                <a:cs typeface="Söhne Halbfett"/>
              </a:rPr>
              <a:t>—  </a:t>
            </a:r>
            <a:r>
              <a:rPr sz="1400" b="0" i="0">
                <a:solidFill>
                  <a:srgbClr val="ECE8E5"/>
                </a:solidFill>
                <a:latin typeface="Söhne"/>
                <a:cs typeface="Söhne"/>
              </a:rPr>
              <a:t>Where the data comes from</a:t>
            </a:r>
          </a:p>
        </p:txBody>
      </p:sp>
      <p:pic>
        <p:nvPicPr>
          <p:cNvPr id="8" name="Picture 7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6172200"/>
            <a:ext cx="1036320" cy="31089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828032" y="1783080"/>
            <a:ext cx="1737360" cy="329184"/>
          </a:xfrm>
          <a:prstGeom prst="rect">
            <a:avLst/>
          </a:prstGeom>
          <a:noFill/>
          <a:ln w="15875">
            <a:solidFill>
              <a:srgbClr val="BFB3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28032" y="1783080"/>
            <a:ext cx="17373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50">
                <a:solidFill>
                  <a:srgbClr val="BFB3A8"/>
                </a:solidFill>
                <a:latin typeface="Söhne Halbfett"/>
                <a:cs typeface="Söhne Halbfett"/>
              </a:rPr>
              <a:t>FOR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220">
                <a:solidFill>
                  <a:srgbClr val="0B688C"/>
                </a:solidFill>
                <a:latin typeface="Söhne Halbfett"/>
                <a:cs typeface="Söhne Halbfett"/>
              </a:rPr>
              <a:t>SECTION 1 · WHAT THE APP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0">
                <a:solidFill>
                  <a:srgbClr val="060D43"/>
                </a:solidFill>
                <a:latin typeface="Sometimes Times Medium"/>
                <a:cs typeface="Sometimes Times Medium"/>
              </a:rPr>
              <a:t>In one minute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33856"/>
            <a:ext cx="11091672" cy="25400"/>
          </a:xfrm>
          <a:prstGeom prst="rect">
            <a:avLst/>
          </a:prstGeom>
          <a:solidFill>
            <a:srgbClr val="0B6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0" y="347472"/>
            <a:ext cx="1600200" cy="310896"/>
          </a:xfrm>
          <a:prstGeom prst="rect">
            <a:avLst/>
          </a:prstGeom>
          <a:noFill/>
          <a:ln w="15875">
            <a:solidFill>
              <a:srgbClr val="060D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347472"/>
            <a:ext cx="1600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50">
                <a:solidFill>
                  <a:srgbClr val="060D43"/>
                </a:solidFill>
                <a:latin typeface="Söhne Halbfett"/>
                <a:cs typeface="Söhne Halbfett"/>
              </a:rPr>
              <a:t>RESEARCH +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095AB"/>
                </a:solidFill>
                <a:latin typeface="Söhne"/>
                <a:cs typeface="Söhne"/>
              </a:rPr>
              <a:t>Teroxx  ·  Portfolio Allocation App — Handover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55664"/>
            <a:ext cx="1033271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095AB"/>
                </a:solidFill>
                <a:latin typeface="Söhne Halbfett"/>
                <a:cs typeface="Söhne Halbfett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37160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430"/>
                </a:solidFill>
                <a:latin typeface="Söhne Halbfett"/>
                <a:cs typeface="Söhne Halbfett"/>
              </a:rPr>
              <a:t>The Portfolio Allocation App is the web version of Teroxx's Portfolio Allocation Model (v5.0). </a:t>
            </a:r>
            <a:r>
              <a:rPr sz="1450" b="0" i="0">
                <a:solidFill>
                  <a:srgbClr val="4A5170"/>
                </a:solidFill>
                <a:latin typeface="Söhne"/>
                <a:cs typeface="Söhne"/>
              </a:rPr>
              <a:t>An advisor picks a client's risk profile and investable universe; the app scores 79 crypto assets, builds a personalised allocation, tracks the live portfolio, and exports a fully branded client proposal as Word, PDF or Google Doc.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606040"/>
            <a:ext cx="2697480" cy="1371600"/>
          </a:xfrm>
          <a:prstGeom prst="rect">
            <a:avLst/>
          </a:prstGeom>
          <a:solidFill>
            <a:srgbClr val="F4F2EF"/>
          </a:solidFill>
          <a:ln w="9525">
            <a:solidFill>
              <a:srgbClr val="C9C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606040"/>
            <a:ext cx="2697480" cy="38100"/>
          </a:xfrm>
          <a:prstGeom prst="rect">
            <a:avLst/>
          </a:prstGeom>
          <a:solidFill>
            <a:srgbClr val="0B6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761488"/>
            <a:ext cx="26974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 i="0">
                <a:solidFill>
                  <a:srgbClr val="060D43"/>
                </a:solidFill>
                <a:latin typeface="Sometimes Times Medium"/>
                <a:cs typeface="Sometimes Times Medium"/>
              </a:rPr>
              <a:t>79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401568"/>
            <a:ext cx="2697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0E1430"/>
                </a:solidFill>
                <a:latin typeface="Söhne Halbfett"/>
                <a:cs typeface="Söhne Halbfett"/>
              </a:rPr>
              <a:t>assets scored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9095AB"/>
                </a:solidFill>
                <a:latin typeface="Söhne"/>
                <a:cs typeface="Söhne"/>
              </a:rPr>
              <a:t>multi-factor model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64992" y="2606040"/>
            <a:ext cx="2697480" cy="1371600"/>
          </a:xfrm>
          <a:prstGeom prst="rect">
            <a:avLst/>
          </a:prstGeom>
          <a:solidFill>
            <a:srgbClr val="F4F2EF"/>
          </a:solidFill>
          <a:ln w="9525">
            <a:solidFill>
              <a:srgbClr val="C9C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64992" y="2606040"/>
            <a:ext cx="2697480" cy="38100"/>
          </a:xfrm>
          <a:prstGeom prst="rect">
            <a:avLst/>
          </a:prstGeom>
          <a:solidFill>
            <a:srgbClr val="0B6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64992" y="2761488"/>
            <a:ext cx="26974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 i="0">
                <a:solidFill>
                  <a:srgbClr val="060D43"/>
                </a:solidFill>
                <a:latin typeface="Sometimes Times Medium"/>
                <a:cs typeface="Sometimes Times Medium"/>
              </a:rP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64992" y="3401568"/>
            <a:ext cx="2697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0E1430"/>
                </a:solidFill>
                <a:latin typeface="Söhne Halbfett"/>
                <a:cs typeface="Söhne Halbfett"/>
              </a:rPr>
              <a:t>advisor tabs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9095AB"/>
                </a:solidFill>
                <a:latin typeface="Söhne"/>
                <a:cs typeface="Söhne"/>
              </a:rPr>
              <a:t>allocate → propose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81344" y="2606040"/>
            <a:ext cx="2697480" cy="1371600"/>
          </a:xfrm>
          <a:prstGeom prst="rect">
            <a:avLst/>
          </a:prstGeom>
          <a:solidFill>
            <a:srgbClr val="F4F2EF"/>
          </a:solidFill>
          <a:ln w="9525">
            <a:solidFill>
              <a:srgbClr val="C9C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81344" y="2606040"/>
            <a:ext cx="2697480" cy="38100"/>
          </a:xfrm>
          <a:prstGeom prst="rect">
            <a:avLst/>
          </a:prstGeom>
          <a:solidFill>
            <a:srgbClr val="0B6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81344" y="2761488"/>
            <a:ext cx="26974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 i="0">
                <a:solidFill>
                  <a:srgbClr val="060D43"/>
                </a:solidFill>
                <a:latin typeface="Sometimes Times Medium"/>
                <a:cs typeface="Sometimes Times Medium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81344" y="3401568"/>
            <a:ext cx="2697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0E1430"/>
                </a:solidFill>
                <a:latin typeface="Söhne Halbfett"/>
                <a:cs typeface="Söhne Halbfett"/>
              </a:rPr>
              <a:t>export formats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9095AB"/>
                </a:solidFill>
                <a:latin typeface="Söhne"/>
                <a:cs typeface="Söhne"/>
              </a:rPr>
              <a:t>DOCX · PDF · GDoc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97696" y="2606040"/>
            <a:ext cx="2697480" cy="1371600"/>
          </a:xfrm>
          <a:prstGeom prst="rect">
            <a:avLst/>
          </a:prstGeom>
          <a:solidFill>
            <a:srgbClr val="F4F2EF"/>
          </a:solidFill>
          <a:ln w="9525">
            <a:solidFill>
              <a:srgbClr val="C9C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97696" y="2606040"/>
            <a:ext cx="2697480" cy="38100"/>
          </a:xfrm>
          <a:prstGeom prst="rect">
            <a:avLst/>
          </a:prstGeom>
          <a:solidFill>
            <a:srgbClr val="0B6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97696" y="2761488"/>
            <a:ext cx="26974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 i="0">
                <a:solidFill>
                  <a:srgbClr val="060D43"/>
                </a:solidFill>
                <a:latin typeface="Sometimes Times Medium"/>
                <a:cs typeface="Sometimes Times Medium"/>
              </a:rPr>
              <a:t>Live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97696" y="3401568"/>
            <a:ext cx="2697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0E1430"/>
                </a:solidFill>
                <a:latin typeface="Söhne Halbfett"/>
                <a:cs typeface="Söhne Halbfett"/>
              </a:rPr>
              <a:t>in daily use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9095AB"/>
                </a:solidFill>
                <a:latin typeface="Söhne"/>
                <a:cs typeface="Söhne"/>
              </a:rPr>
              <a:t>by the advisory desk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297680"/>
            <a:ext cx="11091672" cy="1691640"/>
          </a:xfrm>
          <a:prstGeom prst="rect">
            <a:avLst/>
          </a:prstGeom>
          <a:solidFill>
            <a:srgbClr val="FBF0EC"/>
          </a:solidFill>
          <a:ln w="9525">
            <a:solidFill>
              <a:srgbClr val="D066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4297680"/>
            <a:ext cx="82296" cy="1691640"/>
          </a:xfrm>
          <a:prstGeom prst="rect">
            <a:avLst/>
          </a:prstGeom>
          <a:solidFill>
            <a:srgbClr val="D066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448056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80">
                <a:solidFill>
                  <a:srgbClr val="D06643"/>
                </a:solidFill>
                <a:latin typeface="Söhne Halbfett"/>
                <a:cs typeface="Söhne Halbfett"/>
              </a:rPr>
              <a:t>WHY THIS HANDOVER MATTERS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4828032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170"/>
                </a:solidFill>
                <a:latin typeface="Söhne"/>
                <a:cs typeface="Söhne"/>
              </a:rPr>
              <a:t>Today the app runs on Aleksander's </a:t>
            </a:r>
            <a:r>
              <a:rPr sz="1300" b="1" i="0">
                <a:solidFill>
                  <a:srgbClr val="0E1430"/>
                </a:solidFill>
                <a:latin typeface="Söhne Halbfett"/>
                <a:cs typeface="Söhne Halbfett"/>
              </a:rPr>
              <a:t>private personal Render account</a:t>
            </a:r>
            <a:r>
              <a:rPr sz="1300" b="0" i="0">
                <a:solidFill>
                  <a:srgbClr val="4A5170"/>
                </a:solidFill>
                <a:latin typeface="Söhne"/>
                <a:cs typeface="Söhne"/>
              </a:rPr>
              <a:t>. When that account goes away, so does the deployment. The goal of this handover is to move it onto Teroxx-owned cloud and Teroxx-owned credentials, with Research owning the content and IT owning the infrastructure.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220">
                <a:solidFill>
                  <a:srgbClr val="0B688C"/>
                </a:solidFill>
                <a:latin typeface="Söhne Halbfett"/>
                <a:cs typeface="Söhne Halbfett"/>
              </a:rPr>
              <a:t>SECTION 1 · WHAT THE APP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0">
                <a:solidFill>
                  <a:srgbClr val="060D43"/>
                </a:solidFill>
                <a:latin typeface="Sometimes Times Medium"/>
                <a:cs typeface="Sometimes Times Medium"/>
              </a:rPr>
              <a:t>The eight advisor tabs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33856"/>
            <a:ext cx="11091672" cy="25400"/>
          </a:xfrm>
          <a:prstGeom prst="rect">
            <a:avLst/>
          </a:prstGeom>
          <a:solidFill>
            <a:srgbClr val="0B6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0" y="347472"/>
            <a:ext cx="1600200" cy="310896"/>
          </a:xfrm>
          <a:prstGeom prst="rect">
            <a:avLst/>
          </a:prstGeom>
          <a:noFill/>
          <a:ln w="15875">
            <a:solidFill>
              <a:srgbClr val="0B68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347472"/>
            <a:ext cx="1600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50">
                <a:solidFill>
                  <a:srgbClr val="0B688C"/>
                </a:solidFill>
                <a:latin typeface="Söhne Halbfett"/>
                <a:cs typeface="Söhne Halbfett"/>
              </a:rPr>
              <a:t>FOR 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095AB"/>
                </a:solidFill>
                <a:latin typeface="Söhne"/>
                <a:cs typeface="Söhne"/>
              </a:rPr>
              <a:t>Teroxx  ·  Portfolio Allocation App — Handover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55664"/>
            <a:ext cx="1033271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095AB"/>
                </a:solidFill>
                <a:latin typeface="Söhne Halbfett"/>
                <a:cs typeface="Söhne Halbfett"/>
              </a:rPr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417320"/>
            <a:ext cx="5458968" cy="1133856"/>
          </a:xfrm>
          <a:prstGeom prst="rect">
            <a:avLst/>
          </a:prstGeom>
          <a:solidFill>
            <a:srgbClr val="F4F2EF"/>
          </a:solidFill>
          <a:ln w="9525">
            <a:solidFill>
              <a:srgbClr val="C9C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417320"/>
            <a:ext cx="457200" cy="1133856"/>
          </a:xfrm>
          <a:prstGeom prst="rect">
            <a:avLst/>
          </a:prstGeom>
          <a:solidFill>
            <a:srgbClr val="060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417320"/>
            <a:ext cx="457200" cy="11338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Söhne Fett"/>
                <a:cs typeface="Söhne Fett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" y="1572768"/>
            <a:ext cx="472744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060D43"/>
                </a:solidFill>
                <a:latin typeface="Söhne Halbfett"/>
                <a:cs typeface="Söhne Halbfett"/>
              </a:rPr>
              <a:t>Allocator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4A5170"/>
                </a:solidFill>
                <a:latin typeface="Söhne"/>
                <a:cs typeface="Söhne"/>
              </a:rPr>
              <a:t>Risk profile + universe → target allocation table &amp; donut chart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81344" y="1417320"/>
            <a:ext cx="5458968" cy="1133856"/>
          </a:xfrm>
          <a:prstGeom prst="rect">
            <a:avLst/>
          </a:prstGeom>
          <a:solidFill>
            <a:srgbClr val="F4F2EF"/>
          </a:solidFill>
          <a:ln w="9525">
            <a:solidFill>
              <a:srgbClr val="C9C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1344" y="1417320"/>
            <a:ext cx="457200" cy="1133856"/>
          </a:xfrm>
          <a:prstGeom prst="rect">
            <a:avLst/>
          </a:prstGeom>
          <a:solidFill>
            <a:srgbClr val="060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81344" y="1417320"/>
            <a:ext cx="457200" cy="11338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Söhne Fett"/>
                <a:cs typeface="Söhne Fett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4848" y="1572768"/>
            <a:ext cx="472744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060D43"/>
                </a:solidFill>
                <a:latin typeface="Söhne Halbfett"/>
                <a:cs typeface="Söhne Halbfett"/>
              </a:rPr>
              <a:t>Your Portfolio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4A5170"/>
                </a:solidFill>
                <a:latin typeface="Söhne"/>
                <a:cs typeface="Söhne"/>
              </a:rPr>
              <a:t>Enter a portfolio value → position sizes with BUY actions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697480"/>
            <a:ext cx="5458968" cy="1133856"/>
          </a:xfrm>
          <a:prstGeom prst="rect">
            <a:avLst/>
          </a:prstGeom>
          <a:solidFill>
            <a:srgbClr val="F4F2EF"/>
          </a:solidFill>
          <a:ln w="9525">
            <a:solidFill>
              <a:srgbClr val="C9C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2697480"/>
            <a:ext cx="457200" cy="1133856"/>
          </a:xfrm>
          <a:prstGeom prst="rect">
            <a:avLst/>
          </a:prstGeom>
          <a:solidFill>
            <a:srgbClr val="060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697480"/>
            <a:ext cx="457200" cy="11338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Söhne Fett"/>
                <a:cs typeface="Söhne Fett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2144" y="2852928"/>
            <a:ext cx="472744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060D43"/>
                </a:solidFill>
                <a:latin typeface="Söhne Halbfett"/>
                <a:cs typeface="Söhne Halbfett"/>
              </a:rPr>
              <a:t>Recurring Buys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4A5170"/>
                </a:solidFill>
                <a:latin typeface="Söhne"/>
                <a:cs typeface="Söhne"/>
              </a:rPr>
              <a:t>DCA planner: scope, horizon, minimum order + backtest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81344" y="2697480"/>
            <a:ext cx="5458968" cy="1133856"/>
          </a:xfrm>
          <a:prstGeom prst="rect">
            <a:avLst/>
          </a:prstGeom>
          <a:solidFill>
            <a:srgbClr val="F4F2EF"/>
          </a:solidFill>
          <a:ln w="9525">
            <a:solidFill>
              <a:srgbClr val="C9C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81344" y="2697480"/>
            <a:ext cx="457200" cy="1133856"/>
          </a:xfrm>
          <a:prstGeom prst="rect">
            <a:avLst/>
          </a:prstGeom>
          <a:solidFill>
            <a:srgbClr val="060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81344" y="2697480"/>
            <a:ext cx="457200" cy="11338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Söhne Fett"/>
                <a:cs typeface="Söhne Fett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84848" y="2852928"/>
            <a:ext cx="472744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060D43"/>
                </a:solidFill>
                <a:latin typeface="Söhne Halbfett"/>
                <a:cs typeface="Söhne Halbfett"/>
              </a:rPr>
              <a:t>Factor Scores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4A5170"/>
                </a:solidFill>
                <a:latin typeface="Söhne"/>
                <a:cs typeface="Söhne"/>
              </a:rPr>
              <a:t>The 5-factor model: weights, radar &amp; composite scores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3977639"/>
            <a:ext cx="5458968" cy="1133856"/>
          </a:xfrm>
          <a:prstGeom prst="rect">
            <a:avLst/>
          </a:prstGeom>
          <a:solidFill>
            <a:srgbClr val="F4F2EF"/>
          </a:solidFill>
          <a:ln w="9525">
            <a:solidFill>
              <a:srgbClr val="C9C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3977639"/>
            <a:ext cx="457200" cy="1133856"/>
          </a:xfrm>
          <a:prstGeom prst="rect">
            <a:avLst/>
          </a:prstGeom>
          <a:solidFill>
            <a:srgbClr val="060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3977639"/>
            <a:ext cx="457200" cy="11338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Söhne Fett"/>
                <a:cs typeface="Söhne Fett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52144" y="4133087"/>
            <a:ext cx="472744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060D43"/>
                </a:solidFill>
                <a:latin typeface="Söhne Halbfett"/>
                <a:cs typeface="Söhne Halbfett"/>
              </a:rPr>
              <a:t>Fundamentals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4A5170"/>
                </a:solidFill>
                <a:latin typeface="Söhne"/>
                <a:cs typeface="Söhne"/>
              </a:rPr>
              <a:t>The 10-factor fundamental model per asset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81344" y="3977639"/>
            <a:ext cx="5458968" cy="1133856"/>
          </a:xfrm>
          <a:prstGeom prst="rect">
            <a:avLst/>
          </a:prstGeom>
          <a:solidFill>
            <a:srgbClr val="F4F2EF"/>
          </a:solidFill>
          <a:ln w="9525">
            <a:solidFill>
              <a:srgbClr val="C9C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81344" y="3977639"/>
            <a:ext cx="457200" cy="1133856"/>
          </a:xfrm>
          <a:prstGeom prst="rect">
            <a:avLst/>
          </a:prstGeom>
          <a:solidFill>
            <a:srgbClr val="060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81344" y="3977639"/>
            <a:ext cx="457200" cy="11338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Söhne Fett"/>
                <a:cs typeface="Söhne Fett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84848" y="4133087"/>
            <a:ext cx="472744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060D43"/>
                </a:solidFill>
                <a:latin typeface="Söhne Halbfett"/>
                <a:cs typeface="Söhne Halbfett"/>
              </a:rPr>
              <a:t>Allocations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4A5170"/>
                </a:solidFill>
                <a:latin typeface="Söhne"/>
                <a:cs typeface="Söhne"/>
              </a:rPr>
              <a:t>Risk tilts, strategic weights, per-asset breakdown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5257799"/>
            <a:ext cx="5458968" cy="1133856"/>
          </a:xfrm>
          <a:prstGeom prst="rect">
            <a:avLst/>
          </a:prstGeom>
          <a:solidFill>
            <a:srgbClr val="F4F2EF"/>
          </a:solidFill>
          <a:ln w="9525">
            <a:solidFill>
              <a:srgbClr val="C9C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8640" y="5257799"/>
            <a:ext cx="457200" cy="1133856"/>
          </a:xfrm>
          <a:prstGeom prst="rect">
            <a:avLst/>
          </a:prstGeom>
          <a:solidFill>
            <a:srgbClr val="060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5257799"/>
            <a:ext cx="457200" cy="11338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Söhne Fett"/>
                <a:cs typeface="Söhne Fett"/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52144" y="5413247"/>
            <a:ext cx="472744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060D43"/>
                </a:solidFill>
                <a:latin typeface="Söhne Halbfett"/>
                <a:cs typeface="Söhne Halbfett"/>
              </a:rPr>
              <a:t>Rebalancing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4A5170"/>
                </a:solidFill>
                <a:latin typeface="Söhne"/>
                <a:cs typeface="Söhne"/>
              </a:rPr>
              <a:t>Current vs target → concrete BUY / SELL actions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81344" y="5257799"/>
            <a:ext cx="5458968" cy="1133856"/>
          </a:xfrm>
          <a:prstGeom prst="rect">
            <a:avLst/>
          </a:prstGeom>
          <a:solidFill>
            <a:srgbClr val="F4F2EF"/>
          </a:solidFill>
          <a:ln w="9525">
            <a:solidFill>
              <a:srgbClr val="C9C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81344" y="5257799"/>
            <a:ext cx="457200" cy="1133856"/>
          </a:xfrm>
          <a:prstGeom prst="rect">
            <a:avLst/>
          </a:prstGeom>
          <a:solidFill>
            <a:srgbClr val="060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81344" y="5257799"/>
            <a:ext cx="457200" cy="11338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Söhne Fett"/>
                <a:cs typeface="Söhne Fett"/>
              </a:rPr>
              <a:t>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84848" y="5413247"/>
            <a:ext cx="472744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060D43"/>
                </a:solidFill>
                <a:latin typeface="Söhne Halbfett"/>
                <a:cs typeface="Söhne Halbfett"/>
              </a:rPr>
              <a:t>P&amp;L Tracker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4A5170"/>
                </a:solidFill>
                <a:latin typeface="Söhne"/>
                <a:cs typeface="Söhne"/>
              </a:rPr>
              <a:t>Entry price/qty → unrealised P&amp;L against live prices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220">
                <a:solidFill>
                  <a:srgbClr val="0B688C"/>
                </a:solidFill>
                <a:latin typeface="Söhne Halbfett"/>
                <a:cs typeface="Söhne Halbfett"/>
              </a:rPr>
              <a:t>SECTION 1 · WHAT THE APP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0">
                <a:solidFill>
                  <a:srgbClr val="060D43"/>
                </a:solidFill>
                <a:latin typeface="Sometimes Times Medium"/>
                <a:cs typeface="Sometimes Times Medium"/>
              </a:rPr>
              <a:t>From risk profile to client proposal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33856"/>
            <a:ext cx="11091672" cy="25400"/>
          </a:xfrm>
          <a:prstGeom prst="rect">
            <a:avLst/>
          </a:prstGeom>
          <a:solidFill>
            <a:srgbClr val="0B6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0" y="347472"/>
            <a:ext cx="1600200" cy="310896"/>
          </a:xfrm>
          <a:prstGeom prst="rect">
            <a:avLst/>
          </a:prstGeom>
          <a:noFill/>
          <a:ln w="15875">
            <a:solidFill>
              <a:srgbClr val="0B68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347472"/>
            <a:ext cx="1600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50">
                <a:solidFill>
                  <a:srgbClr val="0B688C"/>
                </a:solidFill>
                <a:latin typeface="Söhne Halbfett"/>
                <a:cs typeface="Söhne Halbfett"/>
              </a:rPr>
              <a:t>FOR 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095AB"/>
                </a:solidFill>
                <a:latin typeface="Söhne"/>
                <a:cs typeface="Söhne"/>
              </a:rPr>
              <a:t>Teroxx  ·  Portfolio Allocation App — Handover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55664"/>
            <a:ext cx="1033271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095AB"/>
                </a:solidFill>
                <a:latin typeface="Söhne Halbfett"/>
                <a:cs typeface="Söhne Halbfett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3258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170"/>
                </a:solidFill>
                <a:latin typeface="Söhne"/>
                <a:cs typeface="Söhne"/>
              </a:rPr>
              <a:t>The everyday advisor journey — five steps, ending in a branded document ready to send.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148840"/>
            <a:ext cx="2084831" cy="2377440"/>
          </a:xfrm>
          <a:prstGeom prst="rect">
            <a:avLst/>
          </a:prstGeom>
          <a:solidFill>
            <a:srgbClr val="F4F2EF"/>
          </a:solidFill>
          <a:ln w="9525">
            <a:solidFill>
              <a:srgbClr val="C9C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148840"/>
            <a:ext cx="2084831" cy="38100"/>
          </a:xfrm>
          <a:prstGeom prst="rect">
            <a:avLst/>
          </a:prstGeom>
          <a:solidFill>
            <a:srgbClr val="0B6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335023" y="2423160"/>
            <a:ext cx="512064" cy="512064"/>
          </a:xfrm>
          <a:prstGeom prst="rect">
            <a:avLst/>
          </a:prstGeom>
          <a:solidFill>
            <a:srgbClr val="060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35023" y="2423160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Söhne Fett"/>
                <a:cs typeface="Söhne Fett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081528"/>
            <a:ext cx="18653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60D43"/>
                </a:solidFill>
                <a:latin typeface="Söhne Halbfett"/>
                <a:cs typeface="Söhne Halbfett"/>
              </a:rPr>
              <a:t>Select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474720"/>
            <a:ext cx="1810511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170"/>
                </a:solidFill>
                <a:latin typeface="Söhne"/>
                <a:cs typeface="Söhne"/>
              </a:rPr>
              <a:t>Choose the client, risk profile and investable universe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15184" y="2971800"/>
            <a:ext cx="274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BFB3A8"/>
                </a:solidFill>
                <a:latin typeface="Söhne Fett"/>
                <a:cs typeface="Söhne Fett"/>
              </a:rPr>
              <a:t>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70632" y="2148840"/>
            <a:ext cx="2084831" cy="2377440"/>
          </a:xfrm>
          <a:prstGeom prst="rect">
            <a:avLst/>
          </a:prstGeom>
          <a:solidFill>
            <a:srgbClr val="F4F2EF"/>
          </a:solidFill>
          <a:ln w="9525">
            <a:solidFill>
              <a:srgbClr val="C9C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70632" y="2148840"/>
            <a:ext cx="2084831" cy="38100"/>
          </a:xfrm>
          <a:prstGeom prst="rect">
            <a:avLst/>
          </a:prstGeom>
          <a:solidFill>
            <a:srgbClr val="0B6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557015" y="2423160"/>
            <a:ext cx="512064" cy="512064"/>
          </a:xfrm>
          <a:prstGeom prst="rect">
            <a:avLst/>
          </a:prstGeom>
          <a:solidFill>
            <a:srgbClr val="060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57015" y="2423160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Söhne Fett"/>
                <a:cs typeface="Söhne Fett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0360" y="3081528"/>
            <a:ext cx="18653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60D43"/>
                </a:solidFill>
                <a:latin typeface="Söhne Halbfett"/>
                <a:cs typeface="Söhne Halbfett"/>
              </a:rPr>
              <a:t>Allocate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7791" y="3474720"/>
            <a:ext cx="1810511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170"/>
                </a:solidFill>
                <a:latin typeface="Söhne"/>
                <a:cs typeface="Söhne"/>
              </a:rPr>
              <a:t>The app scores 79 assets and builds the target allocation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37176" y="2971800"/>
            <a:ext cx="274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BFB3A8"/>
                </a:solidFill>
                <a:latin typeface="Söhne Fett"/>
                <a:cs typeface="Söhne Fett"/>
              </a:rPr>
              <a:t>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992623" y="2148840"/>
            <a:ext cx="2084831" cy="2377440"/>
          </a:xfrm>
          <a:prstGeom prst="rect">
            <a:avLst/>
          </a:prstGeom>
          <a:solidFill>
            <a:srgbClr val="F4F2EF"/>
          </a:solidFill>
          <a:ln w="9525">
            <a:solidFill>
              <a:srgbClr val="C9C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92623" y="2148840"/>
            <a:ext cx="2084831" cy="38100"/>
          </a:xfrm>
          <a:prstGeom prst="rect">
            <a:avLst/>
          </a:prstGeom>
          <a:solidFill>
            <a:srgbClr val="0B6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779007" y="2423160"/>
            <a:ext cx="512064" cy="512064"/>
          </a:xfrm>
          <a:prstGeom prst="rect">
            <a:avLst/>
          </a:prstGeom>
          <a:solidFill>
            <a:srgbClr val="060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79007" y="2423160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Söhne Fett"/>
                <a:cs typeface="Söhne Fett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02351" y="3081528"/>
            <a:ext cx="18653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60D43"/>
                </a:solidFill>
                <a:latin typeface="Söhne Halbfett"/>
                <a:cs typeface="Söhne Halbfett"/>
              </a:rPr>
              <a:t>Review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9783" y="3474720"/>
            <a:ext cx="1810511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170"/>
                </a:solidFill>
                <a:latin typeface="Söhne"/>
                <a:cs typeface="Söhne"/>
              </a:rPr>
              <a:t>Check positions, rebalancing actions, P&amp;L and drift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59167" y="2971800"/>
            <a:ext cx="274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BFB3A8"/>
                </a:solidFill>
                <a:latin typeface="Söhne Fett"/>
                <a:cs typeface="Söhne Fett"/>
              </a:rPr>
              <a:t>›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14615" y="2148840"/>
            <a:ext cx="2084831" cy="2377440"/>
          </a:xfrm>
          <a:prstGeom prst="rect">
            <a:avLst/>
          </a:prstGeom>
          <a:solidFill>
            <a:srgbClr val="F4F2EF"/>
          </a:solidFill>
          <a:ln w="9525">
            <a:solidFill>
              <a:srgbClr val="C9C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214615" y="2148840"/>
            <a:ext cx="2084831" cy="38100"/>
          </a:xfrm>
          <a:prstGeom prst="rect">
            <a:avLst/>
          </a:prstGeom>
          <a:solidFill>
            <a:srgbClr val="0B6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01000" y="2423160"/>
            <a:ext cx="512064" cy="512064"/>
          </a:xfrm>
          <a:prstGeom prst="rect">
            <a:avLst/>
          </a:prstGeom>
          <a:solidFill>
            <a:srgbClr val="060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01000" y="2423160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Söhne Fett"/>
                <a:cs typeface="Söhne Fett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24343" y="3081528"/>
            <a:ext cx="18653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60D43"/>
                </a:solidFill>
                <a:latin typeface="Söhne Halbfett"/>
                <a:cs typeface="Söhne Halbfett"/>
              </a:rPr>
              <a:t>Personalise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51775" y="3474720"/>
            <a:ext cx="1810511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170"/>
                </a:solidFill>
                <a:latin typeface="Söhne"/>
                <a:cs typeface="Söhne"/>
              </a:rPr>
              <a:t>Add advisor notes, market view, execution plan (EN or DE)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81159" y="2971800"/>
            <a:ext cx="274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BFB3A8"/>
                </a:solidFill>
                <a:latin typeface="Söhne Fett"/>
                <a:cs typeface="Söhne Fett"/>
              </a:rPr>
              <a:t>›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436607" y="2148840"/>
            <a:ext cx="2084831" cy="2377440"/>
          </a:xfrm>
          <a:prstGeom prst="rect">
            <a:avLst/>
          </a:prstGeom>
          <a:solidFill>
            <a:srgbClr val="F4F2EF"/>
          </a:solidFill>
          <a:ln w="9525">
            <a:solidFill>
              <a:srgbClr val="C9C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436607" y="2148840"/>
            <a:ext cx="2084831" cy="38100"/>
          </a:xfrm>
          <a:prstGeom prst="rect">
            <a:avLst/>
          </a:prstGeom>
          <a:solidFill>
            <a:srgbClr val="D066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222992" y="2423160"/>
            <a:ext cx="512064" cy="512064"/>
          </a:xfrm>
          <a:prstGeom prst="rect">
            <a:avLst/>
          </a:prstGeom>
          <a:solidFill>
            <a:srgbClr val="D066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222992" y="2423160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Söhne Fett"/>
                <a:cs typeface="Söhne Fett"/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46335" y="3081528"/>
            <a:ext cx="18653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60D43"/>
                </a:solidFill>
                <a:latin typeface="Söhne Halbfett"/>
                <a:cs typeface="Söhne Halbfett"/>
              </a:rPr>
              <a:t>Export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73767" y="3474720"/>
            <a:ext cx="1810511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170"/>
                </a:solidFill>
                <a:latin typeface="Söhne"/>
                <a:cs typeface="Söhne"/>
              </a:rPr>
              <a:t>One click → branded Word, PDF or Google Doc proposal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4892040"/>
            <a:ext cx="11091672" cy="1051560"/>
          </a:xfrm>
          <a:prstGeom prst="rect">
            <a:avLst/>
          </a:prstGeom>
          <a:solidFill>
            <a:srgbClr val="F0F5F7"/>
          </a:solidFill>
          <a:ln w="9525">
            <a:solidFill>
              <a:srgbClr val="0B68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2960" y="504748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B688C"/>
                </a:solidFill>
                <a:latin typeface="Söhne Halbfett"/>
                <a:cs typeface="Söhne Halbfett"/>
              </a:rPr>
              <a:t>Faithful proposals:  </a:t>
            </a:r>
            <a:r>
              <a:rPr sz="1250" b="0" i="0">
                <a:solidFill>
                  <a:srgbClr val="4A5170"/>
                </a:solidFill>
                <a:latin typeface="Söhne"/>
                <a:cs typeface="Söhne"/>
              </a:rPr>
              <a:t>when the advisor hits export, the app freezes the exact on-screen allocation, so the document is a true record of what was reviewed — not a later recompute against moved market data. The Word file is the master; PDF and Google Doc are conversions of it, so the three can never drift apart.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220">
                <a:solidFill>
                  <a:srgbClr val="0B688C"/>
                </a:solidFill>
                <a:latin typeface="Söhne Halbfett"/>
                <a:cs typeface="Söhne Halbfett"/>
              </a:rPr>
              <a:t>SECTION 1 · WHAT THE APP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0">
                <a:solidFill>
                  <a:srgbClr val="060D43"/>
                </a:solidFill>
                <a:latin typeface="Sometimes Times Medium"/>
                <a:cs typeface="Sometimes Times Medium"/>
              </a:rPr>
              <a:t>The selectable universes &amp; baskets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33856"/>
            <a:ext cx="11091672" cy="25400"/>
          </a:xfrm>
          <a:prstGeom prst="rect">
            <a:avLst/>
          </a:prstGeom>
          <a:solidFill>
            <a:srgbClr val="0B6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0" y="347472"/>
            <a:ext cx="1600200" cy="310896"/>
          </a:xfrm>
          <a:prstGeom prst="rect">
            <a:avLst/>
          </a:prstGeom>
          <a:noFill/>
          <a:ln w="15875">
            <a:solidFill>
              <a:srgbClr val="0B68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347472"/>
            <a:ext cx="1600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50">
                <a:solidFill>
                  <a:srgbClr val="0B688C"/>
                </a:solidFill>
                <a:latin typeface="Söhne Halbfett"/>
                <a:cs typeface="Söhne Halbfett"/>
              </a:rPr>
              <a:t>FOR 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095AB"/>
                </a:solidFill>
                <a:latin typeface="Söhne"/>
                <a:cs typeface="Söhne"/>
              </a:rPr>
              <a:t>Teroxx  ·  Portfolio Allocation App — Handover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55664"/>
            <a:ext cx="1033271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095AB"/>
                </a:solidFill>
                <a:latin typeface="Söhne Halbfett"/>
                <a:cs typeface="Söhne Halbfett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298448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A5170"/>
                </a:solidFill>
                <a:latin typeface="Söhne"/>
                <a:cs typeface="Söhne"/>
              </a:rPr>
              <a:t>Before allocating, the advisor picks a starting list. Two kinds: the firm's </a:t>
            </a:r>
            <a:r>
              <a:rPr sz="1250" b="1" i="0">
                <a:solidFill>
                  <a:srgbClr val="0E1430"/>
                </a:solidFill>
                <a:latin typeface="Söhne Halbfett"/>
                <a:cs typeface="Söhne Halbfett"/>
              </a:rPr>
              <a:t>model portfolios</a:t>
            </a:r>
            <a:r>
              <a:rPr sz="1250" b="0" i="0">
                <a:solidFill>
                  <a:srgbClr val="4A5170"/>
                </a:solidFill>
                <a:latin typeface="Söhne"/>
                <a:cs typeface="Söhne"/>
              </a:rPr>
              <a:t> (broad, risk-tiered) or a single-theme </a:t>
            </a:r>
            <a:r>
              <a:rPr sz="1250" b="1" i="0">
                <a:solidFill>
                  <a:srgbClr val="0E1430"/>
                </a:solidFill>
                <a:latin typeface="Söhne Halbfett"/>
                <a:cs typeface="Söhne Halbfett"/>
              </a:rPr>
              <a:t>thematic basket</a:t>
            </a:r>
            <a:r>
              <a:rPr sz="1250" b="0" i="0">
                <a:solidFill>
                  <a:srgbClr val="4A5170"/>
                </a:solidFill>
                <a:latin typeface="Söhne"/>
                <a:cs typeface="Söhne"/>
              </a:rPr>
              <a:t> (index-style, 100% in-theme).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74519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50">
                <a:solidFill>
                  <a:srgbClr val="0B688C"/>
                </a:solidFill>
                <a:latin typeface="Söhne Halbfett"/>
                <a:cs typeface="Söhne Halbfett"/>
              </a:rPr>
              <a:t>MODEL PORTFOLIOS  —  pick one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194560"/>
            <a:ext cx="5943600" cy="1170432"/>
          </a:xfrm>
          <a:prstGeom prst="rect">
            <a:avLst/>
          </a:prstGeom>
          <a:solidFill>
            <a:srgbClr val="F4F2EF"/>
          </a:solidFill>
          <a:ln w="9525">
            <a:solidFill>
              <a:srgbClr val="C9C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194560"/>
            <a:ext cx="82296" cy="1170432"/>
          </a:xfrm>
          <a:prstGeom prst="rect">
            <a:avLst/>
          </a:prstGeom>
          <a:solidFill>
            <a:srgbClr val="060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870448" y="2340864"/>
            <a:ext cx="502920" cy="457200"/>
          </a:xfrm>
          <a:prstGeom prst="rect">
            <a:avLst/>
          </a:prstGeom>
          <a:solidFill>
            <a:srgbClr val="060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70448" y="2340864"/>
            <a:ext cx="502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Söhne Fett"/>
                <a:cs typeface="Söhne Fett"/>
              </a:rPr>
              <a:t>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2313432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60D43"/>
                </a:solidFill>
                <a:latin typeface="Söhne Halbfett"/>
                <a:cs typeface="Söhne Halbfett"/>
              </a:rPr>
              <a:t>Teroxx Core   </a:t>
            </a:r>
            <a:r>
              <a:rPr sz="1050" b="0" i="1">
                <a:solidFill>
                  <a:srgbClr val="9095AB"/>
                </a:solidFill>
                <a:latin typeface="Söhne"/>
                <a:cs typeface="Söhne"/>
              </a:rPr>
              <a:t>Live, active offering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2651760"/>
            <a:ext cx="50292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4A5170"/>
                </a:solidFill>
                <a:latin typeface="Söhne"/>
                <a:cs typeface="Söhne"/>
              </a:rPr>
              <a:t>USDC · EURC · PAXG · BTC · ETH · BNB · XRP · ADA · POL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456432"/>
            <a:ext cx="5943600" cy="1170432"/>
          </a:xfrm>
          <a:prstGeom prst="rect">
            <a:avLst/>
          </a:prstGeom>
          <a:solidFill>
            <a:srgbClr val="F4F2EF"/>
          </a:solidFill>
          <a:ln w="9525">
            <a:solidFill>
              <a:srgbClr val="C9C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456432"/>
            <a:ext cx="82296" cy="1170432"/>
          </a:xfrm>
          <a:prstGeom prst="rect">
            <a:avLst/>
          </a:prstGeom>
          <a:solidFill>
            <a:srgbClr val="0B6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870448" y="3602736"/>
            <a:ext cx="502920" cy="457200"/>
          </a:xfrm>
          <a:prstGeom prst="rect">
            <a:avLst/>
          </a:prstGeom>
          <a:solidFill>
            <a:srgbClr val="0B6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70448" y="3602736"/>
            <a:ext cx="502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Söhne Fett"/>
                <a:cs typeface="Söhne Fett"/>
              </a:rPr>
              <a:t>21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3575303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60D43"/>
                </a:solidFill>
                <a:latin typeface="Söhne Halbfett"/>
                <a:cs typeface="Söhne Halbfett"/>
              </a:rPr>
              <a:t>Teroxx Expanded   </a:t>
            </a:r>
            <a:r>
              <a:rPr sz="1050" b="0" i="1">
                <a:solidFill>
                  <a:srgbClr val="9095AB"/>
                </a:solidFill>
                <a:latin typeface="Söhne"/>
                <a:cs typeface="Söhne"/>
              </a:rPr>
              <a:t>Confirmed MVP next step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3913631"/>
            <a:ext cx="50292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4A5170"/>
                </a:solidFill>
                <a:latin typeface="Söhne"/>
                <a:cs typeface="Söhne"/>
              </a:rPr>
              <a:t>Core + MNT, and DeFi/infra: AAVE · UNI · COMP · EUL · PENDLE · SYRUP · ENA · ONDO · LINK · QNT · CHZ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718304"/>
            <a:ext cx="5943600" cy="1170432"/>
          </a:xfrm>
          <a:prstGeom prst="rect">
            <a:avLst/>
          </a:prstGeom>
          <a:solidFill>
            <a:srgbClr val="F4F2EF"/>
          </a:solidFill>
          <a:ln w="9525">
            <a:solidFill>
              <a:srgbClr val="C9C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4718304"/>
            <a:ext cx="82296" cy="1170432"/>
          </a:xfrm>
          <a:prstGeom prst="rect">
            <a:avLst/>
          </a:prstGeom>
          <a:solidFill>
            <a:srgbClr val="5C6F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870448" y="4864608"/>
            <a:ext cx="502920" cy="457200"/>
          </a:xfrm>
          <a:prstGeom prst="rect">
            <a:avLst/>
          </a:prstGeom>
          <a:solidFill>
            <a:srgbClr val="5C6F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70448" y="4864608"/>
            <a:ext cx="502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Söhne Fett"/>
                <a:cs typeface="Söhne Fett"/>
              </a:rPr>
              <a:t>40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4837176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60D43"/>
                </a:solidFill>
                <a:latin typeface="Söhne Halbfett"/>
                <a:cs typeface="Söhne Halbfett"/>
              </a:rPr>
              <a:t>Teroxx Extended   </a:t>
            </a:r>
            <a:r>
              <a:rPr sz="1050" b="0" i="1">
                <a:solidFill>
                  <a:srgbClr val="9095AB"/>
                </a:solidFill>
                <a:latin typeface="Söhne"/>
                <a:cs typeface="Söhne"/>
              </a:rPr>
              <a:t>Full acquirable universe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5175504"/>
            <a:ext cx="50292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4A5170"/>
                </a:solidFill>
                <a:latin typeface="Söhne"/>
                <a:cs typeface="Söhne"/>
              </a:rPr>
              <a:t>Expanded + majors &amp; research picks: SOL · HYPE · TRX · AVAX · DOT · ARB · SUI · RENDER · AKT · AR · VVV · AERO · LTC · BCH · DOGE 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0840" y="1874519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20">
                <a:solidFill>
                  <a:srgbClr val="D06643"/>
                </a:solidFill>
                <a:latin typeface="Söhne Halbfett"/>
                <a:cs typeface="Söhne Halbfett"/>
              </a:rPr>
              <a:t>THEMATIC BASKETS  —  index-style, in-theme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20840" y="2194560"/>
            <a:ext cx="4919472" cy="566928"/>
          </a:xfrm>
          <a:prstGeom prst="rect">
            <a:avLst/>
          </a:prstGeom>
          <a:solidFill>
            <a:srgbClr val="F4F2EF"/>
          </a:solidFill>
          <a:ln w="9525">
            <a:solidFill>
              <a:srgbClr val="C9C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0" y="2194560"/>
            <a:ext cx="457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D06643"/>
                </a:solidFill>
                <a:latin typeface="Söhne Fett"/>
                <a:cs typeface="Söhne Fett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6640" y="2194560"/>
            <a:ext cx="4114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60D43"/>
                </a:solidFill>
                <a:latin typeface="Söhne Halbfett"/>
                <a:cs typeface="Söhne Halbfett"/>
              </a:rPr>
              <a:t>DeFi  Basket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A5170"/>
                </a:solidFill>
                <a:latin typeface="Söhne"/>
                <a:cs typeface="Söhne"/>
              </a:rPr>
              <a:t>Lending, DEXs, perps &amp; yield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20840" y="2834639"/>
            <a:ext cx="4919472" cy="566928"/>
          </a:xfrm>
          <a:prstGeom prst="rect">
            <a:avLst/>
          </a:prstGeom>
          <a:solidFill>
            <a:srgbClr val="F4F2EF"/>
          </a:solidFill>
          <a:ln w="9525">
            <a:solidFill>
              <a:srgbClr val="C9C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0" y="2834639"/>
            <a:ext cx="457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D06643"/>
                </a:solidFill>
                <a:latin typeface="Söhne Fett"/>
                <a:cs typeface="Söhne Fett"/>
              </a:rPr>
              <a:t>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06640" y="2834639"/>
            <a:ext cx="4114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60D43"/>
                </a:solidFill>
                <a:latin typeface="Söhne Halbfett"/>
                <a:cs typeface="Söhne Halbfett"/>
              </a:rPr>
              <a:t>Smart-Contract L1  Basket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A5170"/>
                </a:solidFill>
                <a:latin typeface="Söhne"/>
                <a:cs typeface="Söhne"/>
              </a:rPr>
              <a:t>L1 platforms &amp; settlement networks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720840" y="3474720"/>
            <a:ext cx="4919472" cy="566928"/>
          </a:xfrm>
          <a:prstGeom prst="rect">
            <a:avLst/>
          </a:prstGeom>
          <a:solidFill>
            <a:srgbClr val="F4F2EF"/>
          </a:solidFill>
          <a:ln w="9525">
            <a:solidFill>
              <a:srgbClr val="C9C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0" y="3474720"/>
            <a:ext cx="457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D06643"/>
                </a:solidFill>
                <a:latin typeface="Söhne Fett"/>
                <a:cs typeface="Söhne Fett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06640" y="3474720"/>
            <a:ext cx="4114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60D43"/>
                </a:solidFill>
                <a:latin typeface="Söhne Halbfett"/>
                <a:cs typeface="Söhne Halbfett"/>
              </a:rPr>
              <a:t>AI &amp; Compute  Basket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A5170"/>
                </a:solidFill>
                <a:latin typeface="Söhne"/>
                <a:cs typeface="Söhne"/>
              </a:rPr>
              <a:t>Decentralised AI, GPU compute, storage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720840" y="4114800"/>
            <a:ext cx="4919472" cy="566928"/>
          </a:xfrm>
          <a:prstGeom prst="rect">
            <a:avLst/>
          </a:prstGeom>
          <a:solidFill>
            <a:srgbClr val="F4F2EF"/>
          </a:solidFill>
          <a:ln w="9525">
            <a:solidFill>
              <a:srgbClr val="C9C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0" y="4114800"/>
            <a:ext cx="457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D06643"/>
                </a:solidFill>
                <a:latin typeface="Söhne Fett"/>
                <a:cs typeface="Söhne Fett"/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06640" y="4114800"/>
            <a:ext cx="4114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60D43"/>
                </a:solidFill>
                <a:latin typeface="Söhne Halbfett"/>
                <a:cs typeface="Söhne Halbfett"/>
              </a:rPr>
              <a:t>RWA  Basket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A5170"/>
                </a:solidFill>
                <a:latin typeface="Söhne"/>
                <a:cs typeface="Söhne"/>
              </a:rPr>
              <a:t>Tokenised real-world assets &amp; treasuries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720840" y="4754880"/>
            <a:ext cx="4919472" cy="566928"/>
          </a:xfrm>
          <a:prstGeom prst="rect">
            <a:avLst/>
          </a:prstGeom>
          <a:solidFill>
            <a:srgbClr val="F4F2EF"/>
          </a:solidFill>
          <a:ln w="9525">
            <a:solidFill>
              <a:srgbClr val="C9C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0" y="4754880"/>
            <a:ext cx="457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D06643"/>
                </a:solidFill>
                <a:latin typeface="Söhne Fett"/>
                <a:cs typeface="Söhne Fett"/>
              </a:rPr>
              <a:t>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06640" y="4754880"/>
            <a:ext cx="4114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60D43"/>
                </a:solidFill>
                <a:latin typeface="Söhne Halbfett"/>
                <a:cs typeface="Söhne Halbfett"/>
              </a:rPr>
              <a:t>Layer 2  Basket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A5170"/>
                </a:solidFill>
                <a:latin typeface="Söhne"/>
                <a:cs typeface="Söhne"/>
              </a:rPr>
              <a:t>Ethereum scaling networks &amp; rollups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720840" y="5394960"/>
            <a:ext cx="4919472" cy="566928"/>
          </a:xfrm>
          <a:prstGeom prst="rect">
            <a:avLst/>
          </a:prstGeom>
          <a:solidFill>
            <a:srgbClr val="F4F2EF"/>
          </a:solidFill>
          <a:ln w="9525">
            <a:solidFill>
              <a:srgbClr val="C9C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58000" y="5394960"/>
            <a:ext cx="457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D06643"/>
                </a:solidFill>
                <a:latin typeface="Söhne Fett"/>
                <a:cs typeface="Söhne Fett"/>
              </a:rPr>
              <a:t>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06640" y="5394960"/>
            <a:ext cx="4114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60D43"/>
                </a:solidFill>
                <a:latin typeface="Söhne Halbfett"/>
                <a:cs typeface="Söhne Halbfett"/>
              </a:rPr>
              <a:t>Payments  Basket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A5170"/>
                </a:solidFill>
                <a:latin typeface="Söhne"/>
                <a:cs typeface="Söhne"/>
              </a:rPr>
              <a:t>Established P2P payment networks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5943600"/>
            <a:ext cx="11091672" cy="18288"/>
          </a:xfrm>
          <a:prstGeom prst="rect">
            <a:avLst/>
          </a:prstGeom>
          <a:solidFill>
            <a:srgbClr val="C9CCD9"/>
          </a:solidFill>
          <a:ln w="9525">
            <a:solidFill>
              <a:srgbClr val="C9C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6016752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688C"/>
                </a:solidFill>
                <a:latin typeface="Söhne Halbfett"/>
                <a:cs typeface="Söhne Halbfett"/>
              </a:rPr>
              <a:t>Then choose:  </a:t>
            </a:r>
            <a:r>
              <a:rPr sz="1050" b="1" i="0">
                <a:solidFill>
                  <a:srgbClr val="0E1430"/>
                </a:solidFill>
                <a:latin typeface="Söhne Halbfett"/>
                <a:cs typeface="Söhne Halbfett"/>
              </a:rPr>
              <a:t>risk profile </a:t>
            </a:r>
            <a:r>
              <a:rPr sz="1050" b="0" i="0">
                <a:solidFill>
                  <a:srgbClr val="4A5170"/>
                </a:solidFill>
                <a:latin typeface="Söhne"/>
                <a:cs typeface="Söhne"/>
              </a:rPr>
              <a:t>(Conservative · Balanced · Growth · Aggressive)  ×  </a:t>
            </a:r>
            <a:r>
              <a:rPr sz="1050" b="1" i="0">
                <a:solidFill>
                  <a:srgbClr val="0E1430"/>
                </a:solidFill>
                <a:latin typeface="Söhne Halbfett"/>
                <a:cs typeface="Söhne Halbfett"/>
              </a:rPr>
              <a:t>allocation mode </a:t>
            </a:r>
            <a:r>
              <a:rPr sz="1050" b="0" i="0">
                <a:solidFill>
                  <a:srgbClr val="4A5170"/>
                </a:solidFill>
                <a:latin typeface="Söhne"/>
                <a:cs typeface="Söhne"/>
              </a:rPr>
              <a:t>(Standard = market-cap weighted · Fundamental = factor-score weighted).   The full research model scores 79 tokens; the 40-token union is what the firm can acquire today.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220">
                <a:solidFill>
                  <a:srgbClr val="0B688C"/>
                </a:solidFill>
                <a:latin typeface="Söhne Halbfett"/>
                <a:cs typeface="Söhne Halbfett"/>
              </a:rPr>
              <a:t>SECTION 1 · WHAT THE APP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0">
                <a:solidFill>
                  <a:srgbClr val="060D43"/>
                </a:solidFill>
                <a:latin typeface="Sometimes Times Medium"/>
                <a:cs typeface="Sometimes Times Medium"/>
              </a:rPr>
              <a:t>How the allocation is built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33856"/>
            <a:ext cx="11091672" cy="25400"/>
          </a:xfrm>
          <a:prstGeom prst="rect">
            <a:avLst/>
          </a:prstGeom>
          <a:solidFill>
            <a:srgbClr val="0B6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0" y="347472"/>
            <a:ext cx="1600200" cy="310896"/>
          </a:xfrm>
          <a:prstGeom prst="rect">
            <a:avLst/>
          </a:prstGeom>
          <a:noFill/>
          <a:ln w="15875">
            <a:solidFill>
              <a:srgbClr val="0B68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347472"/>
            <a:ext cx="1600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50">
                <a:solidFill>
                  <a:srgbClr val="0B688C"/>
                </a:solidFill>
                <a:latin typeface="Söhne Halbfett"/>
                <a:cs typeface="Söhne Halbfett"/>
              </a:rPr>
              <a:t>FOR 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095AB"/>
                </a:solidFill>
                <a:latin typeface="Söhne"/>
                <a:cs typeface="Söhne"/>
              </a:rPr>
              <a:t>Teroxx  ·  Portfolio Allocation App — Handover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55664"/>
            <a:ext cx="1033271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095AB"/>
                </a:solidFill>
                <a:latin typeface="Söhne Halbfett"/>
                <a:cs typeface="Söhne Halbfett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3258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170"/>
                </a:solidFill>
                <a:latin typeface="Söhne"/>
                <a:cs typeface="Söhne"/>
              </a:rPr>
              <a:t>Every asset earns a score; scores drive tier weights; a macro overlay tilts risk up or down. All transparent and rules-based.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011680"/>
            <a:ext cx="3575304" cy="3200400"/>
          </a:xfrm>
          <a:prstGeom prst="rect">
            <a:avLst/>
          </a:prstGeom>
          <a:solidFill>
            <a:srgbClr val="F4F2EF"/>
          </a:solidFill>
          <a:ln w="9525">
            <a:solidFill>
              <a:srgbClr val="C9C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011680"/>
            <a:ext cx="3575304" cy="566928"/>
          </a:xfrm>
          <a:prstGeom prst="rect">
            <a:avLst/>
          </a:prstGeom>
          <a:solidFill>
            <a:srgbClr val="0B6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011680"/>
            <a:ext cx="320954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50">
                <a:solidFill>
                  <a:srgbClr val="FFFFFF"/>
                </a:solidFill>
                <a:latin typeface="Söhne Halbfett"/>
                <a:cs typeface="Söhne Halbfett"/>
              </a:rPr>
              <a:t>STEP 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öhne Halbfett"/>
                <a:cs typeface="Söhne Halbfett"/>
              </a:rPr>
              <a:t>SCORE EACH ASSET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788920"/>
            <a:ext cx="3118104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1" i="0">
                <a:solidFill>
                  <a:srgbClr val="0B688C"/>
                </a:solidFill>
                <a:latin typeface="Söhne Halbfett"/>
                <a:cs typeface="Söhne Halbfett"/>
              </a:rPr>
              <a:t>—  </a:t>
            </a:r>
            <a:r>
              <a:rPr sz="1150" b="0" i="0">
                <a:solidFill>
                  <a:srgbClr val="0E1430"/>
                </a:solidFill>
                <a:latin typeface="Söhne"/>
                <a:cs typeface="Söhne"/>
              </a:rPr>
              <a:t>5-factor model (momentum, value, quality, and more)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1" i="0">
                <a:solidFill>
                  <a:srgbClr val="0B688C"/>
                </a:solidFill>
                <a:latin typeface="Söhne Halbfett"/>
                <a:cs typeface="Söhne Halbfett"/>
              </a:rPr>
              <a:t>—  </a:t>
            </a:r>
            <a:r>
              <a:rPr sz="1150" b="0" i="0">
                <a:solidFill>
                  <a:srgbClr val="0E1430"/>
                </a:solidFill>
                <a:latin typeface="Söhne"/>
                <a:cs typeface="Söhne"/>
              </a:rPr>
              <a:t>10-factor fundamental model for deeper diligence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1" i="0">
                <a:solidFill>
                  <a:srgbClr val="0B688C"/>
                </a:solidFill>
                <a:latin typeface="Söhne Halbfett"/>
                <a:cs typeface="Söhne Halbfett"/>
              </a:rPr>
              <a:t>—  </a:t>
            </a:r>
            <a:r>
              <a:rPr sz="1150" b="0" i="0">
                <a:solidFill>
                  <a:srgbClr val="0E1430"/>
                </a:solidFill>
                <a:latin typeface="Söhne"/>
                <a:cs typeface="Söhne"/>
              </a:rPr>
              <a:t>Live inputs: dev activity, TVL, funding, supply change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06824" y="2011680"/>
            <a:ext cx="3575304" cy="3200400"/>
          </a:xfrm>
          <a:prstGeom prst="rect">
            <a:avLst/>
          </a:prstGeom>
          <a:solidFill>
            <a:srgbClr val="F4F2EF"/>
          </a:solidFill>
          <a:ln w="9525">
            <a:solidFill>
              <a:srgbClr val="C9C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06824" y="2011680"/>
            <a:ext cx="3575304" cy="566928"/>
          </a:xfrm>
          <a:prstGeom prst="rect">
            <a:avLst/>
          </a:prstGeom>
          <a:solidFill>
            <a:srgbClr val="060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35424" y="2011680"/>
            <a:ext cx="320954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50">
                <a:solidFill>
                  <a:srgbClr val="FFFFFF"/>
                </a:solidFill>
                <a:latin typeface="Söhne Halbfett"/>
                <a:cs typeface="Söhne Halbfett"/>
              </a:rPr>
              <a:t>STEP 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öhne Halbfett"/>
                <a:cs typeface="Söhne Halbfett"/>
              </a:rPr>
              <a:t>BUILD THE TIERS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35424" y="2788920"/>
            <a:ext cx="3118104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1" i="0">
                <a:solidFill>
                  <a:srgbClr val="060D43"/>
                </a:solidFill>
                <a:latin typeface="Söhne Halbfett"/>
                <a:cs typeface="Söhne Halbfett"/>
              </a:rPr>
              <a:t>—  </a:t>
            </a:r>
            <a:r>
              <a:rPr sz="1150" b="0" i="0">
                <a:solidFill>
                  <a:srgbClr val="0E1430"/>
                </a:solidFill>
                <a:latin typeface="Söhne"/>
                <a:cs typeface="Söhne"/>
              </a:rPr>
              <a:t>Assets sorted into strategic tiers (core → satellite)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1" i="0">
                <a:solidFill>
                  <a:srgbClr val="060D43"/>
                </a:solidFill>
                <a:latin typeface="Söhne Halbfett"/>
                <a:cs typeface="Söhne Halbfett"/>
              </a:rPr>
              <a:t>—  </a:t>
            </a:r>
            <a:r>
              <a:rPr sz="1150" b="0" i="0">
                <a:solidFill>
                  <a:srgbClr val="0E1430"/>
                </a:solidFill>
                <a:latin typeface="Söhne"/>
                <a:cs typeface="Söhne"/>
              </a:rPr>
              <a:t>Risk profile sets how much sits in each tier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1" i="0">
                <a:solidFill>
                  <a:srgbClr val="060D43"/>
                </a:solidFill>
                <a:latin typeface="Söhne Halbfett"/>
                <a:cs typeface="Söhne Halbfett"/>
              </a:rPr>
              <a:t>—  </a:t>
            </a:r>
            <a:r>
              <a:rPr sz="1150" b="0" i="0">
                <a:solidFill>
                  <a:srgbClr val="0E1430"/>
                </a:solidFill>
                <a:latin typeface="Söhne"/>
                <a:cs typeface="Söhne"/>
              </a:rPr>
              <a:t>Defensive sleeve (stablecoins + gold hedge) for ballast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65008" y="2011680"/>
            <a:ext cx="3575304" cy="3200400"/>
          </a:xfrm>
          <a:prstGeom prst="rect">
            <a:avLst/>
          </a:prstGeom>
          <a:solidFill>
            <a:srgbClr val="F4F2EF"/>
          </a:solidFill>
          <a:ln w="9525">
            <a:solidFill>
              <a:srgbClr val="C9C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65008" y="2011680"/>
            <a:ext cx="3575304" cy="566928"/>
          </a:xfrm>
          <a:prstGeom prst="rect">
            <a:avLst/>
          </a:prstGeom>
          <a:solidFill>
            <a:srgbClr val="D066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93608" y="2011680"/>
            <a:ext cx="320954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50">
                <a:solidFill>
                  <a:srgbClr val="FFFFFF"/>
                </a:solidFill>
                <a:latin typeface="Söhne Halbfett"/>
                <a:cs typeface="Söhne Halbfett"/>
              </a:rPr>
              <a:t>STEP 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öhne Halbfett"/>
                <a:cs typeface="Söhne Halbfett"/>
              </a:rPr>
              <a:t>OVERLAY THE REGIME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3608" y="2788920"/>
            <a:ext cx="3118104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1" i="0">
                <a:solidFill>
                  <a:srgbClr val="D06643"/>
                </a:solidFill>
                <a:latin typeface="Söhne Halbfett"/>
                <a:cs typeface="Söhne Halbfett"/>
              </a:rPr>
              <a:t>—  </a:t>
            </a:r>
            <a:r>
              <a:rPr sz="1150" b="0" i="0">
                <a:solidFill>
                  <a:srgbClr val="0E1430"/>
                </a:solidFill>
                <a:latin typeface="Söhne"/>
                <a:cs typeface="Söhne"/>
              </a:rPr>
              <a:t>22-indicator macro composite scores the market 0–100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1" i="0">
                <a:solidFill>
                  <a:srgbClr val="D06643"/>
                </a:solidFill>
                <a:latin typeface="Söhne Halbfett"/>
                <a:cs typeface="Söhne Halbfett"/>
              </a:rPr>
              <a:t>—  </a:t>
            </a:r>
            <a:r>
              <a:rPr sz="1150" b="0" i="0">
                <a:solidFill>
                  <a:srgbClr val="0E1430"/>
                </a:solidFill>
                <a:latin typeface="Söhne"/>
                <a:cs typeface="Söhne"/>
              </a:rPr>
              <a:t>Sentiment, TradFi, on-chain and technical signals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1" i="0">
                <a:solidFill>
                  <a:srgbClr val="D06643"/>
                </a:solidFill>
                <a:latin typeface="Söhne Halbfett"/>
                <a:cs typeface="Söhne Halbfett"/>
              </a:rPr>
              <a:t>—  </a:t>
            </a:r>
            <a:r>
              <a:rPr sz="1150" b="0" i="0">
                <a:solidFill>
                  <a:srgbClr val="0E1430"/>
                </a:solidFill>
                <a:latin typeface="Söhne"/>
                <a:cs typeface="Söhne"/>
              </a:rPr>
              <a:t>Tilts overall risk toward the current regime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4406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1430"/>
                </a:solidFill>
                <a:latin typeface="Söhne Halbfett"/>
                <a:cs typeface="Söhne Halbfett"/>
              </a:rPr>
              <a:t>Result: </a:t>
            </a:r>
            <a:r>
              <a:rPr sz="1200" b="0" i="0">
                <a:solidFill>
                  <a:srgbClr val="4A5170"/>
                </a:solidFill>
                <a:latin typeface="Söhne"/>
                <a:cs typeface="Söhne"/>
              </a:rPr>
              <a:t>a client-ready, risk-appropriate target allocation the advisor can explain line by line.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220">
                <a:solidFill>
                  <a:srgbClr val="0B688C"/>
                </a:solidFill>
                <a:latin typeface="Söhne Halbfett"/>
                <a:cs typeface="Söhne Halbfett"/>
              </a:rPr>
              <a:t>SECTION 1 · WHAT THE APP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0">
                <a:solidFill>
                  <a:srgbClr val="060D43"/>
                </a:solidFill>
                <a:latin typeface="Sometimes Times Medium"/>
                <a:cs typeface="Sometimes Times Medium"/>
              </a:rPr>
              <a:t>Where the numbers come from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33856"/>
            <a:ext cx="11091672" cy="25400"/>
          </a:xfrm>
          <a:prstGeom prst="rect">
            <a:avLst/>
          </a:prstGeom>
          <a:solidFill>
            <a:srgbClr val="0B6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0" y="347472"/>
            <a:ext cx="1600200" cy="310896"/>
          </a:xfrm>
          <a:prstGeom prst="rect">
            <a:avLst/>
          </a:prstGeom>
          <a:noFill/>
          <a:ln w="15875">
            <a:solidFill>
              <a:srgbClr val="060D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347472"/>
            <a:ext cx="1600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50">
                <a:solidFill>
                  <a:srgbClr val="060D43"/>
                </a:solidFill>
                <a:latin typeface="Söhne Halbfett"/>
                <a:cs typeface="Söhne Halbfett"/>
              </a:rPr>
              <a:t>RESEARCH +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095AB"/>
                </a:solidFill>
                <a:latin typeface="Söhne"/>
                <a:cs typeface="Söhne"/>
              </a:rPr>
              <a:t>Teroxx  ·  Portfolio Allocation App — Handover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55664"/>
            <a:ext cx="1033271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095AB"/>
                </a:solidFill>
                <a:latin typeface="Söhne Halbfett"/>
                <a:cs typeface="Söhne Halbfett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3258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170"/>
                </a:solidFill>
                <a:latin typeface="Söhne"/>
                <a:cs typeface="Söhne"/>
              </a:rPr>
              <a:t>The app pulls live market data from six external sources. Only two need an API key; the other four are public. Prices are cached to stay fast and within rate limits.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011680"/>
            <a:ext cx="3575304" cy="1417320"/>
          </a:xfrm>
          <a:prstGeom prst="rect">
            <a:avLst/>
          </a:prstGeom>
          <a:solidFill>
            <a:srgbClr val="F4F2EF"/>
          </a:solidFill>
          <a:ln w="9525">
            <a:solidFill>
              <a:srgbClr val="C9C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011680"/>
            <a:ext cx="73152" cy="1417320"/>
          </a:xfrm>
          <a:prstGeom prst="rect">
            <a:avLst/>
          </a:prstGeom>
          <a:solidFill>
            <a:srgbClr val="0B6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157984"/>
            <a:ext cx="320954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60D43"/>
                </a:solidFill>
                <a:latin typeface="Söhne Halbfett"/>
                <a:cs typeface="Söhne Halbfett"/>
              </a:rPr>
              <a:t>CoinMarketCap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2514600"/>
            <a:ext cx="31638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170"/>
                </a:solidFill>
                <a:latin typeface="Söhne"/>
                <a:cs typeface="Söhne"/>
              </a:rPr>
              <a:t>Spot prices, market cap, 24h change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3072384"/>
            <a:ext cx="31638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E1430"/>
                </a:solidFill>
                <a:latin typeface="Söhne Halbfett"/>
                <a:cs typeface="Söhne Halbfett"/>
              </a:rPr>
              <a:t>Auth: </a:t>
            </a:r>
            <a:r>
              <a:rPr sz="950" b="0" i="0">
                <a:solidFill>
                  <a:srgbClr val="4A5170"/>
                </a:solidFill>
                <a:latin typeface="Söhne"/>
                <a:cs typeface="Söhne"/>
              </a:rPr>
              <a:t>API key   ·   </a:t>
            </a:r>
            <a:r>
              <a:rPr sz="950" b="1" i="0">
                <a:solidFill>
                  <a:srgbClr val="0B688C"/>
                </a:solidFill>
                <a:latin typeface="Söhne"/>
                <a:cs typeface="Söhne"/>
              </a:rPr>
              <a:t>5 min cache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06824" y="2011680"/>
            <a:ext cx="3575304" cy="1417320"/>
          </a:xfrm>
          <a:prstGeom prst="rect">
            <a:avLst/>
          </a:prstGeom>
          <a:solidFill>
            <a:srgbClr val="F4F2EF"/>
          </a:solidFill>
          <a:ln w="9525">
            <a:solidFill>
              <a:srgbClr val="C9C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06824" y="2011680"/>
            <a:ext cx="73152" cy="1417320"/>
          </a:xfrm>
          <a:prstGeom prst="rect">
            <a:avLst/>
          </a:prstGeom>
          <a:solidFill>
            <a:srgbClr val="0B6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62856" y="2157984"/>
            <a:ext cx="320954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60D43"/>
                </a:solidFill>
                <a:latin typeface="Söhne Halbfett"/>
                <a:cs typeface="Söhne Halbfett"/>
              </a:rPr>
              <a:t>CoinGecko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2856" y="2514600"/>
            <a:ext cx="31638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170"/>
                </a:solidFill>
                <a:latin typeface="Söhne"/>
                <a:cs typeface="Söhne"/>
              </a:rPr>
              <a:t>Fallback prices, dev activity, supply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2856" y="3072384"/>
            <a:ext cx="31638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E1430"/>
                </a:solidFill>
                <a:latin typeface="Söhne Halbfett"/>
                <a:cs typeface="Söhne Halbfett"/>
              </a:rPr>
              <a:t>Auth: </a:t>
            </a:r>
            <a:r>
              <a:rPr sz="950" b="0" i="0">
                <a:solidFill>
                  <a:srgbClr val="4A5170"/>
                </a:solidFill>
                <a:latin typeface="Söhne"/>
                <a:cs typeface="Söhne"/>
              </a:rPr>
              <a:t>Demo key   ·   </a:t>
            </a:r>
            <a:r>
              <a:rPr sz="950" b="1" i="0">
                <a:solidFill>
                  <a:srgbClr val="0B688C"/>
                </a:solidFill>
                <a:latin typeface="Söhne"/>
                <a:cs typeface="Söhne"/>
              </a:rPr>
              <a:t>up to 24h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65008" y="2011680"/>
            <a:ext cx="3575304" cy="1417320"/>
          </a:xfrm>
          <a:prstGeom prst="rect">
            <a:avLst/>
          </a:prstGeom>
          <a:solidFill>
            <a:srgbClr val="F4F2EF"/>
          </a:solidFill>
          <a:ln w="9525">
            <a:solidFill>
              <a:srgbClr val="C9C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65008" y="2011680"/>
            <a:ext cx="73152" cy="1417320"/>
          </a:xfrm>
          <a:prstGeom prst="rect">
            <a:avLst/>
          </a:prstGeom>
          <a:solidFill>
            <a:srgbClr val="0B6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2157984"/>
            <a:ext cx="320954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60D43"/>
                </a:solidFill>
                <a:latin typeface="Söhne Halbfett"/>
                <a:cs typeface="Söhne Halbfett"/>
              </a:rPr>
              <a:t>Binance Futures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514600"/>
            <a:ext cx="31638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170"/>
                </a:solidFill>
                <a:latin typeface="Söhne"/>
                <a:cs typeface="Söhne"/>
              </a:rPr>
              <a:t>Funding rates, open interest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3072384"/>
            <a:ext cx="31638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E1430"/>
                </a:solidFill>
                <a:latin typeface="Söhne Halbfett"/>
                <a:cs typeface="Söhne Halbfett"/>
              </a:rPr>
              <a:t>Auth: </a:t>
            </a:r>
            <a:r>
              <a:rPr sz="950" b="0" i="0">
                <a:solidFill>
                  <a:srgbClr val="4A5170"/>
                </a:solidFill>
                <a:latin typeface="Söhne"/>
                <a:cs typeface="Söhne"/>
              </a:rPr>
              <a:t>Public   ·   </a:t>
            </a:r>
            <a:r>
              <a:rPr sz="950" b="1" i="0">
                <a:solidFill>
                  <a:srgbClr val="0B688C"/>
                </a:solidFill>
                <a:latin typeface="Söhne"/>
                <a:cs typeface="Söhne"/>
              </a:rPr>
              <a:t>5 min cache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3611880"/>
            <a:ext cx="3575304" cy="1417320"/>
          </a:xfrm>
          <a:prstGeom prst="rect">
            <a:avLst/>
          </a:prstGeom>
          <a:solidFill>
            <a:srgbClr val="F4F2EF"/>
          </a:solidFill>
          <a:ln w="9525">
            <a:solidFill>
              <a:srgbClr val="C9C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3611880"/>
            <a:ext cx="73152" cy="1417320"/>
          </a:xfrm>
          <a:prstGeom prst="rect">
            <a:avLst/>
          </a:prstGeom>
          <a:solidFill>
            <a:srgbClr val="0B6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" y="3758184"/>
            <a:ext cx="320954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60D43"/>
                </a:solidFill>
                <a:latin typeface="Söhne Halbfett"/>
                <a:cs typeface="Söhne Halbfett"/>
              </a:rPr>
              <a:t>DeFiLlama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" y="4114800"/>
            <a:ext cx="31638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170"/>
                </a:solidFill>
                <a:latin typeface="Söhne"/>
                <a:cs typeface="Söhne"/>
              </a:rPr>
              <a:t>Protocol TVL, fees, DEX volume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" y="4672584"/>
            <a:ext cx="31638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E1430"/>
                </a:solidFill>
                <a:latin typeface="Söhne Halbfett"/>
                <a:cs typeface="Söhne Halbfett"/>
              </a:rPr>
              <a:t>Auth: </a:t>
            </a:r>
            <a:r>
              <a:rPr sz="950" b="0" i="0">
                <a:solidFill>
                  <a:srgbClr val="4A5170"/>
                </a:solidFill>
                <a:latin typeface="Söhne"/>
                <a:cs typeface="Söhne"/>
              </a:rPr>
              <a:t>Public   ·   </a:t>
            </a:r>
            <a:r>
              <a:rPr sz="950" b="1" i="0">
                <a:solidFill>
                  <a:srgbClr val="0B688C"/>
                </a:solidFill>
                <a:latin typeface="Söhne"/>
                <a:cs typeface="Söhne"/>
              </a:rPr>
              <a:t>2 h cache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06824" y="3611880"/>
            <a:ext cx="3575304" cy="1417320"/>
          </a:xfrm>
          <a:prstGeom prst="rect">
            <a:avLst/>
          </a:prstGeom>
          <a:solidFill>
            <a:srgbClr val="F4F2EF"/>
          </a:solidFill>
          <a:ln w="9525">
            <a:solidFill>
              <a:srgbClr val="C9C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306824" y="3611880"/>
            <a:ext cx="73152" cy="1417320"/>
          </a:xfrm>
          <a:prstGeom prst="rect">
            <a:avLst/>
          </a:prstGeom>
          <a:solidFill>
            <a:srgbClr val="0B6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62856" y="3758184"/>
            <a:ext cx="320954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60D43"/>
                </a:solidFill>
                <a:latin typeface="Söhne Halbfett"/>
                <a:cs typeface="Söhne Halbfett"/>
              </a:rPr>
              <a:t>Messari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62856" y="4114800"/>
            <a:ext cx="31638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170"/>
                </a:solidFill>
                <a:latin typeface="Söhne"/>
                <a:cs typeface="Söhne"/>
              </a:rPr>
              <a:t>Network transactions &amp; active addresses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62856" y="4672584"/>
            <a:ext cx="31638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E1430"/>
                </a:solidFill>
                <a:latin typeface="Söhne Halbfett"/>
                <a:cs typeface="Söhne Halbfett"/>
              </a:rPr>
              <a:t>Auth: </a:t>
            </a:r>
            <a:r>
              <a:rPr sz="950" b="0" i="0">
                <a:solidFill>
                  <a:srgbClr val="4A5170"/>
                </a:solidFill>
                <a:latin typeface="Söhne"/>
                <a:cs typeface="Söhne"/>
              </a:rPr>
              <a:t>Public   ·   </a:t>
            </a:r>
            <a:r>
              <a:rPr sz="950" b="1" i="0">
                <a:solidFill>
                  <a:srgbClr val="0B688C"/>
                </a:solidFill>
                <a:latin typeface="Söhne"/>
                <a:cs typeface="Söhne"/>
              </a:rPr>
              <a:t>1 h cache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65008" y="3611880"/>
            <a:ext cx="3575304" cy="1417320"/>
          </a:xfrm>
          <a:prstGeom prst="rect">
            <a:avLst/>
          </a:prstGeom>
          <a:solidFill>
            <a:srgbClr val="F4F2EF"/>
          </a:solidFill>
          <a:ln w="9525">
            <a:solidFill>
              <a:srgbClr val="C9C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65008" y="3611880"/>
            <a:ext cx="73152" cy="1417320"/>
          </a:xfrm>
          <a:prstGeom prst="rect">
            <a:avLst/>
          </a:prstGeom>
          <a:solidFill>
            <a:srgbClr val="0B6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21040" y="3758184"/>
            <a:ext cx="320954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60D43"/>
                </a:solidFill>
                <a:latin typeface="Söhne Halbfett"/>
                <a:cs typeface="Söhne Halbfett"/>
              </a:rPr>
              <a:t>Macro composite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4114800"/>
            <a:ext cx="31638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170"/>
                </a:solidFill>
                <a:latin typeface="Söhne"/>
                <a:cs typeface="Söhne"/>
              </a:rPr>
              <a:t>Fear/greed, VIX, treasuries, BTC trend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0" y="4672584"/>
            <a:ext cx="31638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E1430"/>
                </a:solidFill>
                <a:latin typeface="Söhne Halbfett"/>
                <a:cs typeface="Söhne Halbfett"/>
              </a:rPr>
              <a:t>Auth: </a:t>
            </a:r>
            <a:r>
              <a:rPr sz="950" b="0" i="0">
                <a:solidFill>
                  <a:srgbClr val="4A5170"/>
                </a:solidFill>
                <a:latin typeface="Söhne"/>
                <a:cs typeface="Söhne"/>
              </a:rPr>
              <a:t>Public mix   ·   </a:t>
            </a:r>
            <a:r>
              <a:rPr sz="950" b="1" i="0">
                <a:solidFill>
                  <a:srgbClr val="0B688C"/>
                </a:solidFill>
                <a:latin typeface="Söhne"/>
                <a:cs typeface="Söhne"/>
              </a:rPr>
              <a:t>hysteresis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5650992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D06643"/>
                </a:solidFill>
                <a:latin typeface="Söhne Halbfett"/>
                <a:cs typeface="Söhne Halbfett"/>
              </a:rPr>
              <a:t>Action for IT:  </a:t>
            </a:r>
            <a:r>
              <a:rPr sz="1150" b="0" i="0">
                <a:solidFill>
                  <a:srgbClr val="4A5170"/>
                </a:solidFill>
                <a:latin typeface="Söhne"/>
                <a:cs typeface="Söhne"/>
              </a:rPr>
              <a:t>CoinMarketCap and CoinGecko must run on </a:t>
            </a:r>
            <a:r>
              <a:rPr sz="1150" b="1" i="0">
                <a:solidFill>
                  <a:srgbClr val="0E1430"/>
                </a:solidFill>
                <a:latin typeface="Söhne Halbfett"/>
                <a:cs typeface="Söhne Halbfett"/>
              </a:rPr>
              <a:t>Teroxx-owned API keys</a:t>
            </a:r>
            <a:r>
              <a:rPr sz="1150" b="0" i="0">
                <a:solidFill>
                  <a:srgbClr val="4A5170"/>
                </a:solidFill>
                <a:latin typeface="Söhne"/>
                <a:cs typeface="Söhne"/>
              </a:rPr>
              <a:t> — the app currently relies on shared / personal defaults. The four public sources need no key.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1">
                <a:solidFill>
                  <a:srgbClr val="9095AB"/>
                </a:solidFill>
                <a:latin typeface="Söhne"/>
                <a:cs typeface="Söhne"/>
              </a:rPr>
              <a:t>If a source is briefly down, the app retries with backoff and falls back to cached values — it degrades gracefully rather than breaking.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0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060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27432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0" b="0" i="0">
                <a:solidFill>
                  <a:srgbClr val="D06643"/>
                </a:solidFill>
                <a:latin typeface="Sometimes Times Medium"/>
                <a:cs typeface="Sometimes Times Medium"/>
              </a:rP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4480560" y="2286000"/>
            <a:ext cx="31750" cy="2194560"/>
          </a:xfrm>
          <a:prstGeom prst="rect">
            <a:avLst/>
          </a:prstGeom>
          <a:solidFill>
            <a:srgbClr val="D066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00600" y="2331720"/>
            <a:ext cx="6858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 i="0">
                <a:solidFill>
                  <a:srgbClr val="FFFFFF"/>
                </a:solidFill>
                <a:latin typeface="Sometimes Times Medium"/>
                <a:cs typeface="Sometimes Times Medium"/>
              </a:rPr>
              <a:t>Project status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28032" y="3703320"/>
            <a:ext cx="66751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D06643"/>
                </a:solidFill>
                <a:latin typeface="Söhne Halbfett"/>
                <a:cs typeface="Söhne Halbfett"/>
              </a:rPr>
              <a:t>—  </a:t>
            </a:r>
            <a:r>
              <a:rPr sz="1400" b="0" i="0">
                <a:solidFill>
                  <a:srgbClr val="ECE8E5"/>
                </a:solidFill>
                <a:latin typeface="Söhne"/>
                <a:cs typeface="Söhne"/>
              </a:rPr>
              <a:t>What is live and working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D06643"/>
                </a:solidFill>
                <a:latin typeface="Söhne Halbfett"/>
                <a:cs typeface="Söhne Halbfett"/>
              </a:rPr>
              <a:t>—  </a:t>
            </a:r>
            <a:r>
              <a:rPr sz="1400" b="0" i="0">
                <a:solidFill>
                  <a:srgbClr val="ECE8E5"/>
                </a:solidFill>
                <a:latin typeface="Söhne"/>
                <a:cs typeface="Söhne"/>
              </a:rPr>
              <a:t>Known limitations to watch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D06643"/>
                </a:solidFill>
                <a:latin typeface="Söhne Halbfett"/>
                <a:cs typeface="Söhne Halbfett"/>
              </a:rPr>
              <a:t>—  </a:t>
            </a:r>
            <a:r>
              <a:rPr sz="1400" b="0" i="0">
                <a:solidFill>
                  <a:srgbClr val="ECE8E5"/>
                </a:solidFill>
                <a:latin typeface="Söhne"/>
                <a:cs typeface="Söhne"/>
              </a:rPr>
              <a:t>Where it runs today</a:t>
            </a:r>
          </a:p>
        </p:txBody>
      </p:sp>
      <p:pic>
        <p:nvPicPr>
          <p:cNvPr id="8" name="Picture 7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6172200"/>
            <a:ext cx="1036320" cy="31089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828032" y="1783080"/>
            <a:ext cx="1737360" cy="329184"/>
          </a:xfrm>
          <a:prstGeom prst="rect">
            <a:avLst/>
          </a:prstGeom>
          <a:noFill/>
          <a:ln w="15875">
            <a:solidFill>
              <a:srgbClr val="BFB3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28032" y="1783080"/>
            <a:ext cx="17373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50">
                <a:solidFill>
                  <a:srgbClr val="BFB3A8"/>
                </a:solidFill>
                <a:latin typeface="Söhne Halbfett"/>
                <a:cs typeface="Söhne Halbfett"/>
              </a:rPr>
              <a:t>RESEARCH + IT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220">
                <a:solidFill>
                  <a:srgbClr val="0B688C"/>
                </a:solidFill>
                <a:latin typeface="Söhne Halbfett"/>
                <a:cs typeface="Söhne Halbfett"/>
              </a:rPr>
              <a:t>SECTION 2 · PROJECT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0">
                <a:solidFill>
                  <a:srgbClr val="060D43"/>
                </a:solidFill>
                <a:latin typeface="Sometimes Times Medium"/>
                <a:cs typeface="Sometimes Times Medium"/>
              </a:rPr>
              <a:t>What's done, and what to watch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33856"/>
            <a:ext cx="11091672" cy="25400"/>
          </a:xfrm>
          <a:prstGeom prst="rect">
            <a:avLst/>
          </a:prstGeom>
          <a:solidFill>
            <a:srgbClr val="0B6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0" y="347472"/>
            <a:ext cx="1600200" cy="310896"/>
          </a:xfrm>
          <a:prstGeom prst="rect">
            <a:avLst/>
          </a:prstGeom>
          <a:noFill/>
          <a:ln w="15875">
            <a:solidFill>
              <a:srgbClr val="060D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347472"/>
            <a:ext cx="1600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50">
                <a:solidFill>
                  <a:srgbClr val="060D43"/>
                </a:solidFill>
                <a:latin typeface="Söhne Halbfett"/>
                <a:cs typeface="Söhne Halbfett"/>
              </a:rPr>
              <a:t>RESEARCH +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095AB"/>
                </a:solidFill>
                <a:latin typeface="Söhne"/>
                <a:cs typeface="Söhne"/>
              </a:rPr>
              <a:t>Teroxx  ·  Portfolio Allocation App — Handover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55664"/>
            <a:ext cx="1033271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095AB"/>
                </a:solidFill>
                <a:latin typeface="Söhne Halbfett"/>
                <a:cs typeface="Söhne Halbfett"/>
              </a:rPr>
              <a:t>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371600"/>
            <a:ext cx="5486400" cy="4572000"/>
          </a:xfrm>
          <a:prstGeom prst="rect">
            <a:avLst/>
          </a:prstGeom>
          <a:solidFill>
            <a:srgbClr val="EFF6F0"/>
          </a:solidFill>
          <a:ln w="9525">
            <a:solidFill>
              <a:srgbClr val="1A8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55448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50">
                <a:solidFill>
                  <a:srgbClr val="1A8A4A"/>
                </a:solidFill>
                <a:latin typeface="Söhne Halbfett"/>
                <a:cs typeface="Söhne Halbfett"/>
              </a:rPr>
              <a:t>LIVE &amp; WORKING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011680"/>
            <a:ext cx="502920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1A8A4A"/>
                </a:solidFill>
                <a:latin typeface="Söhne Halbfett"/>
                <a:cs typeface="Söhne Halbfett"/>
              </a:rPr>
              <a:t>✓  </a:t>
            </a:r>
            <a:r>
              <a:rPr sz="1150" b="1" i="0">
                <a:solidFill>
                  <a:srgbClr val="0E1430"/>
                </a:solidFill>
                <a:latin typeface="Söhne Halbfett"/>
                <a:cs typeface="Söhne Halbfett"/>
              </a:rPr>
              <a:t>Allocation engine — </a:t>
            </a:r>
            <a:r>
              <a:rPr sz="1150" b="0" i="0">
                <a:solidFill>
                  <a:srgbClr val="4A5170"/>
                </a:solidFill>
                <a:latin typeface="Söhne"/>
                <a:cs typeface="Söhne"/>
              </a:rPr>
              <a:t>all 8 tabs, 79 assets, both scoring models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1A8A4A"/>
                </a:solidFill>
                <a:latin typeface="Söhne Halbfett"/>
                <a:cs typeface="Söhne Halbfett"/>
              </a:rPr>
              <a:t>✓  </a:t>
            </a:r>
            <a:r>
              <a:rPr sz="1150" b="1" i="0">
                <a:solidFill>
                  <a:srgbClr val="0E1430"/>
                </a:solidFill>
                <a:latin typeface="Söhne Halbfett"/>
                <a:cs typeface="Söhne Halbfett"/>
              </a:rPr>
              <a:t>Client CRM — </a:t>
            </a:r>
            <a:r>
              <a:rPr sz="1150" b="0" i="0">
                <a:solidFill>
                  <a:srgbClr val="4A5170"/>
                </a:solidFill>
                <a:latin typeface="Söhne"/>
                <a:cs typeface="Söhne"/>
              </a:rPr>
              <a:t>clients, positions/lots, drift, scenarios, audit log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1A8A4A"/>
                </a:solidFill>
                <a:latin typeface="Söhne Halbfett"/>
                <a:cs typeface="Söhne Halbfett"/>
              </a:rPr>
              <a:t>✓  </a:t>
            </a:r>
            <a:r>
              <a:rPr sz="1150" b="1" i="0">
                <a:solidFill>
                  <a:srgbClr val="0E1430"/>
                </a:solidFill>
                <a:latin typeface="Söhne Halbfett"/>
                <a:cs typeface="Söhne Halbfett"/>
              </a:rPr>
              <a:t>Proposal export — </a:t>
            </a:r>
            <a:r>
              <a:rPr sz="1150" b="0" i="0">
                <a:solidFill>
                  <a:srgbClr val="4A5170"/>
                </a:solidFill>
                <a:latin typeface="Söhne"/>
                <a:cs typeface="Söhne"/>
              </a:rPr>
              <a:t>DOCX / PDF / Google Doc, EN + DE, fully branded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1A8A4A"/>
                </a:solidFill>
                <a:latin typeface="Söhne Halbfett"/>
                <a:cs typeface="Söhne Halbfett"/>
              </a:rPr>
              <a:t>✓  </a:t>
            </a:r>
            <a:r>
              <a:rPr sz="1150" b="1" i="0">
                <a:solidFill>
                  <a:srgbClr val="0E1430"/>
                </a:solidFill>
                <a:latin typeface="Söhne Halbfett"/>
                <a:cs typeface="Söhne Halbfett"/>
              </a:rPr>
              <a:t>Live market data — </a:t>
            </a:r>
            <a:r>
              <a:rPr sz="1150" b="0" i="0">
                <a:solidFill>
                  <a:srgbClr val="4A5170"/>
                </a:solidFill>
                <a:latin typeface="Söhne"/>
                <a:cs typeface="Söhne"/>
              </a:rPr>
              <a:t>6 sources with caching and graceful fallback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1A8A4A"/>
                </a:solidFill>
                <a:latin typeface="Söhne Halbfett"/>
                <a:cs typeface="Söhne Halbfett"/>
              </a:rPr>
              <a:t>✓  </a:t>
            </a:r>
            <a:r>
              <a:rPr sz="1150" b="1" i="0">
                <a:solidFill>
                  <a:srgbClr val="0E1430"/>
                </a:solidFill>
                <a:latin typeface="Söhne Halbfett"/>
                <a:cs typeface="Söhne Halbfett"/>
              </a:rPr>
              <a:t>Auth &amp; audit — </a:t>
            </a:r>
            <a:r>
              <a:rPr sz="1150" b="0" i="0">
                <a:solidFill>
                  <a:srgbClr val="4A5170"/>
                </a:solidFill>
                <a:latin typeface="Söhne"/>
                <a:cs typeface="Söhne"/>
              </a:rPr>
              <a:t>session login; every change logged by user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1A8A4A"/>
                </a:solidFill>
                <a:latin typeface="Söhne Halbfett"/>
                <a:cs typeface="Söhne Halbfett"/>
              </a:rPr>
              <a:t>✓  </a:t>
            </a:r>
            <a:r>
              <a:rPr sz="1150" b="1" i="0">
                <a:solidFill>
                  <a:srgbClr val="0E1430"/>
                </a:solidFill>
                <a:latin typeface="Söhne Halbfett"/>
                <a:cs typeface="Söhne Halbfett"/>
              </a:rPr>
              <a:t>Stable v1 API — </a:t>
            </a:r>
            <a:r>
              <a:rPr sz="1150" b="0" i="0">
                <a:solidFill>
                  <a:srgbClr val="4A5170"/>
                </a:solidFill>
                <a:latin typeface="Söhne"/>
                <a:cs typeface="Söhne"/>
              </a:rPr>
              <a:t>token-authenticated client endpoints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1A8A4A"/>
                </a:solidFill>
                <a:latin typeface="Söhne Halbfett"/>
                <a:cs typeface="Söhne Halbfett"/>
              </a:rPr>
              <a:t>✓  </a:t>
            </a:r>
            <a:r>
              <a:rPr sz="1150" b="1" i="0">
                <a:solidFill>
                  <a:srgbClr val="0E1430"/>
                </a:solidFill>
                <a:latin typeface="Söhne Halbfett"/>
                <a:cs typeface="Söhne Halbfett"/>
              </a:rPr>
              <a:t>Deployed — </a:t>
            </a:r>
            <a:r>
              <a:rPr sz="1150" b="0" i="0">
                <a:solidFill>
                  <a:srgbClr val="4A5170"/>
                </a:solidFill>
                <a:latin typeface="Söhne"/>
                <a:cs typeface="Söhne"/>
              </a:rPr>
              <a:t>auto-deploys on every git push to main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5352" y="1371600"/>
            <a:ext cx="5394960" cy="4572000"/>
          </a:xfrm>
          <a:prstGeom prst="rect">
            <a:avLst/>
          </a:prstGeom>
          <a:solidFill>
            <a:srgbClr val="FBF0EC"/>
          </a:solidFill>
          <a:ln w="9525">
            <a:solidFill>
              <a:srgbClr val="D066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55448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50">
                <a:solidFill>
                  <a:srgbClr val="D06643"/>
                </a:solidFill>
                <a:latin typeface="Söhne Halbfett"/>
                <a:cs typeface="Söhne Halbfett"/>
              </a:rPr>
              <a:t>KNOWN LIMITATIONS &amp; GOTCHAS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2011680"/>
            <a:ext cx="493776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1" i="0">
                <a:solidFill>
                  <a:srgbClr val="D06643"/>
                </a:solidFill>
                <a:latin typeface="Söhne Halbfett"/>
                <a:cs typeface="Söhne Halbfett"/>
              </a:rPr>
              <a:t>!  </a:t>
            </a:r>
            <a:r>
              <a:rPr sz="1150" b="1" i="0">
                <a:solidFill>
                  <a:srgbClr val="0E1430"/>
                </a:solidFill>
                <a:latin typeface="Söhne Halbfett"/>
                <a:cs typeface="Söhne Halbfett"/>
              </a:rPr>
              <a:t>Data is not durable today — </a:t>
            </a:r>
            <a:r>
              <a:rPr sz="1150" b="0" i="0">
                <a:solidFill>
                  <a:srgbClr val="4A5170"/>
                </a:solidFill>
                <a:latin typeface="Söhne"/>
                <a:cs typeface="Söhne"/>
              </a:rPr>
              <a:t>runs SQLite on Render's free tier, whose disk resets on restart. Managed Postgres fixes this (Section 4).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1" i="0">
                <a:solidFill>
                  <a:srgbClr val="D06643"/>
                </a:solidFill>
                <a:latin typeface="Söhne Halbfett"/>
                <a:cs typeface="Söhne Halbfett"/>
              </a:rPr>
              <a:t>!  </a:t>
            </a:r>
            <a:r>
              <a:rPr sz="1150" b="1" i="0">
                <a:solidFill>
                  <a:srgbClr val="0E1430"/>
                </a:solidFill>
                <a:latin typeface="Söhne Halbfett"/>
                <a:cs typeface="Söhne Halbfett"/>
              </a:rPr>
              <a:t>No automated test suite — </a:t>
            </a:r>
            <a:r>
              <a:rPr sz="1150" b="0" i="0">
                <a:solidFill>
                  <a:srgbClr val="4A5170"/>
                </a:solidFill>
                <a:latin typeface="Söhne"/>
                <a:cs typeface="Söhne"/>
              </a:rPr>
              <a:t>changes are verified manually in the UI.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1" i="0">
                <a:solidFill>
                  <a:srgbClr val="D06643"/>
                </a:solidFill>
                <a:latin typeface="Söhne Halbfett"/>
                <a:cs typeface="Söhne Halbfett"/>
              </a:rPr>
              <a:t>!  </a:t>
            </a:r>
            <a:r>
              <a:rPr sz="1150" b="1" i="0">
                <a:solidFill>
                  <a:srgbClr val="0E1430"/>
                </a:solidFill>
                <a:latin typeface="Söhne Halbfett"/>
                <a:cs typeface="Söhne Halbfett"/>
              </a:rPr>
              <a:t>Free-tier memory — </a:t>
            </a:r>
            <a:r>
              <a:rPr sz="1150" b="0" i="0">
                <a:solidFill>
                  <a:srgbClr val="4A5170"/>
                </a:solidFill>
                <a:latin typeface="Söhne"/>
                <a:cs typeface="Söhne"/>
              </a:rPr>
              <a:t>vector charts are off to avoid out-of-memory on 512 MB; PNG charts used instead.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1" i="0">
                <a:solidFill>
                  <a:srgbClr val="D06643"/>
                </a:solidFill>
                <a:latin typeface="Söhne Halbfett"/>
                <a:cs typeface="Söhne Halbfett"/>
              </a:rPr>
              <a:t>!  </a:t>
            </a:r>
            <a:r>
              <a:rPr sz="1150" b="1" i="0">
                <a:solidFill>
                  <a:srgbClr val="0E1430"/>
                </a:solidFill>
                <a:latin typeface="Söhne Halbfett"/>
                <a:cs typeface="Söhne Halbfett"/>
              </a:rPr>
              <a:t>Google Docs geo-blocks — </a:t>
            </a:r>
            <a:r>
              <a:rPr sz="1150" b="0" i="0">
                <a:solidFill>
                  <a:srgbClr val="4A5170"/>
                </a:solidFill>
                <a:latin typeface="Söhne"/>
                <a:cs typeface="Söhne"/>
              </a:rPr>
              <a:t>export must run from an allowed region; some servers get 403.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1" i="0">
                <a:solidFill>
                  <a:srgbClr val="D06643"/>
                </a:solidFill>
                <a:latin typeface="Söhne Halbfett"/>
                <a:cs typeface="Söhne Halbfett"/>
              </a:rPr>
              <a:t>!  </a:t>
            </a:r>
            <a:r>
              <a:rPr sz="1150" b="1" i="0">
                <a:solidFill>
                  <a:srgbClr val="0E1430"/>
                </a:solidFill>
                <a:latin typeface="Söhne Halbfett"/>
                <a:cs typeface="Söhne Halbfett"/>
              </a:rPr>
              <a:t>Secrets in repo config — </a:t>
            </a:r>
            <a:r>
              <a:rPr sz="1150" b="0" i="0">
                <a:solidFill>
                  <a:srgbClr val="4A5170"/>
                </a:solidFill>
                <a:latin typeface="Söhne"/>
                <a:cs typeface="Söhne"/>
              </a:rPr>
              <a:t>a few keys sit in render.yaml; rotate them on migration.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220">
                <a:solidFill>
                  <a:srgbClr val="0B688C"/>
                </a:solidFill>
                <a:latin typeface="Söhne Halbfett"/>
                <a:cs typeface="Söhne Halbfett"/>
              </a:rPr>
              <a:t>SECTION 2 · PROJECT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0">
                <a:solidFill>
                  <a:srgbClr val="060D43"/>
                </a:solidFill>
                <a:latin typeface="Sometimes Times Medium"/>
                <a:cs typeface="Sometimes Times Medium"/>
              </a:rPr>
              <a:t>Where it lives today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33856"/>
            <a:ext cx="11091672" cy="25400"/>
          </a:xfrm>
          <a:prstGeom prst="rect">
            <a:avLst/>
          </a:prstGeom>
          <a:solidFill>
            <a:srgbClr val="0B6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0" y="347472"/>
            <a:ext cx="1600200" cy="310896"/>
          </a:xfrm>
          <a:prstGeom prst="rect">
            <a:avLst/>
          </a:prstGeom>
          <a:noFill/>
          <a:ln w="15875">
            <a:solidFill>
              <a:srgbClr val="D066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347472"/>
            <a:ext cx="1600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50">
                <a:solidFill>
                  <a:srgbClr val="D06643"/>
                </a:solidFill>
                <a:latin typeface="Söhne Halbfett"/>
                <a:cs typeface="Söhne Halbfett"/>
              </a:rPr>
              <a:t>FOR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095AB"/>
                </a:solidFill>
                <a:latin typeface="Söhne"/>
                <a:cs typeface="Söhne"/>
              </a:rPr>
              <a:t>Teroxx  ·  Portfolio Allocation App — Handover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55664"/>
            <a:ext cx="1033271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095AB"/>
                </a:solidFill>
                <a:latin typeface="Söhne Halbfett"/>
                <a:cs typeface="Söhne Halbfett"/>
              </a:rPr>
              <a:t>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3258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170"/>
                </a:solidFill>
                <a:latin typeface="Söhne"/>
                <a:cs typeface="Söhne"/>
              </a:rPr>
              <a:t>One running deployment, two code repositories. The deployment is the single point of failure this handover resolves.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011680"/>
            <a:ext cx="5394960" cy="1874519"/>
          </a:xfrm>
          <a:prstGeom prst="rect">
            <a:avLst/>
          </a:prstGeom>
          <a:solidFill>
            <a:srgbClr val="FBF0EC"/>
          </a:solidFill>
          <a:ln w="9525">
            <a:solidFill>
              <a:srgbClr val="D066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011680"/>
            <a:ext cx="5394960" cy="38100"/>
          </a:xfrm>
          <a:prstGeom prst="rect">
            <a:avLst/>
          </a:prstGeom>
          <a:solidFill>
            <a:srgbClr val="D066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194560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D06643"/>
                </a:solidFill>
                <a:latin typeface="Söhne Halbfett"/>
                <a:cs typeface="Söhne Halbfett"/>
              </a:rPr>
              <a:t>RUNTIME  —  action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542032"/>
            <a:ext cx="49377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0E1430"/>
                </a:solidFill>
                <a:latin typeface="Söhne Halbfett"/>
                <a:cs typeface="Söhne Halbfett"/>
              </a:rPr>
              <a:t>Render.com</a:t>
            </a:r>
            <a:r>
              <a:rPr sz="1200" b="0" i="0">
                <a:solidFill>
                  <a:srgbClr val="4A5170"/>
                </a:solidFill>
                <a:latin typeface="Söhne"/>
                <a:cs typeface="Söhne"/>
              </a:rPr>
              <a:t>  ·  free web-service tier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4A5170"/>
                </a:solidFill>
                <a:latin typeface="Söhne"/>
                <a:cs typeface="Söhne"/>
              </a:rPr>
              <a:t>Hosted on Aleksander's </a:t>
            </a:r>
            <a:r>
              <a:rPr sz="1200" b="1" i="0">
                <a:solidFill>
                  <a:srgbClr val="C0432A"/>
                </a:solidFill>
                <a:latin typeface="Söhne Halbfett"/>
                <a:cs typeface="Söhne Halbfett"/>
              </a:rPr>
              <a:t>private personal account</a:t>
            </a:r>
            <a:r>
              <a:rPr sz="1200" b="0" i="0">
                <a:solidFill>
                  <a:srgbClr val="4A5170"/>
                </a:solidFill>
                <a:latin typeface="Söhne"/>
                <a:cs typeface="Söhne"/>
              </a:rPr>
              <a:t>. Docker image built from the repo; auto-deploys on push. This must move to a Teroxx-owned account/cloud.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45352" y="2011680"/>
            <a:ext cx="5394960" cy="1874519"/>
          </a:xfrm>
          <a:prstGeom prst="rect">
            <a:avLst/>
          </a:prstGeom>
          <a:solidFill>
            <a:srgbClr val="F4F2EF"/>
          </a:solidFill>
          <a:ln w="9525">
            <a:solidFill>
              <a:srgbClr val="C9C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45352" y="2011680"/>
            <a:ext cx="5394960" cy="38100"/>
          </a:xfrm>
          <a:prstGeom prst="rect">
            <a:avLst/>
          </a:prstGeom>
          <a:solidFill>
            <a:srgbClr val="0B6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2" y="2194560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0B688C"/>
                </a:solidFill>
                <a:latin typeface="Söhne Halbfett"/>
                <a:cs typeface="Söhne Halbfett"/>
              </a:rPr>
              <a:t>SOURCE CODE  —  in good shape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2542032"/>
            <a:ext cx="49377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1430"/>
                </a:solidFill>
                <a:latin typeface="Söhne Halbfett"/>
                <a:cs typeface="Söhne Halbfett"/>
              </a:rPr>
              <a:t>GitLab (Teroxx)</a:t>
            </a:r>
            <a:r>
              <a:rPr sz="1050" b="0" i="0">
                <a:solidFill>
                  <a:srgbClr val="4A5170"/>
                </a:solidFill>
                <a:latin typeface="Söhne"/>
                <a:cs typeface="Söhne"/>
              </a:rPr>
              <a:t>  — IT-created group; Aleksander is maintainer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1430"/>
                </a:solidFill>
                <a:latin typeface="Söhne Halbfett"/>
                <a:cs typeface="Söhne Halbfett"/>
              </a:rPr>
              <a:t>GitHub (private)</a:t>
            </a:r>
            <a:r>
              <a:rPr sz="1050" b="0" i="0">
                <a:solidFill>
                  <a:srgbClr val="4A5170"/>
                </a:solidFill>
                <a:latin typeface="Söhne"/>
                <a:cs typeface="Söhne"/>
              </a:rPr>
              <a:t>  — personal mirror, to be retired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4A5170"/>
                </a:solidFill>
                <a:latin typeface="Söhne"/>
                <a:cs typeface="Söhne"/>
              </a:rPr>
              <a:t>Full codebase is on GitLab (</a:t>
            </a:r>
            <a:r>
              <a:rPr sz="1100" b="1" i="0">
                <a:solidFill>
                  <a:srgbClr val="0E1430"/>
                </a:solidFill>
                <a:latin typeface="Söhne Halbfett"/>
                <a:cs typeface="Söhne Halbfett"/>
              </a:rPr>
              <a:t>main</a:t>
            </a:r>
            <a:r>
              <a:rPr sz="1100" b="0" i="0">
                <a:solidFill>
                  <a:srgbClr val="4A5170"/>
                </a:solidFill>
                <a:latin typeface="Söhne"/>
                <a:cs typeface="Söhne"/>
              </a:rPr>
              <a:t> + import). IT owns deployment going forward.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114800"/>
            <a:ext cx="11091672" cy="1828800"/>
          </a:xfrm>
          <a:prstGeom prst="rect">
            <a:avLst/>
          </a:prstGeom>
          <a:solidFill>
            <a:srgbClr val="F0F5F7"/>
          </a:solidFill>
          <a:ln w="9525">
            <a:solidFill>
              <a:srgbClr val="0B68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279392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0B688C"/>
                </a:solidFill>
                <a:latin typeface="Söhne Halbfett"/>
                <a:cs typeface="Söhne Halbfett"/>
              </a:rPr>
              <a:t>TO KEEP THE APP RUNNING AFTER MIGRATION, FOUR THINGS MUST TRANSFER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709160"/>
            <a:ext cx="2651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60D43"/>
                </a:solidFill>
                <a:latin typeface="Söhne Halbfett"/>
                <a:cs typeface="Söhne Halbfett"/>
              </a:rPr>
              <a:t>1  Code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4A5170"/>
                </a:solidFill>
                <a:latin typeface="Söhne"/>
                <a:cs typeface="Söhne"/>
              </a:rPr>
              <a:t>Already on Teroxx GitLab — nothing to move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47872" y="4709160"/>
            <a:ext cx="2651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60D43"/>
                </a:solidFill>
                <a:latin typeface="Söhne Halbfett"/>
                <a:cs typeface="Söhne Halbfett"/>
              </a:rPr>
              <a:t>2  A host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4A5170"/>
                </a:solidFill>
                <a:latin typeface="Söhne"/>
                <a:cs typeface="Söhne"/>
              </a:rPr>
              <a:t>Any Docker-capable cloud (Section 4)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18504" y="4709160"/>
            <a:ext cx="2651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60D43"/>
                </a:solidFill>
                <a:latin typeface="Söhne Halbfett"/>
                <a:cs typeface="Söhne Halbfett"/>
              </a:rPr>
              <a:t>3  A database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4A5170"/>
                </a:solidFill>
                <a:latin typeface="Söhne"/>
                <a:cs typeface="Söhne"/>
              </a:rPr>
              <a:t>New managed Postgres for durable client 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89136" y="4709160"/>
            <a:ext cx="2651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60D43"/>
                </a:solidFill>
                <a:latin typeface="Söhne Halbfett"/>
                <a:cs typeface="Söhne Halbfett"/>
              </a:rPr>
              <a:t>4  Credentials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4A5170"/>
                </a:solidFill>
                <a:latin typeface="Söhne"/>
                <a:cs typeface="Söhne"/>
              </a:rPr>
              <a:t>API keys, session secret, Google service account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0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060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27432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0" b="0" i="0">
                <a:solidFill>
                  <a:srgbClr val="D06643"/>
                </a:solidFill>
                <a:latin typeface="Sometimes Times Medium"/>
                <a:cs typeface="Sometimes Times Medium"/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4480560" y="2286000"/>
            <a:ext cx="31750" cy="2194560"/>
          </a:xfrm>
          <a:prstGeom prst="rect">
            <a:avLst/>
          </a:prstGeom>
          <a:solidFill>
            <a:srgbClr val="D066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00600" y="2331720"/>
            <a:ext cx="6858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 i="0">
                <a:solidFill>
                  <a:srgbClr val="FFFFFF"/>
                </a:solidFill>
                <a:latin typeface="Sometimes Times Medium"/>
                <a:cs typeface="Sometimes Times Medium"/>
              </a:rPr>
              <a:t>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28032" y="3703320"/>
            <a:ext cx="66751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D06643"/>
                </a:solidFill>
                <a:latin typeface="Söhne Halbfett"/>
                <a:cs typeface="Söhne Halbfett"/>
              </a:rPr>
              <a:t>—  </a:t>
            </a:r>
            <a:r>
              <a:rPr sz="1400" b="0" i="0">
                <a:solidFill>
                  <a:srgbClr val="ECE8E5"/>
                </a:solidFill>
                <a:latin typeface="Söhne"/>
                <a:cs typeface="Söhne"/>
              </a:rPr>
              <a:t>The stack &amp; how it fits together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D06643"/>
                </a:solidFill>
                <a:latin typeface="Söhne Halbfett"/>
                <a:cs typeface="Söhne Halbfett"/>
              </a:rPr>
              <a:t>—  </a:t>
            </a:r>
            <a:r>
              <a:rPr sz="1400" b="0" i="0">
                <a:solidFill>
                  <a:srgbClr val="ECE8E5"/>
                </a:solidFill>
                <a:latin typeface="Söhne"/>
                <a:cs typeface="Söhne"/>
              </a:rPr>
              <a:t>Data, security &amp; the proposal engine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D06643"/>
                </a:solidFill>
                <a:latin typeface="Söhne Halbfett"/>
                <a:cs typeface="Söhne Halbfett"/>
              </a:rPr>
              <a:t>—  </a:t>
            </a:r>
            <a:r>
              <a:rPr sz="1400" b="0" i="0">
                <a:solidFill>
                  <a:srgbClr val="ECE8E5"/>
                </a:solidFill>
                <a:latin typeface="Söhne"/>
                <a:cs typeface="Söhne"/>
              </a:rPr>
              <a:t>The environment-variable contract</a:t>
            </a:r>
          </a:p>
        </p:txBody>
      </p:sp>
      <p:pic>
        <p:nvPicPr>
          <p:cNvPr id="8" name="Picture 7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6172200"/>
            <a:ext cx="1036320" cy="31089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828032" y="1783080"/>
            <a:ext cx="1737360" cy="329184"/>
          </a:xfrm>
          <a:prstGeom prst="rect">
            <a:avLst/>
          </a:prstGeom>
          <a:noFill/>
          <a:ln w="15875">
            <a:solidFill>
              <a:srgbClr val="D066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28032" y="1783080"/>
            <a:ext cx="17373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50">
                <a:solidFill>
                  <a:srgbClr val="D06643"/>
                </a:solidFill>
                <a:latin typeface="Söhne Halbfett"/>
                <a:cs typeface="Söhne Halbfett"/>
              </a:rPr>
              <a:t>FOR IT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220">
                <a:solidFill>
                  <a:srgbClr val="0B688C"/>
                </a:solidFill>
                <a:latin typeface="Söhne Halbfett"/>
                <a:cs typeface="Söhne Halbfett"/>
              </a:rPr>
              <a:t>SECTION 3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0">
                <a:solidFill>
                  <a:srgbClr val="060D43"/>
                </a:solidFill>
                <a:latin typeface="Sometimes Times Medium"/>
                <a:cs typeface="Sometimes Times Medium"/>
              </a:rPr>
              <a:t>How the system fits together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33856"/>
            <a:ext cx="11091672" cy="25400"/>
          </a:xfrm>
          <a:prstGeom prst="rect">
            <a:avLst/>
          </a:prstGeom>
          <a:solidFill>
            <a:srgbClr val="0B6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0" y="347472"/>
            <a:ext cx="1600200" cy="310896"/>
          </a:xfrm>
          <a:prstGeom prst="rect">
            <a:avLst/>
          </a:prstGeom>
          <a:noFill/>
          <a:ln w="15875">
            <a:solidFill>
              <a:srgbClr val="D066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347472"/>
            <a:ext cx="1600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50">
                <a:solidFill>
                  <a:srgbClr val="D06643"/>
                </a:solidFill>
                <a:latin typeface="Söhne Halbfett"/>
                <a:cs typeface="Söhne Halbfett"/>
              </a:rPr>
              <a:t>FOR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095AB"/>
                </a:solidFill>
                <a:latin typeface="Söhne"/>
                <a:cs typeface="Söhne"/>
              </a:rPr>
              <a:t>Teroxx  ·  Portfolio Allocation App — Handover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55664"/>
            <a:ext cx="1033271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095AB"/>
                </a:solidFill>
                <a:latin typeface="Söhne Halbfett"/>
                <a:cs typeface="Söhne Halbfett"/>
              </a:rPr>
              <a:t>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554480"/>
            <a:ext cx="1920240" cy="914400"/>
          </a:xfrm>
          <a:prstGeom prst="rect">
            <a:avLst/>
          </a:prstGeom>
          <a:solidFill>
            <a:srgbClr val="171E4B"/>
          </a:solidFill>
          <a:ln w="9525">
            <a:solidFill>
              <a:srgbClr val="171E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645920"/>
            <a:ext cx="17373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Söhne Halbfett"/>
                <a:cs typeface="Söhne Halbfett"/>
              </a:rPr>
              <a:t>Advisor's browser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FFFFFF"/>
                </a:solidFill>
                <a:latin typeface="Söhne"/>
                <a:cs typeface="Söhne"/>
              </a:rPr>
              <a:t>HTMX + Chart.js 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87168" y="182880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9095AB"/>
                </a:solidFill>
                <a:latin typeface="Söhne Fett"/>
                <a:cs typeface="Söhne Fett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63240" y="1417320"/>
            <a:ext cx="5852160" cy="4160520"/>
          </a:xfrm>
          <a:prstGeom prst="rect">
            <a:avLst/>
          </a:prstGeom>
          <a:solidFill>
            <a:srgbClr val="F4F2EF"/>
          </a:solidFill>
          <a:ln w="9525">
            <a:solidFill>
              <a:srgbClr val="060D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63240" y="1508760"/>
            <a:ext cx="5852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20">
                <a:solidFill>
                  <a:srgbClr val="060D43"/>
                </a:solidFill>
                <a:latin typeface="Söhne Halbfett"/>
                <a:cs typeface="Söhne Halbfett"/>
              </a:rPr>
              <a:t>DOCKER CONTAINER  —  the whole app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91840" y="1965960"/>
            <a:ext cx="5394960" cy="777240"/>
          </a:xfrm>
          <a:prstGeom prst="rect">
            <a:avLst/>
          </a:prstGeom>
          <a:solidFill>
            <a:srgbClr val="060D43"/>
          </a:solidFill>
          <a:ln w="9525">
            <a:solidFill>
              <a:srgbClr val="060D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0" y="2057400"/>
            <a:ext cx="5212080" cy="5943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Söhne Halbfett"/>
                <a:cs typeface="Söhne Halbfett"/>
              </a:rPr>
              <a:t>FastAPI + Uvicorn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FFFFFF"/>
                </a:solidFill>
                <a:latin typeface="Söhne"/>
                <a:cs typeface="Söhne"/>
              </a:rPr>
              <a:t>web server · routes · session auth · v1 API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91840" y="2852928"/>
            <a:ext cx="2606040" cy="868680"/>
          </a:xfrm>
          <a:prstGeom prst="rect">
            <a:avLst/>
          </a:prstGeom>
          <a:solidFill>
            <a:srgbClr val="0B688C"/>
          </a:solidFill>
          <a:ln w="9525">
            <a:solidFill>
              <a:srgbClr val="0B68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80" y="2944368"/>
            <a:ext cx="24231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Söhne Halbfett"/>
                <a:cs typeface="Söhne Halbfett"/>
              </a:rPr>
              <a:t>Allocation engine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FFFFFF"/>
                </a:solidFill>
                <a:latin typeface="Söhne"/>
                <a:cs typeface="Söhne"/>
              </a:rPr>
              <a:t>scoring · DCA · rebalance · P&amp;L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80760" y="2852928"/>
            <a:ext cx="2606040" cy="868680"/>
          </a:xfrm>
          <a:prstGeom prst="rect">
            <a:avLst/>
          </a:prstGeom>
          <a:solidFill>
            <a:srgbClr val="0B688C"/>
          </a:solidFill>
          <a:ln w="9525">
            <a:solidFill>
              <a:srgbClr val="0B68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72200" y="2944368"/>
            <a:ext cx="24231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Söhne Halbfett"/>
                <a:cs typeface="Söhne Halbfett"/>
              </a:rPr>
              <a:t>Proposal engine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FFFFFF"/>
                </a:solidFill>
                <a:latin typeface="Söhne"/>
                <a:cs typeface="Söhne"/>
              </a:rPr>
              <a:t>DOCX master → PDF / GDoc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91840" y="3840480"/>
            <a:ext cx="2606040" cy="777240"/>
          </a:xfrm>
          <a:prstGeom prst="rect">
            <a:avLst/>
          </a:prstGeom>
          <a:solidFill>
            <a:srgbClr val="5C6FA1"/>
          </a:solidFill>
          <a:ln w="9525">
            <a:solidFill>
              <a:srgbClr val="5C6F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80" y="3931920"/>
            <a:ext cx="2423160" cy="5943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Söhne Halbfett"/>
                <a:cs typeface="Söhne Halbfett"/>
              </a:rPr>
              <a:t>Jinja templates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FFFFFF"/>
                </a:solidFill>
                <a:latin typeface="Söhne"/>
                <a:cs typeface="Söhne"/>
              </a:rPr>
              <a:t>server-rendered HTML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80760" y="3840480"/>
            <a:ext cx="2606040" cy="777240"/>
          </a:xfrm>
          <a:prstGeom prst="rect">
            <a:avLst/>
          </a:prstGeom>
          <a:solidFill>
            <a:srgbClr val="5C6FA1"/>
          </a:solidFill>
          <a:ln w="9525">
            <a:solidFill>
              <a:srgbClr val="5C6F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72200" y="3931920"/>
            <a:ext cx="2423160" cy="5943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Söhne Halbfett"/>
                <a:cs typeface="Söhne Halbfett"/>
              </a:rPr>
              <a:t>LibreOffice + fonts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FFFFFF"/>
                </a:solidFill>
                <a:latin typeface="Söhne"/>
                <a:cs typeface="Söhne"/>
              </a:rPr>
              <a:t>DOCX→PDF · Söhne baked 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91840" y="4709160"/>
            <a:ext cx="5394960" cy="731520"/>
          </a:xfrm>
          <a:prstGeom prst="rect">
            <a:avLst/>
          </a:prstGeom>
          <a:solidFill>
            <a:srgbClr val="BFB3A8"/>
          </a:solidFill>
          <a:ln w="9525">
            <a:solidFill>
              <a:srgbClr val="BFB3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83280" y="4800600"/>
            <a:ext cx="52120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E1430"/>
                </a:solidFill>
                <a:latin typeface="Söhne Halbfett"/>
                <a:cs typeface="Söhne Halbfett"/>
              </a:rPr>
              <a:t>In-memory caches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0E1430"/>
                </a:solidFill>
                <a:latin typeface="Söhne"/>
                <a:cs typeface="Söhne"/>
              </a:rPr>
              <a:t>prices · macro · DeFi (warm on startup)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81160" y="1554480"/>
            <a:ext cx="2331720" cy="868680"/>
          </a:xfrm>
          <a:prstGeom prst="rect">
            <a:avLst/>
          </a:prstGeom>
          <a:solidFill>
            <a:srgbClr val="0E1430"/>
          </a:solidFill>
          <a:ln w="9525">
            <a:solidFill>
              <a:srgbClr val="0E1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72600" y="1645920"/>
            <a:ext cx="2148839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Söhne Halbfett"/>
                <a:cs typeface="Söhne Halbfett"/>
              </a:rPr>
              <a:t>PostgreSQL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FFFFFF"/>
                </a:solidFill>
                <a:latin typeface="Söhne"/>
                <a:cs typeface="Söhne"/>
              </a:rPr>
              <a:t>clients · lots · audit · snapshots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15400" y="1828800"/>
            <a:ext cx="411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9095AB"/>
                </a:solidFill>
                <a:latin typeface="Söhne Fett"/>
                <a:cs typeface="Söhne Fett"/>
              </a:rPr>
              <a:t>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81160" y="2697480"/>
            <a:ext cx="2331720" cy="868680"/>
          </a:xfrm>
          <a:prstGeom prst="rect">
            <a:avLst/>
          </a:prstGeom>
          <a:solidFill>
            <a:srgbClr val="171E4B"/>
          </a:solidFill>
          <a:ln w="9525">
            <a:solidFill>
              <a:srgbClr val="171E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72600" y="2788920"/>
            <a:ext cx="2148839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Söhne Halbfett"/>
                <a:cs typeface="Söhne Halbfett"/>
              </a:rPr>
              <a:t>Market data APIs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FFFFFF"/>
                </a:solidFill>
                <a:latin typeface="Söhne"/>
                <a:cs typeface="Söhne"/>
              </a:rPr>
              <a:t>CMC · CoinGecko · Binance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15400" y="2953512"/>
            <a:ext cx="411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9095AB"/>
                </a:solidFill>
                <a:latin typeface="Söhne Fett"/>
                <a:cs typeface="Söhne Fett"/>
              </a:rPr>
              <a:t>←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281160" y="3675888"/>
            <a:ext cx="2331720" cy="868680"/>
          </a:xfrm>
          <a:prstGeom prst="rect">
            <a:avLst/>
          </a:prstGeom>
          <a:solidFill>
            <a:srgbClr val="171E4B"/>
          </a:solidFill>
          <a:ln w="9525">
            <a:solidFill>
              <a:srgbClr val="171E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72600" y="3767328"/>
            <a:ext cx="2148839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Söhne Halbfett"/>
                <a:cs typeface="Söhne Halbfett"/>
              </a:rPr>
              <a:t>On-chain data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FFFFFF"/>
                </a:solidFill>
                <a:latin typeface="Söhne"/>
                <a:cs typeface="Söhne"/>
              </a:rPr>
              <a:t>DeFiLlama · Messari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15400" y="3931920"/>
            <a:ext cx="411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9095AB"/>
                </a:solidFill>
                <a:latin typeface="Söhne Fett"/>
                <a:cs typeface="Söhne Fett"/>
              </a:rPr>
              <a:t>←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281160" y="4654296"/>
            <a:ext cx="2331720" cy="868680"/>
          </a:xfrm>
          <a:prstGeom prst="rect">
            <a:avLst/>
          </a:prstGeom>
          <a:solidFill>
            <a:srgbClr val="171E4B"/>
          </a:solidFill>
          <a:ln w="9525">
            <a:solidFill>
              <a:srgbClr val="171E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72600" y="4745736"/>
            <a:ext cx="2148839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Söhne Halbfett"/>
                <a:cs typeface="Söhne Halbfett"/>
              </a:rPr>
              <a:t>Google Drive API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FFFFFF"/>
                </a:solidFill>
                <a:latin typeface="Söhne"/>
                <a:cs typeface="Söhne"/>
              </a:rPr>
              <a:t>Google Doc export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15400" y="4910328"/>
            <a:ext cx="411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9095AB"/>
                </a:solidFill>
                <a:latin typeface="Söhne Fett"/>
                <a:cs typeface="Söhne Fett"/>
              </a:rPr>
              <a:t>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5779008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60D43"/>
                </a:solidFill>
                <a:latin typeface="Söhne Halbfett"/>
                <a:cs typeface="Söhne Halbfett"/>
              </a:rPr>
              <a:t>No dependencies on other internal Teroxx systems</a:t>
            </a:r>
            <a:r>
              <a:rPr sz="1150" b="0" i="1">
                <a:solidFill>
                  <a:srgbClr val="4A5170"/>
                </a:solidFill>
                <a:latin typeface="Söhne"/>
                <a:cs typeface="Söhne"/>
              </a:rPr>
              <a:t> (confirmed with IT) — only outbound calls to public data APIs. Everything else ships inside one container image, which is what makes it portable to any cloud.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220">
                <a:solidFill>
                  <a:srgbClr val="0B688C"/>
                </a:solidFill>
                <a:latin typeface="Söhne Halbfett"/>
                <a:cs typeface="Söhne Halbfett"/>
              </a:rPr>
              <a:t>SECTION 3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0">
                <a:solidFill>
                  <a:srgbClr val="060D43"/>
                </a:solidFill>
                <a:latin typeface="Sometimes Times Medium"/>
                <a:cs typeface="Sometimes Times Medium"/>
              </a:rPr>
              <a:t>Data &amp; persistence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33856"/>
            <a:ext cx="11091672" cy="25400"/>
          </a:xfrm>
          <a:prstGeom prst="rect">
            <a:avLst/>
          </a:prstGeom>
          <a:solidFill>
            <a:srgbClr val="0B6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0" y="347472"/>
            <a:ext cx="1600200" cy="310896"/>
          </a:xfrm>
          <a:prstGeom prst="rect">
            <a:avLst/>
          </a:prstGeom>
          <a:noFill/>
          <a:ln w="15875">
            <a:solidFill>
              <a:srgbClr val="D066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347472"/>
            <a:ext cx="1600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50">
                <a:solidFill>
                  <a:srgbClr val="D06643"/>
                </a:solidFill>
                <a:latin typeface="Söhne Halbfett"/>
                <a:cs typeface="Söhne Halbfett"/>
              </a:rPr>
              <a:t>FOR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095AB"/>
                </a:solidFill>
                <a:latin typeface="Söhne"/>
                <a:cs typeface="Söhne"/>
              </a:rPr>
              <a:t>Teroxx  ·  Portfolio Allocation App — Handover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55664"/>
            <a:ext cx="1033271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095AB"/>
                </a:solidFill>
                <a:latin typeface="Söhne Halbfett"/>
                <a:cs typeface="Söhne Halbfett"/>
              </a:rPr>
              <a:t>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3258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A5170"/>
                </a:solidFill>
                <a:latin typeface="Söhne"/>
                <a:cs typeface="Söhne"/>
              </a:rPr>
              <a:t>SQLAlchemy ORM. The connection string is chosen at startup: </a:t>
            </a:r>
            <a:r>
              <a:rPr sz="1250" b="1" i="0">
                <a:solidFill>
                  <a:srgbClr val="0B688C"/>
                </a:solidFill>
                <a:latin typeface="Söhne Halbfett"/>
                <a:cs typeface="Söhne Halbfett"/>
              </a:rPr>
              <a:t>DATABASE_URL</a:t>
            </a:r>
            <a:r>
              <a:rPr sz="1250" b="0" i="0">
                <a:solidFill>
                  <a:srgbClr val="4A5170"/>
                </a:solidFill>
                <a:latin typeface="Söhne"/>
                <a:cs typeface="Söhne"/>
              </a:rPr>
              <a:t> (Postgres) → </a:t>
            </a:r>
            <a:r>
              <a:rPr sz="1250" b="1" i="0">
                <a:solidFill>
                  <a:srgbClr val="0B688C"/>
                </a:solidFill>
                <a:latin typeface="Söhne Halbfett"/>
                <a:cs typeface="Söhne Halbfett"/>
              </a:rPr>
              <a:t>TEROXX_DB_PATH</a:t>
            </a:r>
            <a:r>
              <a:rPr sz="1250" b="0" i="0">
                <a:solidFill>
                  <a:srgbClr val="4A5170"/>
                </a:solidFill>
                <a:latin typeface="Söhne"/>
                <a:cs typeface="Söhne"/>
              </a:rPr>
              <a:t> → local SQLite → /tmp fallback.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965960"/>
            <a:ext cx="5486400" cy="3977639"/>
          </a:xfrm>
          <a:prstGeom prst="rect">
            <a:avLst/>
          </a:prstGeom>
          <a:solidFill>
            <a:srgbClr val="F4F2EF"/>
          </a:solidFill>
          <a:ln w="9525">
            <a:solidFill>
              <a:srgbClr val="C9C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121408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50">
                <a:solidFill>
                  <a:srgbClr val="0B688C"/>
                </a:solidFill>
                <a:latin typeface="Söhne Halbfett"/>
                <a:cs typeface="Söhne Halbfett"/>
              </a:rPr>
              <a:t>SIX TABLES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542032"/>
            <a:ext cx="502920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 i="0">
                <a:solidFill>
                  <a:srgbClr val="060D43"/>
                </a:solidFill>
                <a:latin typeface="Söhne Halbfett"/>
                <a:cs typeface="Söhne Halbfett"/>
              </a:rPr>
              <a:t>▪  </a:t>
            </a:r>
            <a:r>
              <a:rPr sz="1150" b="1" i="0">
                <a:solidFill>
                  <a:srgbClr val="0E1430"/>
                </a:solidFill>
                <a:latin typeface="Söhne Halbfett"/>
                <a:cs typeface="Söhne Halbfett"/>
              </a:rPr>
              <a:t>Client — </a:t>
            </a:r>
            <a:r>
              <a:rPr sz="1150" b="0" i="0">
                <a:solidFill>
                  <a:srgbClr val="4A5170"/>
                </a:solidFill>
                <a:latin typeface="Söhne"/>
                <a:cs typeface="Söhne"/>
              </a:rPr>
              <a:t>profile, domicile, currency, defaults, overrides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 i="0">
                <a:solidFill>
                  <a:srgbClr val="060D43"/>
                </a:solidFill>
                <a:latin typeface="Söhne Halbfett"/>
                <a:cs typeface="Söhne Halbfett"/>
              </a:rPr>
              <a:t>▪  </a:t>
            </a:r>
            <a:r>
              <a:rPr sz="1150" b="1" i="0">
                <a:solidFill>
                  <a:srgbClr val="0E1430"/>
                </a:solidFill>
                <a:latin typeface="Söhne Halbfett"/>
                <a:cs typeface="Söhne Halbfett"/>
              </a:rPr>
              <a:t>ClientLot — </a:t>
            </a:r>
            <a:r>
              <a:rPr sz="1150" b="0" i="0">
                <a:solidFill>
                  <a:srgbClr val="4A5170"/>
                </a:solidFill>
                <a:latin typeface="Söhne"/>
                <a:cs typeface="Söhne"/>
              </a:rPr>
              <a:t>individual holdings: ticker, qty, entry price/date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 i="0">
                <a:solidFill>
                  <a:srgbClr val="060D43"/>
                </a:solidFill>
                <a:latin typeface="Söhne Halbfett"/>
                <a:cs typeface="Söhne Halbfett"/>
              </a:rPr>
              <a:t>▪  </a:t>
            </a:r>
            <a:r>
              <a:rPr sz="1150" b="1" i="0">
                <a:solidFill>
                  <a:srgbClr val="0E1430"/>
                </a:solidFill>
                <a:latin typeface="Söhne Halbfett"/>
                <a:cs typeface="Söhne Halbfett"/>
              </a:rPr>
              <a:t>AllocationSnapshot — </a:t>
            </a:r>
            <a:r>
              <a:rPr sz="1150" b="0" i="0">
                <a:solidFill>
                  <a:srgbClr val="4A5170"/>
                </a:solidFill>
                <a:latin typeface="Söhne"/>
                <a:cs typeface="Söhne"/>
              </a:rPr>
              <a:t>frozen allocations behind each proposal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 i="0">
                <a:solidFill>
                  <a:srgbClr val="060D43"/>
                </a:solidFill>
                <a:latin typeface="Söhne Halbfett"/>
                <a:cs typeface="Söhne Halbfett"/>
              </a:rPr>
              <a:t>▪  </a:t>
            </a:r>
            <a:r>
              <a:rPr sz="1150" b="1" i="0">
                <a:solidFill>
                  <a:srgbClr val="0E1430"/>
                </a:solidFill>
                <a:latin typeface="Söhne Halbfett"/>
                <a:cs typeface="Söhne Halbfett"/>
              </a:rPr>
              <a:t>AdvisorAction — </a:t>
            </a:r>
            <a:r>
              <a:rPr sz="1150" b="0" i="0">
                <a:solidFill>
                  <a:srgbClr val="4A5170"/>
                </a:solidFill>
                <a:latin typeface="Söhne"/>
                <a:cs typeface="Söhne"/>
              </a:rPr>
              <a:t>full audit trail: who did what, when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 i="0">
                <a:solidFill>
                  <a:srgbClr val="060D43"/>
                </a:solidFill>
                <a:latin typeface="Söhne Halbfett"/>
                <a:cs typeface="Söhne Halbfett"/>
              </a:rPr>
              <a:t>▪  </a:t>
            </a:r>
            <a:r>
              <a:rPr sz="1150" b="1" i="0">
                <a:solidFill>
                  <a:srgbClr val="0E1430"/>
                </a:solidFill>
                <a:latin typeface="Söhne Halbfett"/>
                <a:cs typeface="Söhne Halbfett"/>
              </a:rPr>
              <a:t>ApiToken — </a:t>
            </a:r>
            <a:r>
              <a:rPr sz="1150" b="0" i="0">
                <a:solidFill>
                  <a:srgbClr val="4A5170"/>
                </a:solidFill>
                <a:latin typeface="Söhne"/>
                <a:cs typeface="Söhne"/>
              </a:rPr>
              <a:t>hashed tokens for the v1 API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 i="0">
                <a:solidFill>
                  <a:srgbClr val="060D43"/>
                </a:solidFill>
                <a:latin typeface="Söhne Halbfett"/>
                <a:cs typeface="Söhne Halbfett"/>
              </a:rPr>
              <a:t>▪  </a:t>
            </a:r>
            <a:r>
              <a:rPr sz="1150" b="1" i="0">
                <a:solidFill>
                  <a:srgbClr val="0E1430"/>
                </a:solidFill>
                <a:latin typeface="Söhne Halbfett"/>
                <a:cs typeface="Söhne Halbfett"/>
              </a:rPr>
              <a:t>Scenario — </a:t>
            </a:r>
            <a:r>
              <a:rPr sz="1150" b="0" i="0">
                <a:solidFill>
                  <a:srgbClr val="4A5170"/>
                </a:solidFill>
                <a:latin typeface="Söhne"/>
                <a:cs typeface="Söhne"/>
              </a:rPr>
              <a:t>saved A/B allocation comparisons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45352" y="1965960"/>
            <a:ext cx="5394960" cy="3977639"/>
          </a:xfrm>
          <a:prstGeom prst="rect">
            <a:avLst/>
          </a:prstGeom>
          <a:solidFill>
            <a:srgbClr val="FBF0EC"/>
          </a:solidFill>
          <a:ln w="9525">
            <a:solidFill>
              <a:srgbClr val="D066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2121408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50">
                <a:solidFill>
                  <a:srgbClr val="D06643"/>
                </a:solidFill>
                <a:latin typeface="Söhne Halbfett"/>
                <a:cs typeface="Söhne Halbfett"/>
              </a:rPr>
              <a:t>THE DURABILITY GAP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542032"/>
            <a:ext cx="493776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A5170"/>
                </a:solidFill>
                <a:latin typeface="Söhne"/>
                <a:cs typeface="Söhne"/>
              </a:rPr>
              <a:t>Today no </a:t>
            </a:r>
            <a:r>
              <a:rPr sz="1200" b="1" i="0">
                <a:solidFill>
                  <a:srgbClr val="0E1430"/>
                </a:solidFill>
                <a:latin typeface="Söhne Halbfett"/>
                <a:cs typeface="Söhne Halbfett"/>
              </a:rPr>
              <a:t>DATABASE_URL</a:t>
            </a:r>
            <a:r>
              <a:rPr sz="1200" b="0" i="0">
                <a:solidFill>
                  <a:srgbClr val="4A5170"/>
                </a:solidFill>
                <a:latin typeface="Söhne"/>
                <a:cs typeface="Söhne"/>
              </a:rPr>
              <a:t> is set, so the app uses SQLite on Render's free tier — whose filesystem is </a:t>
            </a:r>
            <a:r>
              <a:rPr sz="1200" b="1" i="0">
                <a:solidFill>
                  <a:srgbClr val="C0432A"/>
                </a:solidFill>
                <a:latin typeface="Söhne Halbfett"/>
                <a:cs typeface="Söhne Halbfett"/>
              </a:rPr>
              <a:t>ephemeral</a:t>
            </a:r>
            <a:r>
              <a:rPr sz="1200" b="0" i="0">
                <a:solidFill>
                  <a:srgbClr val="4A5170"/>
                </a:solidFill>
                <a:latin typeface="Söhne"/>
                <a:cs typeface="Söhne"/>
              </a:rPr>
              <a:t>. It resets on every deploy and periodic restart.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4A5170"/>
                </a:solidFill>
                <a:latin typeface="Söhne"/>
                <a:cs typeface="Söhne"/>
              </a:rPr>
              <a:t/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E1430"/>
                </a:solidFill>
                <a:latin typeface="Söhne Halbfett"/>
                <a:cs typeface="Söhne Halbfett"/>
              </a:rPr>
              <a:t>Consequence: </a:t>
            </a:r>
            <a:r>
              <a:rPr sz="1200" b="0" i="0">
                <a:solidFill>
                  <a:srgbClr val="4A5170"/>
                </a:solidFill>
                <a:latin typeface="Söhne"/>
                <a:cs typeface="Söhne"/>
              </a:rPr>
              <a:t>client records entered in the CRM are not guaranteed to survive a restart. In practice the app is used to build allocations and proposals on the fly, which do not depend on stored state.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4A5170"/>
                </a:solidFill>
                <a:latin typeface="Söhne"/>
                <a:cs typeface="Söhne"/>
              </a:rPr>
              <a:t/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A8A4A"/>
                </a:solidFill>
                <a:latin typeface="Söhne Halbfett"/>
                <a:cs typeface="Söhne Halbfett"/>
              </a:rPr>
              <a:t>The fix: </a:t>
            </a:r>
            <a:r>
              <a:rPr sz="1200" b="0" i="0">
                <a:solidFill>
                  <a:srgbClr val="4A5170"/>
                </a:solidFill>
                <a:latin typeface="Söhne"/>
                <a:cs typeface="Söhne"/>
              </a:rPr>
              <a:t>provision a managed PostgreSQL and set DATABASE_URL. The code already supports it — no changes needed. This is step 2 of the migration runbook.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220">
                <a:solidFill>
                  <a:srgbClr val="0B688C"/>
                </a:solidFill>
                <a:latin typeface="Söhne Halbfett"/>
                <a:cs typeface="Söhne Halbfett"/>
              </a:rPr>
              <a:t>SECTION 3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0">
                <a:solidFill>
                  <a:srgbClr val="060D43"/>
                </a:solidFill>
                <a:latin typeface="Sometimes Times Medium"/>
                <a:cs typeface="Sometimes Times Medium"/>
              </a:rPr>
              <a:t>Access &amp; security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33856"/>
            <a:ext cx="11091672" cy="25400"/>
          </a:xfrm>
          <a:prstGeom prst="rect">
            <a:avLst/>
          </a:prstGeom>
          <a:solidFill>
            <a:srgbClr val="0B6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0" y="347472"/>
            <a:ext cx="1600200" cy="310896"/>
          </a:xfrm>
          <a:prstGeom prst="rect">
            <a:avLst/>
          </a:prstGeom>
          <a:noFill/>
          <a:ln w="15875">
            <a:solidFill>
              <a:srgbClr val="D066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347472"/>
            <a:ext cx="1600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50">
                <a:solidFill>
                  <a:srgbClr val="D06643"/>
                </a:solidFill>
                <a:latin typeface="Söhne Halbfett"/>
                <a:cs typeface="Söhne Halbfett"/>
              </a:rPr>
              <a:t>FOR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095AB"/>
                </a:solidFill>
                <a:latin typeface="Söhne"/>
                <a:cs typeface="Söhne"/>
              </a:rPr>
              <a:t>Teroxx  ·  Portfolio Allocation App — Handover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55664"/>
            <a:ext cx="1033271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095AB"/>
                </a:solidFill>
                <a:latin typeface="Söhne Halbfett"/>
                <a:cs typeface="Söhne Halbfett"/>
              </a:rPr>
              <a:t>12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417320"/>
            <a:ext cx="3575304" cy="3977639"/>
          </a:xfrm>
          <a:prstGeom prst="rect">
            <a:avLst/>
          </a:prstGeom>
          <a:solidFill>
            <a:srgbClr val="F4F2EF"/>
          </a:solidFill>
          <a:ln w="9525">
            <a:solidFill>
              <a:srgbClr val="C9C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417320"/>
            <a:ext cx="3575304" cy="530352"/>
          </a:xfrm>
          <a:prstGeom prst="rect">
            <a:avLst/>
          </a:prstGeom>
          <a:solidFill>
            <a:srgbClr val="0B6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417320"/>
            <a:ext cx="3209544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Söhne Halbfett"/>
                <a:cs typeface="Söhne Halbfett"/>
              </a:rPr>
              <a:t>WHO CAN LOG 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2148840"/>
            <a:ext cx="3172968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100" b="1" i="0">
                <a:solidFill>
                  <a:srgbClr val="0B688C"/>
                </a:solidFill>
                <a:latin typeface="Söhne Halbfett"/>
                <a:cs typeface="Söhne Halbfett"/>
              </a:rPr>
              <a:t>—  </a:t>
            </a:r>
            <a:r>
              <a:rPr sz="1100" b="0" i="0">
                <a:solidFill>
                  <a:srgbClr val="0E1430"/>
                </a:solidFill>
                <a:latin typeface="Söhne"/>
                <a:cs typeface="Söhne"/>
              </a:rPr>
              <a:t>Session-based login, no external identity provider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100" b="1" i="0">
                <a:solidFill>
                  <a:srgbClr val="0B688C"/>
                </a:solidFill>
                <a:latin typeface="Söhne Halbfett"/>
                <a:cs typeface="Söhne Halbfett"/>
              </a:rPr>
              <a:t>—  </a:t>
            </a:r>
            <a:r>
              <a:rPr sz="1100" b="0" i="0">
                <a:solidFill>
                  <a:srgbClr val="0E1430"/>
                </a:solidFill>
                <a:latin typeface="Söhne"/>
                <a:cs typeface="Söhne"/>
              </a:rPr>
              <a:t>Four users today: Jannick, Leonardo, Aleksander, Christopher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100" b="1" i="0">
                <a:solidFill>
                  <a:srgbClr val="0B688C"/>
                </a:solidFill>
                <a:latin typeface="Söhne Halbfett"/>
                <a:cs typeface="Söhne Halbfett"/>
              </a:rPr>
              <a:t>—  </a:t>
            </a:r>
            <a:r>
              <a:rPr sz="1100" b="0" i="0">
                <a:solidFill>
                  <a:srgbClr val="0E1430"/>
                </a:solidFill>
                <a:latin typeface="Söhne"/>
                <a:cs typeface="Söhne"/>
              </a:rPr>
              <a:t>Passwords stored salted + SHA-256 hashed in auth.py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100" b="1" i="0">
                <a:solidFill>
                  <a:srgbClr val="0B688C"/>
                </a:solidFill>
                <a:latin typeface="Söhne Halbfett"/>
                <a:cs typeface="Söhne Halbfett"/>
              </a:rPr>
              <a:t>—  </a:t>
            </a:r>
            <a:r>
              <a:rPr sz="1100" b="0" i="0">
                <a:solidFill>
                  <a:srgbClr val="0E1430"/>
                </a:solidFill>
                <a:latin typeface="Söhne"/>
                <a:cs typeface="Söhne"/>
              </a:rPr>
              <a:t>Emil (IT) has no login yet — add on handover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06824" y="1417320"/>
            <a:ext cx="3575304" cy="3977639"/>
          </a:xfrm>
          <a:prstGeom prst="rect">
            <a:avLst/>
          </a:prstGeom>
          <a:solidFill>
            <a:srgbClr val="F4F2EF"/>
          </a:solidFill>
          <a:ln w="9525">
            <a:solidFill>
              <a:srgbClr val="C9C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06824" y="1417320"/>
            <a:ext cx="3575304" cy="530352"/>
          </a:xfrm>
          <a:prstGeom prst="rect">
            <a:avLst/>
          </a:prstGeom>
          <a:solidFill>
            <a:srgbClr val="060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07992" y="1417320"/>
            <a:ext cx="3209544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Söhne Halbfett"/>
                <a:cs typeface="Söhne Halbfett"/>
              </a:rPr>
              <a:t>HOW SESSIONS ARE SIGNED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7992" y="2148840"/>
            <a:ext cx="3172968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100" b="1" i="0">
                <a:solidFill>
                  <a:srgbClr val="060D43"/>
                </a:solidFill>
                <a:latin typeface="Söhne Halbfett"/>
                <a:cs typeface="Söhne Halbfett"/>
              </a:rPr>
              <a:t>—  </a:t>
            </a:r>
            <a:r>
              <a:rPr sz="1100" b="0" i="0">
                <a:solidFill>
                  <a:srgbClr val="0E1430"/>
                </a:solidFill>
                <a:latin typeface="Söhne"/>
                <a:cs typeface="Söhne"/>
              </a:rPr>
              <a:t>Signed cookies via SESSION_SECRET (7-day expiry)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100" b="1" i="0">
                <a:solidFill>
                  <a:srgbClr val="060D43"/>
                </a:solidFill>
                <a:latin typeface="Söhne Halbfett"/>
                <a:cs typeface="Söhne Halbfett"/>
              </a:rPr>
              <a:t>—  </a:t>
            </a:r>
            <a:r>
              <a:rPr sz="1100" b="0" i="0">
                <a:solidFill>
                  <a:srgbClr val="0E1430"/>
                </a:solidFill>
                <a:latin typeface="Söhne"/>
                <a:cs typeface="Söhne"/>
              </a:rPr>
              <a:t>Default dev secret MUST be overridden in production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100" b="1" i="0">
                <a:solidFill>
                  <a:srgbClr val="060D43"/>
                </a:solidFill>
                <a:latin typeface="Söhne Halbfett"/>
                <a:cs typeface="Söhne Halbfett"/>
              </a:rPr>
              <a:t>—  </a:t>
            </a:r>
            <a:r>
              <a:rPr sz="1100" b="0" i="0">
                <a:solidFill>
                  <a:srgbClr val="0E1430"/>
                </a:solidFill>
                <a:latin typeface="Söhne"/>
                <a:cs typeface="Söhne"/>
              </a:rPr>
              <a:t>Middleware guards all UI routes; /health &amp; static are open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100" b="1" i="0">
                <a:solidFill>
                  <a:srgbClr val="060D43"/>
                </a:solidFill>
                <a:latin typeface="Söhne Halbfett"/>
                <a:cs typeface="Söhne Halbfett"/>
              </a:rPr>
              <a:t>—  </a:t>
            </a:r>
            <a:r>
              <a:rPr sz="1100" b="0" i="0">
                <a:solidFill>
                  <a:srgbClr val="0E1430"/>
                </a:solidFill>
                <a:latin typeface="Söhne"/>
                <a:cs typeface="Söhne"/>
              </a:rPr>
              <a:t>Regenerate the secret on migration (logs everyone out once)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65008" y="1417320"/>
            <a:ext cx="3575304" cy="3977639"/>
          </a:xfrm>
          <a:prstGeom prst="rect">
            <a:avLst/>
          </a:prstGeom>
          <a:solidFill>
            <a:srgbClr val="F4F2EF"/>
          </a:solidFill>
          <a:ln w="9525">
            <a:solidFill>
              <a:srgbClr val="C9C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65008" y="1417320"/>
            <a:ext cx="3575304" cy="530352"/>
          </a:xfrm>
          <a:prstGeom prst="rect">
            <a:avLst/>
          </a:prstGeom>
          <a:solidFill>
            <a:srgbClr val="D066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66176" y="1417320"/>
            <a:ext cx="3209544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Söhne Halbfett"/>
                <a:cs typeface="Söhne Halbfett"/>
              </a:rPr>
              <a:t>MACHINE ACCESS (v1 API)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66176" y="2148840"/>
            <a:ext cx="3172968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100" b="1" i="0">
                <a:solidFill>
                  <a:srgbClr val="D06643"/>
                </a:solidFill>
                <a:latin typeface="Söhne Halbfett"/>
                <a:cs typeface="Söhne Halbfett"/>
              </a:rPr>
              <a:t>—  </a:t>
            </a:r>
            <a:r>
              <a:rPr sz="1100" b="0" i="0">
                <a:solidFill>
                  <a:srgbClr val="0E1430"/>
                </a:solidFill>
                <a:latin typeface="Söhne"/>
                <a:cs typeface="Söhne"/>
              </a:rPr>
              <a:t>Bearer tokens for /api/v1/* integrations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100" b="1" i="0">
                <a:solidFill>
                  <a:srgbClr val="D06643"/>
                </a:solidFill>
                <a:latin typeface="Söhne Halbfett"/>
                <a:cs typeface="Söhne Halbfett"/>
              </a:rPr>
              <a:t>—  </a:t>
            </a:r>
            <a:r>
              <a:rPr sz="1100" b="0" i="0">
                <a:solidFill>
                  <a:srgbClr val="0E1430"/>
                </a:solidFill>
                <a:latin typeface="Söhne"/>
                <a:cs typeface="Söhne"/>
              </a:rPr>
              <a:t>Tokens stored hashed; plaintext shown once at creation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100" b="1" i="0">
                <a:solidFill>
                  <a:srgbClr val="D06643"/>
                </a:solidFill>
                <a:latin typeface="Söhne Halbfett"/>
                <a:cs typeface="Söhne Halbfett"/>
              </a:rPr>
              <a:t>—  </a:t>
            </a:r>
            <a:r>
              <a:rPr sz="1100" b="0" i="0">
                <a:solidFill>
                  <a:srgbClr val="0E1430"/>
                </a:solidFill>
                <a:latin typeface="Söhne"/>
                <a:cs typeface="Söhne"/>
              </a:rPr>
              <a:t>Scoped (read / write / admin); revocable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100" b="1" i="0">
                <a:solidFill>
                  <a:srgbClr val="D06643"/>
                </a:solidFill>
                <a:latin typeface="Söhne Halbfett"/>
                <a:cs typeface="Söhne Halbfett"/>
              </a:rPr>
              <a:t>—  </a:t>
            </a:r>
            <a:r>
              <a:rPr sz="1100" b="0" i="0">
                <a:solidFill>
                  <a:srgbClr val="0E1430"/>
                </a:solidFill>
                <a:latin typeface="Söhne"/>
                <a:cs typeface="Söhne"/>
              </a:rPr>
              <a:t>Lost tokens can't be recovered — mint a new 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577840"/>
            <a:ext cx="110916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06643"/>
                </a:solidFill>
                <a:latin typeface="Söhne Halbfett"/>
                <a:cs typeface="Söhne Halbfett"/>
              </a:rPr>
              <a:t>Note for IT:  </a:t>
            </a:r>
            <a:r>
              <a:rPr sz="1150" b="0" i="0">
                <a:solidFill>
                  <a:srgbClr val="4A5170"/>
                </a:solidFill>
                <a:latin typeface="Söhne"/>
                <a:cs typeface="Söhne"/>
              </a:rPr>
              <a:t>this is lightweight internal auth, adequate for a small trusted desk. If the app is ever exposed more widely, front it with SSO / an identity-aware proxy and move users out of source code.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220">
                <a:solidFill>
                  <a:srgbClr val="0B688C"/>
                </a:solidFill>
                <a:latin typeface="Söhne Halbfett"/>
                <a:cs typeface="Söhne Halbfett"/>
              </a:rPr>
              <a:t>SECTION 3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0">
                <a:solidFill>
                  <a:srgbClr val="060D43"/>
                </a:solidFill>
                <a:latin typeface="Sometimes Times Medium"/>
                <a:cs typeface="Sometimes Times Medium"/>
              </a:rPr>
              <a:t>The proposal engine (and its dependencies)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33856"/>
            <a:ext cx="11091672" cy="25400"/>
          </a:xfrm>
          <a:prstGeom prst="rect">
            <a:avLst/>
          </a:prstGeom>
          <a:solidFill>
            <a:srgbClr val="0B6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0" y="347472"/>
            <a:ext cx="1600200" cy="310896"/>
          </a:xfrm>
          <a:prstGeom prst="rect">
            <a:avLst/>
          </a:prstGeom>
          <a:noFill/>
          <a:ln w="15875">
            <a:solidFill>
              <a:srgbClr val="D066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347472"/>
            <a:ext cx="1600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50">
                <a:solidFill>
                  <a:srgbClr val="D06643"/>
                </a:solidFill>
                <a:latin typeface="Söhne Halbfett"/>
                <a:cs typeface="Söhne Halbfett"/>
              </a:rPr>
              <a:t>FOR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095AB"/>
                </a:solidFill>
                <a:latin typeface="Söhne"/>
                <a:cs typeface="Söhne"/>
              </a:rPr>
              <a:t>Teroxx  ·  Portfolio Allocation App — Handover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55664"/>
            <a:ext cx="1033271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095AB"/>
                </a:solidFill>
                <a:latin typeface="Söhne Halbfett"/>
                <a:cs typeface="Söhne Halbfett"/>
              </a:rPr>
              <a:t>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3258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A5170"/>
                </a:solidFill>
                <a:latin typeface="Söhne"/>
                <a:cs typeface="Söhne"/>
              </a:rPr>
              <a:t>One design rule keeps the three outputs identical: </a:t>
            </a:r>
            <a:r>
              <a:rPr sz="1250" b="1" i="0">
                <a:solidFill>
                  <a:srgbClr val="0E1430"/>
                </a:solidFill>
                <a:latin typeface="Söhne Halbfett"/>
                <a:cs typeface="Söhne Halbfett"/>
              </a:rPr>
              <a:t>the Word document is the single source of truth.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057400"/>
            <a:ext cx="2697480" cy="1600200"/>
          </a:xfrm>
          <a:prstGeom prst="rect">
            <a:avLst/>
          </a:prstGeom>
          <a:solidFill>
            <a:srgbClr val="F4F2EF"/>
          </a:solidFill>
          <a:ln w="9525">
            <a:solidFill>
              <a:srgbClr val="C9C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057400"/>
            <a:ext cx="2697480" cy="38100"/>
          </a:xfrm>
          <a:prstGeom prst="rect">
            <a:avLst/>
          </a:prstGeom>
          <a:solidFill>
            <a:srgbClr val="0B6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221992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60D43"/>
                </a:solidFill>
                <a:latin typeface="Söhne Halbfett"/>
                <a:cs typeface="Söhne Halbfett"/>
              </a:rPr>
              <a:t>Build context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624328"/>
            <a:ext cx="2331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170"/>
                </a:solidFill>
                <a:latin typeface="Söhne"/>
                <a:cs typeface="Söhne"/>
              </a:rPr>
              <a:t>proposal.py assembles allocation + market data + narrative (EN/DE)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18688" y="2560320"/>
            <a:ext cx="228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BFB3A8"/>
                </a:solidFill>
                <a:latin typeface="Söhne Fett"/>
                <a:cs typeface="Söhne Fett"/>
              </a:rPr>
              <a:t>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64992" y="2057400"/>
            <a:ext cx="2697480" cy="1600200"/>
          </a:xfrm>
          <a:prstGeom prst="rect">
            <a:avLst/>
          </a:prstGeom>
          <a:solidFill>
            <a:srgbClr val="F4F2EF"/>
          </a:solidFill>
          <a:ln w="9525">
            <a:solidFill>
              <a:srgbClr val="C9C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64992" y="2057400"/>
            <a:ext cx="2697480" cy="38100"/>
          </a:xfrm>
          <a:prstGeom prst="rect">
            <a:avLst/>
          </a:prstGeom>
          <a:solidFill>
            <a:srgbClr val="060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47872" y="2221992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60D43"/>
                </a:solidFill>
                <a:latin typeface="Söhne Halbfett"/>
                <a:cs typeface="Söhne Halbfett"/>
              </a:rPr>
              <a:t>Render DOCX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47872" y="2624328"/>
            <a:ext cx="2331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170"/>
                </a:solidFill>
                <a:latin typeface="Söhne"/>
                <a:cs typeface="Söhne"/>
              </a:rPr>
              <a:t>proposal_docx.py — python-docx, brand fonts, charts as images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2560320"/>
            <a:ext cx="228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BFB3A8"/>
                </a:solidFill>
                <a:latin typeface="Söhne Fett"/>
                <a:cs typeface="Söhne Fett"/>
              </a:rPr>
              <a:t>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81344" y="2057400"/>
            <a:ext cx="2697480" cy="1600200"/>
          </a:xfrm>
          <a:prstGeom prst="rect">
            <a:avLst/>
          </a:prstGeom>
          <a:solidFill>
            <a:srgbClr val="F4F2EF"/>
          </a:solidFill>
          <a:ln w="9525">
            <a:solidFill>
              <a:srgbClr val="C9C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2057400"/>
            <a:ext cx="2697480" cy="38100"/>
          </a:xfrm>
          <a:prstGeom prst="rect">
            <a:avLst/>
          </a:prstGeom>
          <a:solidFill>
            <a:srgbClr val="5C6F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4224" y="2221992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60D43"/>
                </a:solidFill>
                <a:latin typeface="Söhne Halbfett"/>
                <a:cs typeface="Söhne Halbfett"/>
              </a:rPr>
              <a:t>Convert PDF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2624328"/>
            <a:ext cx="2331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170"/>
                </a:solidFill>
                <a:latin typeface="Söhne"/>
                <a:cs typeface="Söhne"/>
              </a:rPr>
              <a:t>LibreOffice (soffice) renders the DOCX to PDF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51392" y="2560320"/>
            <a:ext cx="228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BFB3A8"/>
                </a:solidFill>
                <a:latin typeface="Söhne Fett"/>
                <a:cs typeface="Söhne Fett"/>
              </a:rPr>
              <a:t>›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97696" y="2057400"/>
            <a:ext cx="2697480" cy="1600200"/>
          </a:xfrm>
          <a:prstGeom prst="rect">
            <a:avLst/>
          </a:prstGeom>
          <a:solidFill>
            <a:srgbClr val="F4F2EF"/>
          </a:solidFill>
          <a:ln w="9525">
            <a:solidFill>
              <a:srgbClr val="C9C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997696" y="2057400"/>
            <a:ext cx="2697480" cy="38100"/>
          </a:xfrm>
          <a:prstGeom prst="rect">
            <a:avLst/>
          </a:prstGeom>
          <a:solidFill>
            <a:srgbClr val="D066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80576" y="2221992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60D43"/>
                </a:solidFill>
                <a:latin typeface="Söhne Halbfett"/>
                <a:cs typeface="Söhne Halbfett"/>
              </a:rPr>
              <a:t>Or Google Doc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0576" y="2624328"/>
            <a:ext cx="2331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170"/>
                </a:solidFill>
                <a:latin typeface="Söhne"/>
                <a:cs typeface="Söhne"/>
              </a:rPr>
              <a:t>upload DOCX to Drive → native Google Doc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3931920"/>
            <a:ext cx="11091672" cy="2011680"/>
          </a:xfrm>
          <a:prstGeom prst="rect">
            <a:avLst/>
          </a:prstGeom>
          <a:solidFill>
            <a:srgbClr val="F0F5F7"/>
          </a:solidFill>
          <a:ln w="9525">
            <a:solidFill>
              <a:srgbClr val="0B68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4096512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00">
                <a:solidFill>
                  <a:srgbClr val="0B688C"/>
                </a:solidFill>
                <a:latin typeface="Söhne Halbfett"/>
                <a:cs typeface="Söhne Halbfett"/>
              </a:rPr>
              <a:t>WHAT THE CONTAINER MUST PROVIDE (all baked into the Docker image already)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4526280"/>
            <a:ext cx="26517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060D43"/>
                </a:solidFill>
                <a:latin typeface="Söhne Halbfett"/>
                <a:cs typeface="Söhne Halbfett"/>
              </a:rPr>
              <a:t>LibreOffice Writer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4A5170"/>
                </a:solidFill>
                <a:latin typeface="Söhne"/>
                <a:cs typeface="Söhne"/>
              </a:rPr>
              <a:t>converts DOCX → PDF (the soffice binary)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0" y="4526280"/>
            <a:ext cx="26517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060D43"/>
                </a:solidFill>
                <a:latin typeface="Söhne Halbfett"/>
                <a:cs typeface="Söhne Halbfett"/>
              </a:rPr>
              <a:t>Pango / Cairo / HarfBuzz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4A5170"/>
                </a:solidFill>
                <a:latin typeface="Söhne"/>
                <a:cs typeface="Söhne"/>
              </a:rPr>
              <a:t>rasterise SVG charts and shape text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4526280"/>
            <a:ext cx="26517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060D43"/>
                </a:solidFill>
                <a:latin typeface="Söhne Halbfett"/>
                <a:cs typeface="Söhne Halbfett"/>
              </a:rPr>
              <a:t>Brand fonts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4A5170"/>
                </a:solidFill>
                <a:latin typeface="Söhne"/>
                <a:cs typeface="Söhne"/>
              </a:rPr>
              <a:t>Söhne + Sometimes Times installed system-wide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4526280"/>
            <a:ext cx="26517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060D43"/>
                </a:solidFill>
                <a:latin typeface="Söhne Halbfett"/>
                <a:cs typeface="Söhne Halbfett"/>
              </a:rPr>
              <a:t>TEROXX_VECTOR_CHARTS=0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4A5170"/>
                </a:solidFill>
                <a:latin typeface="Söhne"/>
                <a:cs typeface="Söhne"/>
              </a:rPr>
              <a:t>PNG charts on small instances to avoid OOM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220">
                <a:solidFill>
                  <a:srgbClr val="0B688C"/>
                </a:solidFill>
                <a:latin typeface="Söhne Halbfett"/>
                <a:cs typeface="Söhne Halbfett"/>
              </a:rPr>
              <a:t>SECTION 3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0">
                <a:solidFill>
                  <a:srgbClr val="060D43"/>
                </a:solidFill>
                <a:latin typeface="Sometimes Times Medium"/>
                <a:cs typeface="Sometimes Times Medium"/>
              </a:rPr>
              <a:t>Environment-variable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33856"/>
            <a:ext cx="11091672" cy="25400"/>
          </a:xfrm>
          <a:prstGeom prst="rect">
            <a:avLst/>
          </a:prstGeom>
          <a:solidFill>
            <a:srgbClr val="0B6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0" y="347472"/>
            <a:ext cx="1600200" cy="310896"/>
          </a:xfrm>
          <a:prstGeom prst="rect">
            <a:avLst/>
          </a:prstGeom>
          <a:noFill/>
          <a:ln w="15875">
            <a:solidFill>
              <a:srgbClr val="D066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347472"/>
            <a:ext cx="1600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50">
                <a:solidFill>
                  <a:srgbClr val="D06643"/>
                </a:solidFill>
                <a:latin typeface="Söhne Halbfett"/>
                <a:cs typeface="Söhne Halbfett"/>
              </a:rPr>
              <a:t>FOR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095AB"/>
                </a:solidFill>
                <a:latin typeface="Söhne"/>
                <a:cs typeface="Söhne"/>
              </a:rPr>
              <a:t>Teroxx  ·  Portfolio Allocation App — Handover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55664"/>
            <a:ext cx="1033271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095AB"/>
                </a:solidFill>
                <a:latin typeface="Söhne Halbfett"/>
                <a:cs typeface="Söhne Halbfett"/>
              </a:rPr>
              <a:t>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29844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170"/>
                </a:solidFill>
                <a:latin typeface="Söhne"/>
                <a:cs typeface="Söhne"/>
              </a:rPr>
              <a:t>Everything configurable is an environment variable. This is the full contract between the app and its host.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874519"/>
            <a:ext cx="11091672" cy="384048"/>
          </a:xfrm>
          <a:prstGeom prst="rect">
            <a:avLst/>
          </a:prstGeom>
          <a:solidFill>
            <a:srgbClr val="060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874519"/>
            <a:ext cx="30632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00">
                <a:solidFill>
                  <a:srgbClr val="FFFFFF"/>
                </a:solidFill>
                <a:latin typeface="Söhne Halbfett"/>
                <a:cs typeface="Söhne Halbfett"/>
              </a:rPr>
              <a:t>VARIABLE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58768" y="1874519"/>
            <a:ext cx="43434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00">
                <a:solidFill>
                  <a:srgbClr val="FFFFFF"/>
                </a:solidFill>
                <a:latin typeface="Söhne Halbfett"/>
                <a:cs typeface="Söhne Halbfett"/>
              </a:rPr>
              <a:t>PURPOSE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9327" y="1874519"/>
            <a:ext cx="26060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00">
                <a:solidFill>
                  <a:srgbClr val="FFFFFF"/>
                </a:solidFill>
                <a:latin typeface="Söhne Halbfett"/>
                <a:cs typeface="Söhne Halbfett"/>
              </a:rPr>
              <a:t>ON MIGRATION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82528" y="1874519"/>
            <a:ext cx="53035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00">
                <a:solidFill>
                  <a:srgbClr val="FFFFFF"/>
                </a:solidFill>
                <a:latin typeface="Söhne Halbfett"/>
                <a:cs typeface="Söhne Halbfett"/>
              </a:rPr>
              <a:t>REQ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258568"/>
            <a:ext cx="11091672" cy="367588"/>
          </a:xfrm>
          <a:prstGeom prst="rect">
            <a:avLst/>
          </a:prstGeom>
          <a:solidFill>
            <a:srgbClr val="F4F2EF"/>
          </a:solidFill>
          <a:ln w="12700">
            <a:solidFill>
              <a:srgbClr val="F4F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2258568"/>
            <a:ext cx="3063240" cy="3675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60D43"/>
                </a:solidFill>
                <a:latin typeface="Söhne Halbfett"/>
                <a:cs typeface="Söhne Halbfett"/>
              </a:rPr>
              <a:t>DATABASE_URL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58768" y="2258568"/>
            <a:ext cx="4343400" cy="3675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5170"/>
                </a:solidFill>
                <a:latin typeface="Söhne"/>
                <a:cs typeface="Söhne"/>
              </a:rPr>
              <a:t>Postgres connection string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7" y="2258568"/>
            <a:ext cx="2606040" cy="3675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5170"/>
                </a:solidFill>
                <a:latin typeface="Söhne"/>
                <a:cs typeface="Söhne"/>
              </a:rPr>
              <a:t>Set on migration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82528" y="2258568"/>
            <a:ext cx="576072" cy="3675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C0432A"/>
                </a:solidFill>
                <a:latin typeface="Söhne Halbfett"/>
                <a:cs typeface="Söhne Halbfett"/>
              </a:rPr>
              <a:t>required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2626156"/>
            <a:ext cx="3063240" cy="3675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60D43"/>
                </a:solidFill>
                <a:latin typeface="Söhne Halbfett"/>
                <a:cs typeface="Söhne Halbfett"/>
              </a:rPr>
              <a:t>SESSION_SECRET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58768" y="2626156"/>
            <a:ext cx="4343400" cy="3675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5170"/>
                </a:solidFill>
                <a:latin typeface="Söhne"/>
                <a:cs typeface="Söhne"/>
              </a:rPr>
              <a:t>Signs login cookies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9327" y="2626156"/>
            <a:ext cx="2606040" cy="3675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5170"/>
                </a:solidFill>
                <a:latin typeface="Söhne"/>
                <a:cs typeface="Söhne"/>
              </a:rPr>
              <a:t>Regenerate — secret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82528" y="2626156"/>
            <a:ext cx="576072" cy="3675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C0432A"/>
                </a:solidFill>
                <a:latin typeface="Söhne Halbfett"/>
                <a:cs typeface="Söhne Halbfett"/>
              </a:rPr>
              <a:t>required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2993745"/>
            <a:ext cx="11091672" cy="367588"/>
          </a:xfrm>
          <a:prstGeom prst="rect">
            <a:avLst/>
          </a:prstGeom>
          <a:solidFill>
            <a:srgbClr val="F4F2EF"/>
          </a:solidFill>
          <a:ln w="12700">
            <a:solidFill>
              <a:srgbClr val="F4F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2993745"/>
            <a:ext cx="3063240" cy="3675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60D43"/>
                </a:solidFill>
                <a:latin typeface="Söhne Halbfett"/>
                <a:cs typeface="Söhne Halbfett"/>
              </a:rPr>
              <a:t>CMC_API_KEY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58768" y="2993745"/>
            <a:ext cx="4343400" cy="3675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5170"/>
                </a:solidFill>
                <a:latin typeface="Söhne"/>
                <a:cs typeface="Söhne"/>
              </a:rPr>
              <a:t>CoinMarketCap prices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9327" y="2993745"/>
            <a:ext cx="2606040" cy="3675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5170"/>
                </a:solidFill>
                <a:latin typeface="Söhne"/>
                <a:cs typeface="Söhne"/>
              </a:rPr>
              <a:t>Has public default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82528" y="2993745"/>
            <a:ext cx="576072" cy="3675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9095AB"/>
                </a:solidFill>
                <a:latin typeface="Söhne Halbfett"/>
                <a:cs typeface="Söhne Halbfett"/>
              </a:rPr>
              <a:t>default ok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3361334"/>
            <a:ext cx="3063240" cy="3675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60D43"/>
                </a:solidFill>
                <a:latin typeface="Söhne Halbfett"/>
                <a:cs typeface="Söhne Halbfett"/>
              </a:rPr>
              <a:t>COINGECKO_API_KEY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58768" y="3361334"/>
            <a:ext cx="4343400" cy="3675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5170"/>
                </a:solidFill>
                <a:latin typeface="Söhne"/>
                <a:cs typeface="Söhne"/>
              </a:rPr>
              <a:t>CoinGecko fallback data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39327" y="3361334"/>
            <a:ext cx="2606040" cy="3675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5170"/>
                </a:solidFill>
                <a:latin typeface="Söhne"/>
                <a:cs typeface="Söhne"/>
              </a:rPr>
              <a:t>Has demo default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82528" y="3361334"/>
            <a:ext cx="576072" cy="3675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9095AB"/>
                </a:solidFill>
                <a:latin typeface="Söhne Halbfett"/>
                <a:cs typeface="Söhne Halbfett"/>
              </a:rPr>
              <a:t>default ok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3728923"/>
            <a:ext cx="11091672" cy="367588"/>
          </a:xfrm>
          <a:prstGeom prst="rect">
            <a:avLst/>
          </a:prstGeom>
          <a:solidFill>
            <a:srgbClr val="F4F2EF"/>
          </a:solidFill>
          <a:ln w="12700">
            <a:solidFill>
              <a:srgbClr val="F4F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" y="3728923"/>
            <a:ext cx="3063240" cy="3675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60D43"/>
                </a:solidFill>
                <a:latin typeface="Söhne Halbfett"/>
                <a:cs typeface="Söhne Halbfett"/>
              </a:rPr>
              <a:t>GOOGLE_SERVICE_ACCOUNT_JSON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58768" y="3728923"/>
            <a:ext cx="4343400" cy="3675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5170"/>
                </a:solidFill>
                <a:latin typeface="Söhne"/>
                <a:cs typeface="Söhne"/>
              </a:rPr>
              <a:t>Google Doc export credentials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39327" y="3728923"/>
            <a:ext cx="2606040" cy="3675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5170"/>
                </a:solidFill>
                <a:latin typeface="Söhne"/>
                <a:cs typeface="Söhne"/>
              </a:rPr>
              <a:t>Feature-off if unset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82528" y="3728923"/>
            <a:ext cx="576072" cy="3675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D06643"/>
                </a:solidFill>
                <a:latin typeface="Söhne Halbfett"/>
                <a:cs typeface="Söhne Halbfett"/>
              </a:rPr>
              <a:t>optional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4096512"/>
            <a:ext cx="3063240" cy="3675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60D43"/>
                </a:solidFill>
                <a:latin typeface="Söhne Halbfett"/>
                <a:cs typeface="Söhne Halbfett"/>
              </a:rPr>
              <a:t>GOOGLE_DRIVE_FOLDER_ID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58768" y="4096512"/>
            <a:ext cx="4343400" cy="3675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5170"/>
                </a:solidFill>
                <a:latin typeface="Söhne"/>
                <a:cs typeface="Söhne"/>
              </a:rPr>
              <a:t>Target Drive/Shared-Drive folder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39327" y="4096512"/>
            <a:ext cx="2606040" cy="3675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5170"/>
                </a:solidFill>
                <a:latin typeface="Söhne"/>
                <a:cs typeface="Söhne"/>
              </a:rPr>
              <a:t>Optional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82528" y="4096512"/>
            <a:ext cx="576072" cy="3675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D06643"/>
                </a:solidFill>
                <a:latin typeface="Söhne Halbfett"/>
                <a:cs typeface="Söhne Halbfett"/>
              </a:rPr>
              <a:t>optional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4464100"/>
            <a:ext cx="11091672" cy="367588"/>
          </a:xfrm>
          <a:prstGeom prst="rect">
            <a:avLst/>
          </a:prstGeom>
          <a:solidFill>
            <a:srgbClr val="F4F2EF"/>
          </a:solidFill>
          <a:ln w="12700">
            <a:solidFill>
              <a:srgbClr val="F4F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8368" y="4464100"/>
            <a:ext cx="3063240" cy="3675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60D43"/>
                </a:solidFill>
                <a:latin typeface="Söhne Halbfett"/>
                <a:cs typeface="Söhne Halbfett"/>
              </a:rPr>
              <a:t>GOOGLE_IMPERSONATE_SUBJECT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58768" y="4464100"/>
            <a:ext cx="4343400" cy="3675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5170"/>
                </a:solidFill>
                <a:latin typeface="Söhne"/>
                <a:cs typeface="Söhne"/>
              </a:rPr>
              <a:t>Domain-wide delegation user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39327" y="4464100"/>
            <a:ext cx="2606040" cy="3675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5170"/>
                </a:solidFill>
                <a:latin typeface="Söhne"/>
                <a:cs typeface="Söhne"/>
              </a:rPr>
              <a:t>Optional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82528" y="4464100"/>
            <a:ext cx="576072" cy="3675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D06643"/>
                </a:solidFill>
                <a:latin typeface="Söhne Halbfett"/>
                <a:cs typeface="Söhne Halbfett"/>
              </a:rPr>
              <a:t>optional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8368" y="4831689"/>
            <a:ext cx="3063240" cy="3675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60D43"/>
                </a:solidFill>
                <a:latin typeface="Söhne Halbfett"/>
                <a:cs typeface="Söhne Halbfett"/>
              </a:rPr>
              <a:t>GOOGLE_DOCS_SHARE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858768" y="4831689"/>
            <a:ext cx="4343400" cy="3675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5170"/>
                </a:solidFill>
                <a:latin typeface="Söhne"/>
                <a:cs typeface="Söhne"/>
              </a:rPr>
              <a:t>Share mode: none / domain / anyone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39327" y="4831689"/>
            <a:ext cx="2606040" cy="3675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5170"/>
                </a:solidFill>
                <a:latin typeface="Söhne"/>
                <a:cs typeface="Söhne"/>
              </a:rPr>
              <a:t>Default none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82528" y="4831689"/>
            <a:ext cx="576072" cy="3675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D06643"/>
                </a:solidFill>
                <a:latin typeface="Söhne Halbfett"/>
                <a:cs typeface="Söhne Halbfett"/>
              </a:rPr>
              <a:t>optional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8640" y="5199278"/>
            <a:ext cx="11091672" cy="367588"/>
          </a:xfrm>
          <a:prstGeom prst="rect">
            <a:avLst/>
          </a:prstGeom>
          <a:solidFill>
            <a:srgbClr val="F4F2EF"/>
          </a:solidFill>
          <a:ln w="12700">
            <a:solidFill>
              <a:srgbClr val="F4F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8368" y="5199278"/>
            <a:ext cx="3063240" cy="3675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60D43"/>
                </a:solidFill>
                <a:latin typeface="Söhne Halbfett"/>
                <a:cs typeface="Söhne Halbfett"/>
              </a:rPr>
              <a:t>TEROXX_VECTOR_CHARTS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858768" y="5199278"/>
            <a:ext cx="4343400" cy="3675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5170"/>
                </a:solidFill>
                <a:latin typeface="Söhne"/>
                <a:cs typeface="Söhne"/>
              </a:rPr>
              <a:t>Vector(1)/PNG(0) charts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39327" y="5199278"/>
            <a:ext cx="2606040" cy="3675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5170"/>
                </a:solidFill>
                <a:latin typeface="Söhne"/>
                <a:cs typeface="Söhne"/>
              </a:rPr>
              <a:t>0 on small hosts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082528" y="5199278"/>
            <a:ext cx="576072" cy="3675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9095AB"/>
                </a:solidFill>
                <a:latin typeface="Söhne Halbfett"/>
                <a:cs typeface="Söhne Halbfett"/>
              </a:rPr>
              <a:t>default ok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5566867"/>
            <a:ext cx="3063240" cy="3675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60D43"/>
                </a:solidFill>
                <a:latin typeface="Söhne Halbfett"/>
                <a:cs typeface="Söhne Halbfett"/>
              </a:rPr>
              <a:t>PORT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858768" y="5566867"/>
            <a:ext cx="4343400" cy="3675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5170"/>
                </a:solidFill>
                <a:latin typeface="Söhne"/>
                <a:cs typeface="Söhne"/>
              </a:rPr>
              <a:t>Port the server binds to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39327" y="5566867"/>
            <a:ext cx="2606040" cy="3675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5170"/>
                </a:solidFill>
                <a:latin typeface="Söhne"/>
                <a:cs typeface="Söhne"/>
              </a:rPr>
              <a:t>Host usually sets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082528" y="5566867"/>
            <a:ext cx="576072" cy="3675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9095AB"/>
                </a:solidFill>
                <a:latin typeface="Söhne Halbfett"/>
                <a:cs typeface="Söhne Halbfett"/>
              </a:rPr>
              <a:t>default ok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8640" y="600760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095AB"/>
                </a:solidFill>
                <a:latin typeface="Söhne"/>
                <a:cs typeface="Söhne"/>
              </a:rPr>
              <a:t>● required for a healthy production deploy    ◐ needed only for Google Doc export    ○ safe default exists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0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060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27432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0" b="0" i="0">
                <a:solidFill>
                  <a:srgbClr val="D06643"/>
                </a:solidFill>
                <a:latin typeface="Sometimes Times Medium"/>
                <a:cs typeface="Sometimes Times Medium"/>
              </a:rPr>
              <a:t>4</a:t>
            </a:r>
          </a:p>
        </p:txBody>
      </p:sp>
      <p:sp>
        <p:nvSpPr>
          <p:cNvPr id="5" name="Rectangle 4"/>
          <p:cNvSpPr/>
          <p:nvPr/>
        </p:nvSpPr>
        <p:spPr>
          <a:xfrm>
            <a:off x="4480560" y="2286000"/>
            <a:ext cx="31750" cy="2194560"/>
          </a:xfrm>
          <a:prstGeom prst="rect">
            <a:avLst/>
          </a:prstGeom>
          <a:solidFill>
            <a:srgbClr val="D066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00600" y="2331720"/>
            <a:ext cx="6858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 i="0">
                <a:solidFill>
                  <a:srgbClr val="FFFFFF"/>
                </a:solidFill>
                <a:latin typeface="Sometimes Times Medium"/>
                <a:cs typeface="Sometimes Times Medium"/>
              </a:rPr>
              <a:t>Standing it up on your cloud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28032" y="3703320"/>
            <a:ext cx="66751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D06643"/>
                </a:solidFill>
                <a:latin typeface="Söhne Halbfett"/>
                <a:cs typeface="Söhne Halbfett"/>
              </a:rPr>
              <a:t>—  </a:t>
            </a:r>
            <a:r>
              <a:rPr sz="1400" b="0" i="0">
                <a:solidFill>
                  <a:srgbClr val="ECE8E5"/>
                </a:solidFill>
                <a:latin typeface="Söhne"/>
                <a:cs typeface="Söhne"/>
              </a:rPr>
              <a:t>The migration in one picture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D06643"/>
                </a:solidFill>
                <a:latin typeface="Söhne Halbfett"/>
                <a:cs typeface="Söhne Halbfett"/>
              </a:rPr>
              <a:t>—  </a:t>
            </a:r>
            <a:r>
              <a:rPr sz="1400" b="0" i="0">
                <a:solidFill>
                  <a:srgbClr val="ECE8E5"/>
                </a:solidFill>
                <a:latin typeface="Söhne"/>
                <a:cs typeface="Söhne"/>
              </a:rPr>
              <a:t>A step-by-step runbook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D06643"/>
                </a:solidFill>
                <a:latin typeface="Söhne Halbfett"/>
                <a:cs typeface="Söhne Halbfett"/>
              </a:rPr>
              <a:t>—  </a:t>
            </a:r>
            <a:r>
              <a:rPr sz="1400" b="0" i="0">
                <a:solidFill>
                  <a:srgbClr val="ECE8E5"/>
                </a:solidFill>
                <a:latin typeface="Söhne"/>
                <a:cs typeface="Söhne"/>
              </a:rPr>
              <a:t>Hosting options &amp; credentials</a:t>
            </a:r>
          </a:p>
        </p:txBody>
      </p:sp>
      <p:pic>
        <p:nvPicPr>
          <p:cNvPr id="8" name="Picture 7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6172200"/>
            <a:ext cx="1036320" cy="31089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828032" y="1783080"/>
            <a:ext cx="1737360" cy="329184"/>
          </a:xfrm>
          <a:prstGeom prst="rect">
            <a:avLst/>
          </a:prstGeom>
          <a:noFill/>
          <a:ln w="15875">
            <a:solidFill>
              <a:srgbClr val="D066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28032" y="1783080"/>
            <a:ext cx="17373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50">
                <a:solidFill>
                  <a:srgbClr val="D06643"/>
                </a:solidFill>
                <a:latin typeface="Söhne Halbfett"/>
                <a:cs typeface="Söhne Halbfett"/>
              </a:rPr>
              <a:t>FOR IT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220">
                <a:solidFill>
                  <a:srgbClr val="0B688C"/>
                </a:solidFill>
                <a:latin typeface="Söhne Halbfett"/>
                <a:cs typeface="Söhne Halbfett"/>
              </a:rPr>
              <a:t>SECTION 4 · STANDING IT UP ON YOUR CLOUD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0">
                <a:solidFill>
                  <a:srgbClr val="060D43"/>
                </a:solidFill>
                <a:latin typeface="Sometimes Times Medium"/>
                <a:cs typeface="Sometimes Times Medium"/>
              </a:rPr>
              <a:t>The migration in one picture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33856"/>
            <a:ext cx="11091672" cy="25400"/>
          </a:xfrm>
          <a:prstGeom prst="rect">
            <a:avLst/>
          </a:prstGeom>
          <a:solidFill>
            <a:srgbClr val="0B6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0" y="347472"/>
            <a:ext cx="1600200" cy="310896"/>
          </a:xfrm>
          <a:prstGeom prst="rect">
            <a:avLst/>
          </a:prstGeom>
          <a:noFill/>
          <a:ln w="15875">
            <a:solidFill>
              <a:srgbClr val="D066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347472"/>
            <a:ext cx="1600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50">
                <a:solidFill>
                  <a:srgbClr val="D06643"/>
                </a:solidFill>
                <a:latin typeface="Söhne Halbfett"/>
                <a:cs typeface="Söhne Halbfett"/>
              </a:rPr>
              <a:t>FOR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095AB"/>
                </a:solidFill>
                <a:latin typeface="Söhne"/>
                <a:cs typeface="Söhne"/>
              </a:rPr>
              <a:t>Teroxx  ·  Portfolio Allocation App — Handover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55664"/>
            <a:ext cx="1033271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095AB"/>
                </a:solidFill>
                <a:latin typeface="Söhne Halbfett"/>
                <a:cs typeface="Söhne Halbfett"/>
              </a:rPr>
              <a:t>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3258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170"/>
                </a:solidFill>
                <a:latin typeface="Söhne"/>
                <a:cs typeface="Söhne"/>
              </a:rPr>
              <a:t>The app is a </a:t>
            </a:r>
            <a:r>
              <a:rPr sz="1300" b="1" i="0">
                <a:solidFill>
                  <a:srgbClr val="0E1430"/>
                </a:solidFill>
                <a:latin typeface="Söhne Halbfett"/>
                <a:cs typeface="Söhne Halbfett"/>
              </a:rPr>
              <a:t>single Docker container</a:t>
            </a:r>
            <a:r>
              <a:rPr sz="1300" b="0" i="0">
                <a:solidFill>
                  <a:srgbClr val="4A5170"/>
                </a:solidFill>
                <a:latin typeface="Söhne"/>
                <a:cs typeface="Söhne"/>
              </a:rPr>
              <a:t> plus a </a:t>
            </a:r>
            <a:r>
              <a:rPr sz="1300" b="1" i="0">
                <a:solidFill>
                  <a:srgbClr val="0E1430"/>
                </a:solidFill>
                <a:latin typeface="Söhne Halbfett"/>
                <a:cs typeface="Söhne Halbfett"/>
              </a:rPr>
              <a:t>Postgres database</a:t>
            </a:r>
            <a:r>
              <a:rPr sz="1300" b="0" i="0">
                <a:solidFill>
                  <a:srgbClr val="4A5170"/>
                </a:solidFill>
                <a:latin typeface="Söhne"/>
                <a:cs typeface="Söhne"/>
              </a:rPr>
              <a:t> plus a handful of </a:t>
            </a:r>
            <a:r>
              <a:rPr sz="1300" b="1" i="0">
                <a:solidFill>
                  <a:srgbClr val="0E1430"/>
                </a:solidFill>
                <a:latin typeface="Söhne Halbfett"/>
                <a:cs typeface="Söhne Halbfett"/>
              </a:rPr>
              <a:t>environment variables</a:t>
            </a:r>
            <a:r>
              <a:rPr sz="1300" b="0" i="0">
                <a:solidFill>
                  <a:srgbClr val="4A5170"/>
                </a:solidFill>
                <a:latin typeface="Söhne"/>
                <a:cs typeface="Söhne"/>
              </a:rPr>
              <a:t>. Anything that can run a container can run this — no code changes required.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286000"/>
            <a:ext cx="5458968" cy="1691640"/>
          </a:xfrm>
          <a:prstGeom prst="rect">
            <a:avLst/>
          </a:prstGeom>
          <a:solidFill>
            <a:srgbClr val="F4F2EF"/>
          </a:solidFill>
          <a:ln w="9525">
            <a:solidFill>
              <a:srgbClr val="C9C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286000"/>
            <a:ext cx="82296" cy="1691640"/>
          </a:xfrm>
          <a:prstGeom prst="rect">
            <a:avLst/>
          </a:prstGeom>
          <a:solidFill>
            <a:srgbClr val="0B6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2468880"/>
            <a:ext cx="50017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60D43"/>
                </a:solidFill>
                <a:latin typeface="Söhne Halbfett"/>
                <a:cs typeface="Söhne Halbfett"/>
              </a:rPr>
              <a:t>The container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2880360"/>
            <a:ext cx="495604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170"/>
                </a:solidFill>
                <a:latin typeface="Söhne"/>
                <a:cs typeface="Söhne"/>
              </a:rPr>
              <a:t>Built from the repo's Dockerfile. Bundles the app, LibreOffice and brand fonts. Nothing else to install.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81344" y="2286000"/>
            <a:ext cx="5458968" cy="1691640"/>
          </a:xfrm>
          <a:prstGeom prst="rect">
            <a:avLst/>
          </a:prstGeom>
          <a:solidFill>
            <a:srgbClr val="F4F2EF"/>
          </a:solidFill>
          <a:ln w="9525">
            <a:solidFill>
              <a:srgbClr val="C9C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81344" y="2286000"/>
            <a:ext cx="82296" cy="1691640"/>
          </a:xfrm>
          <a:prstGeom prst="rect">
            <a:avLst/>
          </a:prstGeom>
          <a:solidFill>
            <a:srgbClr val="060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5664" y="2468880"/>
            <a:ext cx="50017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60D43"/>
                </a:solidFill>
                <a:latin typeface="Söhne Halbfett"/>
                <a:cs typeface="Söhne Halbfett"/>
              </a:rPr>
              <a:t>The database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2880360"/>
            <a:ext cx="495604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170"/>
                </a:solidFill>
                <a:latin typeface="Söhne"/>
                <a:cs typeface="Söhne"/>
              </a:rPr>
              <a:t>A managed PostgreSQL. Point the app at it with DATABASE_URL. Durable, backed up, no ops.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142232"/>
            <a:ext cx="5458968" cy="1691640"/>
          </a:xfrm>
          <a:prstGeom prst="rect">
            <a:avLst/>
          </a:prstGeom>
          <a:solidFill>
            <a:srgbClr val="F4F2EF"/>
          </a:solidFill>
          <a:ln w="9525">
            <a:solidFill>
              <a:srgbClr val="C9C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142232"/>
            <a:ext cx="82296" cy="1691640"/>
          </a:xfrm>
          <a:prstGeom prst="rect">
            <a:avLst/>
          </a:prstGeom>
          <a:solidFill>
            <a:srgbClr val="D066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59" y="4325112"/>
            <a:ext cx="50017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60D43"/>
                </a:solidFill>
                <a:latin typeface="Söhne Halbfett"/>
                <a:cs typeface="Söhne Halbfett"/>
              </a:rPr>
              <a:t>The secrets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59" y="4736592"/>
            <a:ext cx="495604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170"/>
                </a:solidFill>
                <a:latin typeface="Söhne"/>
                <a:cs typeface="Söhne"/>
              </a:rPr>
              <a:t>~5 environment variables (Section 3 table). Set once in the host's dashboard.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81344" y="4142232"/>
            <a:ext cx="5458968" cy="1691640"/>
          </a:xfrm>
          <a:prstGeom prst="rect">
            <a:avLst/>
          </a:prstGeom>
          <a:solidFill>
            <a:srgbClr val="F4F2EF"/>
          </a:solidFill>
          <a:ln w="9525">
            <a:solidFill>
              <a:srgbClr val="C9C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81344" y="4142232"/>
            <a:ext cx="82296" cy="1691640"/>
          </a:xfrm>
          <a:prstGeom prst="rect">
            <a:avLst/>
          </a:prstGeom>
          <a:solidFill>
            <a:srgbClr val="5C6F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55664" y="4325112"/>
            <a:ext cx="50017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60D43"/>
                </a:solidFill>
                <a:latin typeface="Söhne Halbfett"/>
                <a:cs typeface="Söhne Halbfett"/>
              </a:rPr>
              <a:t>The domain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55664" y="4736592"/>
            <a:ext cx="495604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170"/>
                </a:solidFill>
                <a:latin typeface="Söhne"/>
                <a:cs typeface="Söhne"/>
              </a:rPr>
              <a:t>Optional: map a Teroxx URL and TLS certificate. Most hosts do this in a click.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220">
                <a:solidFill>
                  <a:srgbClr val="0B688C"/>
                </a:solidFill>
                <a:latin typeface="Söhne Halbfett"/>
                <a:cs typeface="Söhne Halbfett"/>
              </a:rPr>
              <a:t>SECTION 4 · STANDING IT UP ON YOUR CLOUD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0">
                <a:solidFill>
                  <a:srgbClr val="060D43"/>
                </a:solidFill>
                <a:latin typeface="Sometimes Times Medium"/>
                <a:cs typeface="Sometimes Times Medium"/>
              </a:rPr>
              <a:t>Step-by-step deployment runbook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33856"/>
            <a:ext cx="11091672" cy="25400"/>
          </a:xfrm>
          <a:prstGeom prst="rect">
            <a:avLst/>
          </a:prstGeom>
          <a:solidFill>
            <a:srgbClr val="0B6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0" y="347472"/>
            <a:ext cx="1600200" cy="310896"/>
          </a:xfrm>
          <a:prstGeom prst="rect">
            <a:avLst/>
          </a:prstGeom>
          <a:noFill/>
          <a:ln w="15875">
            <a:solidFill>
              <a:srgbClr val="D066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347472"/>
            <a:ext cx="1600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50">
                <a:solidFill>
                  <a:srgbClr val="D06643"/>
                </a:solidFill>
                <a:latin typeface="Söhne Halbfett"/>
                <a:cs typeface="Söhne Halbfett"/>
              </a:rPr>
              <a:t>FOR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095AB"/>
                </a:solidFill>
                <a:latin typeface="Söhne"/>
                <a:cs typeface="Söhne"/>
              </a:rPr>
              <a:t>Teroxx  ·  Portfolio Allocation App — Handover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55664"/>
            <a:ext cx="1033271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095AB"/>
                </a:solidFill>
                <a:latin typeface="Söhne Halbfett"/>
                <a:cs typeface="Söhne Halbfett"/>
              </a:rPr>
              <a:t>16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371600"/>
            <a:ext cx="5458968" cy="1024128"/>
          </a:xfrm>
          <a:prstGeom prst="rect">
            <a:avLst/>
          </a:prstGeom>
          <a:solidFill>
            <a:srgbClr val="F4F2EF"/>
          </a:solidFill>
          <a:ln w="9525">
            <a:solidFill>
              <a:srgbClr val="C9C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371600"/>
            <a:ext cx="457200" cy="1024128"/>
          </a:xfrm>
          <a:prstGeom prst="rect">
            <a:avLst/>
          </a:prstGeom>
          <a:solidFill>
            <a:srgbClr val="060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45720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Söhne Fett"/>
                <a:cs typeface="Söhne Fett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" y="1508760"/>
            <a:ext cx="4745736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60D43"/>
                </a:solidFill>
                <a:latin typeface="Söhne Halbfett"/>
                <a:cs typeface="Söhne Halbfett"/>
              </a:rPr>
              <a:t>Get the code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4A5170"/>
                </a:solidFill>
                <a:latin typeface="Söhne"/>
                <a:cs typeface="Söhne"/>
              </a:rPr>
              <a:t>Clone from Teroxx GitLab. IT should own the repo and CI going forward.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81344" y="1371600"/>
            <a:ext cx="5458968" cy="1024128"/>
          </a:xfrm>
          <a:prstGeom prst="rect">
            <a:avLst/>
          </a:prstGeom>
          <a:solidFill>
            <a:srgbClr val="F4F2EF"/>
          </a:solidFill>
          <a:ln w="9525">
            <a:solidFill>
              <a:srgbClr val="C9C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1344" y="1371600"/>
            <a:ext cx="457200" cy="1024128"/>
          </a:xfrm>
          <a:prstGeom prst="rect">
            <a:avLst/>
          </a:prstGeom>
          <a:solidFill>
            <a:srgbClr val="060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81344" y="1371600"/>
            <a:ext cx="45720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Söhne Fett"/>
                <a:cs typeface="Söhne Fett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59" y="1508760"/>
            <a:ext cx="4745736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60D43"/>
                </a:solidFill>
                <a:latin typeface="Söhne Halbfett"/>
                <a:cs typeface="Söhne Halbfett"/>
              </a:rPr>
              <a:t>Provision Postgres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4A5170"/>
                </a:solidFill>
                <a:latin typeface="Söhne"/>
                <a:cs typeface="Söhne"/>
              </a:rPr>
              <a:t>Create a managed PostgreSQL; copy its connection string.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514600"/>
            <a:ext cx="5458968" cy="1024128"/>
          </a:xfrm>
          <a:prstGeom prst="rect">
            <a:avLst/>
          </a:prstGeom>
          <a:solidFill>
            <a:srgbClr val="F4F2EF"/>
          </a:solidFill>
          <a:ln w="9525">
            <a:solidFill>
              <a:srgbClr val="C9C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2514600"/>
            <a:ext cx="457200" cy="1024128"/>
          </a:xfrm>
          <a:prstGeom prst="rect">
            <a:avLst/>
          </a:prstGeom>
          <a:solidFill>
            <a:srgbClr val="060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514600"/>
            <a:ext cx="45720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Söhne Fett"/>
                <a:cs typeface="Söhne Fett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" y="2651760"/>
            <a:ext cx="4745736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60D43"/>
                </a:solidFill>
                <a:latin typeface="Söhne Halbfett"/>
                <a:cs typeface="Söhne Halbfett"/>
              </a:rPr>
              <a:t>Provision the host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4A5170"/>
                </a:solidFill>
                <a:latin typeface="Söhne"/>
                <a:cs typeface="Söhne"/>
              </a:rPr>
              <a:t>Create a container service pointing at the repo's Dockerfile.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81344" y="2514600"/>
            <a:ext cx="5458968" cy="1024128"/>
          </a:xfrm>
          <a:prstGeom prst="rect">
            <a:avLst/>
          </a:prstGeom>
          <a:solidFill>
            <a:srgbClr val="F4F2EF"/>
          </a:solidFill>
          <a:ln w="9525">
            <a:solidFill>
              <a:srgbClr val="C9C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81344" y="2514600"/>
            <a:ext cx="457200" cy="1024128"/>
          </a:xfrm>
          <a:prstGeom prst="rect">
            <a:avLst/>
          </a:prstGeom>
          <a:solidFill>
            <a:srgbClr val="060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81344" y="2514600"/>
            <a:ext cx="45720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Söhne Fett"/>
                <a:cs typeface="Söhne Fett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59" y="2651760"/>
            <a:ext cx="4745736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60D43"/>
                </a:solidFill>
                <a:latin typeface="Söhne Halbfett"/>
                <a:cs typeface="Söhne Halbfett"/>
              </a:rPr>
              <a:t>Set env vars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4A5170"/>
                </a:solidFill>
                <a:latin typeface="Söhne"/>
                <a:cs typeface="Söhne"/>
              </a:rPr>
              <a:t>DATABASE_URL, a fresh SESSION_SECRET, API keys, TEROXX_VECTOR_CHARTS.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3657600"/>
            <a:ext cx="5458968" cy="1024128"/>
          </a:xfrm>
          <a:prstGeom prst="rect">
            <a:avLst/>
          </a:prstGeom>
          <a:solidFill>
            <a:srgbClr val="F4F2EF"/>
          </a:solidFill>
          <a:ln w="9525">
            <a:solidFill>
              <a:srgbClr val="C9C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3657600"/>
            <a:ext cx="457200" cy="1024128"/>
          </a:xfrm>
          <a:prstGeom prst="rect">
            <a:avLst/>
          </a:prstGeom>
          <a:solidFill>
            <a:srgbClr val="060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3657600"/>
            <a:ext cx="45720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Söhne Fett"/>
                <a:cs typeface="Söhne Fett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3856" y="3794760"/>
            <a:ext cx="4745736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60D43"/>
                </a:solidFill>
                <a:latin typeface="Söhne Halbfett"/>
                <a:cs typeface="Söhne Halbfett"/>
              </a:rPr>
              <a:t>Deploy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4A5170"/>
                </a:solidFill>
                <a:latin typeface="Söhne"/>
                <a:cs typeface="Söhne"/>
              </a:rPr>
              <a:t>Build the image and start it. Tables auto-create on first boot.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81344" y="3657600"/>
            <a:ext cx="5458968" cy="1024128"/>
          </a:xfrm>
          <a:prstGeom prst="rect">
            <a:avLst/>
          </a:prstGeom>
          <a:solidFill>
            <a:srgbClr val="F4F2EF"/>
          </a:solidFill>
          <a:ln w="9525">
            <a:solidFill>
              <a:srgbClr val="C9C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81344" y="3657600"/>
            <a:ext cx="457200" cy="1024128"/>
          </a:xfrm>
          <a:prstGeom prst="rect">
            <a:avLst/>
          </a:prstGeom>
          <a:solidFill>
            <a:srgbClr val="060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81344" y="3657600"/>
            <a:ext cx="45720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Söhne Fett"/>
                <a:cs typeface="Söhne Fett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59" y="3794760"/>
            <a:ext cx="4745736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60D43"/>
                </a:solidFill>
                <a:latin typeface="Söhne Halbfett"/>
                <a:cs typeface="Söhne Halbfett"/>
              </a:rPr>
              <a:t>Verify health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4A5170"/>
                </a:solidFill>
                <a:latin typeface="Söhne"/>
                <a:cs typeface="Söhne"/>
              </a:rPr>
              <a:t>Hit /health (200 OK), log in, generate a test PDF proposal.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800600"/>
            <a:ext cx="5458968" cy="1024128"/>
          </a:xfrm>
          <a:prstGeom prst="rect">
            <a:avLst/>
          </a:prstGeom>
          <a:solidFill>
            <a:srgbClr val="F4F2EF"/>
          </a:solidFill>
          <a:ln w="9525">
            <a:solidFill>
              <a:srgbClr val="C9C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8640" y="4800600"/>
            <a:ext cx="457200" cy="1024128"/>
          </a:xfrm>
          <a:prstGeom prst="rect">
            <a:avLst/>
          </a:prstGeom>
          <a:solidFill>
            <a:srgbClr val="060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4800600"/>
            <a:ext cx="45720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Söhne Fett"/>
                <a:cs typeface="Söhne Fett"/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" y="4937760"/>
            <a:ext cx="4745736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60D43"/>
                </a:solidFill>
                <a:latin typeface="Söhne Halbfett"/>
                <a:cs typeface="Söhne Halbfett"/>
              </a:rPr>
              <a:t>Map the domain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4A5170"/>
                </a:solidFill>
                <a:latin typeface="Söhne"/>
                <a:cs typeface="Söhne"/>
              </a:rPr>
              <a:t>Point a Teroxx subdomain at the service; enable TLS.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81344" y="4800600"/>
            <a:ext cx="5458968" cy="1024128"/>
          </a:xfrm>
          <a:prstGeom prst="rect">
            <a:avLst/>
          </a:prstGeom>
          <a:solidFill>
            <a:srgbClr val="F4F2EF"/>
          </a:solidFill>
          <a:ln w="9525">
            <a:solidFill>
              <a:srgbClr val="C9C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81344" y="4800600"/>
            <a:ext cx="457200" cy="1024128"/>
          </a:xfrm>
          <a:prstGeom prst="rect">
            <a:avLst/>
          </a:prstGeom>
          <a:solidFill>
            <a:srgbClr val="D066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81344" y="4800600"/>
            <a:ext cx="45720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Söhne Fett"/>
                <a:cs typeface="Söhne Fett"/>
              </a:rPr>
              <a:t>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59" y="4937760"/>
            <a:ext cx="4745736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60D43"/>
                </a:solidFill>
                <a:latin typeface="Söhne Halbfett"/>
                <a:cs typeface="Söhne Halbfett"/>
              </a:rPr>
              <a:t>Cut over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4A5170"/>
                </a:solidFill>
                <a:latin typeface="Söhne"/>
                <a:cs typeface="Söhne"/>
              </a:rPr>
              <a:t>Update bookmarks, add Emil's login, suspend the old Render app.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05332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9095AB"/>
                </a:solidFill>
                <a:latin typeface="Söhne"/>
                <a:cs typeface="Söhne"/>
              </a:rPr>
              <a:t>Because the whole runtime is in the image, steps 3–5 are the same on every provider — only the dashboard differs. A companion runbook with exact commands accompanies this deck.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220">
                <a:solidFill>
                  <a:srgbClr val="0B688C"/>
                </a:solidFill>
                <a:latin typeface="Söhne Halbfett"/>
                <a:cs typeface="Söhne Halbfett"/>
              </a:rPr>
              <a:t>SECTION 4 · STANDING IT UP ON YOUR CLOUD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0">
                <a:solidFill>
                  <a:srgbClr val="060D43"/>
                </a:solidFill>
                <a:latin typeface="Sometimes Times Medium"/>
                <a:cs typeface="Sometimes Times Medium"/>
              </a:rPr>
              <a:t>Where to run it — a recommendation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33856"/>
            <a:ext cx="11091672" cy="25400"/>
          </a:xfrm>
          <a:prstGeom prst="rect">
            <a:avLst/>
          </a:prstGeom>
          <a:solidFill>
            <a:srgbClr val="0B6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0" y="347472"/>
            <a:ext cx="1600200" cy="310896"/>
          </a:xfrm>
          <a:prstGeom prst="rect">
            <a:avLst/>
          </a:prstGeom>
          <a:noFill/>
          <a:ln w="15875">
            <a:solidFill>
              <a:srgbClr val="D066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347472"/>
            <a:ext cx="1600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50">
                <a:solidFill>
                  <a:srgbClr val="D06643"/>
                </a:solidFill>
                <a:latin typeface="Söhne Halbfett"/>
                <a:cs typeface="Söhne Halbfett"/>
              </a:rPr>
              <a:t>FOR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095AB"/>
                </a:solidFill>
                <a:latin typeface="Söhne"/>
                <a:cs typeface="Söhne"/>
              </a:rPr>
              <a:t>Teroxx  ·  Portfolio Allocation App — Handover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55664"/>
            <a:ext cx="1033271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095AB"/>
                </a:solidFill>
                <a:latin typeface="Söhne Halbfett"/>
                <a:cs typeface="Söhne Halbfett"/>
              </a:rPr>
              <a:t>17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371600"/>
            <a:ext cx="11091672" cy="1508760"/>
          </a:xfrm>
          <a:prstGeom prst="rect">
            <a:avLst/>
          </a:prstGeom>
          <a:solidFill>
            <a:srgbClr val="EFF6F0"/>
          </a:solidFill>
          <a:ln w="9525">
            <a:solidFill>
              <a:srgbClr val="1A8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371600"/>
            <a:ext cx="91440" cy="1508760"/>
          </a:xfrm>
          <a:prstGeom prst="rect">
            <a:avLst/>
          </a:prstGeom>
          <a:solidFill>
            <a:srgbClr val="1A8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536192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20">
                <a:solidFill>
                  <a:srgbClr val="1A8A4A"/>
                </a:solidFill>
                <a:latin typeface="Söhne Halbfett"/>
                <a:cs typeface="Söhne Halbfett"/>
              </a:rPr>
              <a:t>RECOMMENDED — AWS, aligned with Teroxx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901952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A5170"/>
                </a:solidFill>
                <a:latin typeface="Söhne"/>
                <a:cs typeface="Söhne"/>
              </a:rPr>
              <a:t>IT has indicated </a:t>
            </a:r>
            <a:r>
              <a:rPr sz="1250" b="1" i="0">
                <a:solidFill>
                  <a:srgbClr val="0E1430"/>
                </a:solidFill>
                <a:latin typeface="Söhne Halbfett"/>
                <a:cs typeface="Söhne Halbfett"/>
              </a:rPr>
              <a:t>AWS with the EKS container platform</a:t>
            </a:r>
            <a:r>
              <a:rPr sz="1250" b="0" i="0">
                <a:solidFill>
                  <a:srgbClr val="4A5170"/>
                </a:solidFill>
                <a:latin typeface="Söhne"/>
                <a:cs typeface="Söhne"/>
              </a:rPr>
              <a:t> as Teroxx's standard, plus a managed </a:t>
            </a:r>
            <a:r>
              <a:rPr sz="1250" b="1" i="0">
                <a:solidFill>
                  <a:srgbClr val="0E1430"/>
                </a:solidFill>
                <a:latin typeface="Söhne Halbfett"/>
                <a:cs typeface="Söhne Halbfett"/>
              </a:rPr>
              <a:t>RDS Postgres</a:t>
            </a:r>
            <a:r>
              <a:rPr sz="1250" b="0" i="0">
                <a:solidFill>
                  <a:srgbClr val="4A5170"/>
                </a:solidFill>
                <a:latin typeface="Söhne"/>
                <a:cs typeface="Söhne"/>
              </a:rPr>
              <a:t>. The app is a single small, stateless service, so on EKS it is just one Deployment + Service + Ingress. If lower operational overhead is preferred, the same image runs unchanged on </a:t>
            </a:r>
            <a:r>
              <a:rPr sz="1250" b="1" i="0">
                <a:solidFill>
                  <a:srgbClr val="0E1430"/>
                </a:solidFill>
                <a:latin typeface="Söhne Halbfett"/>
                <a:cs typeface="Söhne Halbfett"/>
              </a:rPr>
              <a:t>AWS App Runner or ECS Fargate</a:t>
            </a:r>
            <a:r>
              <a:rPr sz="1250" b="0" i="0">
                <a:solidFill>
                  <a:srgbClr val="4A5170"/>
                </a:solidFill>
                <a:latin typeface="Söhne"/>
                <a:cs typeface="Söhne"/>
              </a:rPr>
              <a:t>. Exact setup to be finalised with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06324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80">
                <a:solidFill>
                  <a:srgbClr val="0B688C"/>
                </a:solidFill>
                <a:latin typeface="Söhne Halbfett"/>
                <a:cs typeface="Söhne Halbfett"/>
              </a:rPr>
              <a:t>OPTIONS AT A GLANCE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429000"/>
            <a:ext cx="2697480" cy="2377440"/>
          </a:xfrm>
          <a:prstGeom prst="rect">
            <a:avLst/>
          </a:prstGeom>
          <a:solidFill>
            <a:srgbClr val="F4F2EF"/>
          </a:solidFill>
          <a:ln w="9525">
            <a:solidFill>
              <a:srgbClr val="C9C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429000"/>
            <a:ext cx="2697480" cy="44450"/>
          </a:xfrm>
          <a:prstGeom prst="rect">
            <a:avLst/>
          </a:prstGeom>
          <a:solidFill>
            <a:srgbClr val="1A8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575304"/>
            <a:ext cx="2331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60D43"/>
                </a:solidFill>
                <a:latin typeface="Söhne Halbfett"/>
                <a:cs typeface="Söhne Halbfett"/>
              </a:rPr>
              <a:t>AWS EKS
(Teroxx container standard)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361688"/>
            <a:ext cx="23317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5170"/>
                </a:solidFill>
                <a:latin typeface="Söhne"/>
                <a:cs typeface="Söhne"/>
              </a:rPr>
              <a:t>One Deployment + Service + Ingress, with RDS Postgres alongside. IT's named platform.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367528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A8A4A"/>
                </a:solidFill>
                <a:latin typeface="Söhne Halbfett"/>
                <a:cs typeface="Söhne Halbfett"/>
              </a:rPr>
              <a:t>Target — align with 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64992" y="3429000"/>
            <a:ext cx="2697480" cy="2377440"/>
          </a:xfrm>
          <a:prstGeom prst="rect">
            <a:avLst/>
          </a:prstGeom>
          <a:solidFill>
            <a:srgbClr val="F4F2EF"/>
          </a:solidFill>
          <a:ln w="9525">
            <a:solidFill>
              <a:srgbClr val="C9C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64992" y="3429000"/>
            <a:ext cx="2697480" cy="44450"/>
          </a:xfrm>
          <a:prstGeom prst="rect">
            <a:avLst/>
          </a:prstGeom>
          <a:solidFill>
            <a:srgbClr val="0B6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47872" y="3575304"/>
            <a:ext cx="2331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60D43"/>
                </a:solidFill>
                <a:latin typeface="Söhne Halbfett"/>
                <a:cs typeface="Söhne Halbfett"/>
              </a:rPr>
              <a:t>AWS App Runner / ECS Fargate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47872" y="4361688"/>
            <a:ext cx="23317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5170"/>
                </a:solidFill>
                <a:latin typeface="Söhne"/>
                <a:cs typeface="Söhne"/>
              </a:rPr>
              <a:t>Same image, AWS-native, far less to operate than a full cluster.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47872" y="5367528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B688C"/>
                </a:solidFill>
                <a:latin typeface="Söhne Halbfett"/>
                <a:cs typeface="Söhne Halbfett"/>
              </a:rPr>
              <a:t>Lower-ops AWS option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81344" y="3429000"/>
            <a:ext cx="2697480" cy="2377440"/>
          </a:xfrm>
          <a:prstGeom prst="rect">
            <a:avLst/>
          </a:prstGeom>
          <a:solidFill>
            <a:srgbClr val="F4F2EF"/>
          </a:solidFill>
          <a:ln w="9525">
            <a:solidFill>
              <a:srgbClr val="C9C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81344" y="3429000"/>
            <a:ext cx="2697480" cy="44450"/>
          </a:xfrm>
          <a:prstGeom prst="rect">
            <a:avLst/>
          </a:prstGeom>
          <a:solidFill>
            <a:srgbClr val="D066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3575304"/>
            <a:ext cx="2331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60D43"/>
                </a:solidFill>
                <a:latin typeface="Söhne Halbfett"/>
                <a:cs typeface="Söhne Halbfett"/>
              </a:rPr>
              <a:t>PaaS
(Render / Railway / Fly.io)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64224" y="4361688"/>
            <a:ext cx="23317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5170"/>
                </a:solidFill>
                <a:latin typeface="Söhne"/>
                <a:cs typeface="Söhne"/>
              </a:rPr>
              <a:t>Same model as today; render.yaml already in the repo. A quick bridge.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64224" y="5367528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06643"/>
                </a:solidFill>
                <a:latin typeface="Söhne Halbfett"/>
                <a:cs typeface="Söhne Halbfett"/>
              </a:rPr>
              <a:t>Fastest lift-and-shift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997696" y="3429000"/>
            <a:ext cx="2697480" cy="2377440"/>
          </a:xfrm>
          <a:prstGeom prst="rect">
            <a:avLst/>
          </a:prstGeom>
          <a:solidFill>
            <a:srgbClr val="F4F2EF"/>
          </a:solidFill>
          <a:ln w="9525">
            <a:solidFill>
              <a:srgbClr val="C9C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997696" y="3429000"/>
            <a:ext cx="2697480" cy="44450"/>
          </a:xfrm>
          <a:prstGeom prst="rect">
            <a:avLst/>
          </a:prstGeom>
          <a:solidFill>
            <a:srgbClr val="4A51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80576" y="3575304"/>
            <a:ext cx="2331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60D43"/>
                </a:solidFill>
                <a:latin typeface="Söhne Halbfett"/>
                <a:cs typeface="Söhne Halbfett"/>
              </a:rPr>
              <a:t>Other clouds
(Cloud Run / Container Apps)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80576" y="4361688"/>
            <a:ext cx="23317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5170"/>
                </a:solidFill>
                <a:latin typeface="Söhne"/>
                <a:cs typeface="Söhne"/>
              </a:rPr>
              <a:t>The identical container runs anywhere — noted for completeness.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80576" y="5367528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A5170"/>
                </a:solidFill>
                <a:latin typeface="Söhne Halbfett"/>
                <a:cs typeface="Söhne Halbfett"/>
              </a:rPr>
              <a:t>Portable if ever needed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220">
                <a:solidFill>
                  <a:srgbClr val="0B688C"/>
                </a:solidFill>
                <a:latin typeface="Söhne Halbfett"/>
                <a:cs typeface="Söhne Halbfett"/>
              </a:rPr>
              <a:t>SECTION 4 · STANDING IT UP ON YOUR CLOUD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0">
                <a:solidFill>
                  <a:srgbClr val="060D43"/>
                </a:solidFill>
                <a:latin typeface="Sometimes Times Medium"/>
                <a:cs typeface="Sometimes Times Medium"/>
              </a:rPr>
              <a:t>Credentials &amp; data transfer checklist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33856"/>
            <a:ext cx="11091672" cy="25400"/>
          </a:xfrm>
          <a:prstGeom prst="rect">
            <a:avLst/>
          </a:prstGeom>
          <a:solidFill>
            <a:srgbClr val="0B6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0" y="347472"/>
            <a:ext cx="1600200" cy="310896"/>
          </a:xfrm>
          <a:prstGeom prst="rect">
            <a:avLst/>
          </a:prstGeom>
          <a:noFill/>
          <a:ln w="15875">
            <a:solidFill>
              <a:srgbClr val="D066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347472"/>
            <a:ext cx="1600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50">
                <a:solidFill>
                  <a:srgbClr val="D06643"/>
                </a:solidFill>
                <a:latin typeface="Söhne Halbfett"/>
                <a:cs typeface="Söhne Halbfett"/>
              </a:rPr>
              <a:t>FOR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095AB"/>
                </a:solidFill>
                <a:latin typeface="Söhne"/>
                <a:cs typeface="Söhne"/>
              </a:rPr>
              <a:t>Teroxx  ·  Portfolio Allocation App — Handover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55664"/>
            <a:ext cx="1033271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095AB"/>
                </a:solidFill>
                <a:latin typeface="Söhne Halbfett"/>
                <a:cs typeface="Söhne Halbfett"/>
              </a:rPr>
              <a:t>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298448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1430"/>
                </a:solidFill>
                <a:latin typeface="Söhne Halbfett"/>
                <a:cs typeface="Söhne Halbfett"/>
              </a:rPr>
              <a:t>No live secrets are printed in this deck. </a:t>
            </a:r>
            <a:r>
              <a:rPr sz="1200" b="0" i="0">
                <a:solidFill>
                  <a:srgbClr val="4A5170"/>
                </a:solidFill>
                <a:latin typeface="Söhne"/>
                <a:cs typeface="Söhne"/>
              </a:rPr>
              <a:t>Aleksander will hand these over through a secure channel (password manager / vault), not email or chat.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874519"/>
            <a:ext cx="5486400" cy="4069080"/>
          </a:xfrm>
          <a:prstGeom prst="rect">
            <a:avLst/>
          </a:prstGeom>
          <a:solidFill>
            <a:srgbClr val="F4F2EF"/>
          </a:solidFill>
          <a:ln w="9525">
            <a:solidFill>
              <a:srgbClr val="C9C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029968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30">
                <a:solidFill>
                  <a:srgbClr val="D06643"/>
                </a:solidFill>
                <a:latin typeface="Söhne Halbfett"/>
                <a:cs typeface="Söhne Halbfett"/>
              </a:rPr>
              <a:t>SECRETS TO TRANSFER &amp; ROTATE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450592"/>
            <a:ext cx="50292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D06643"/>
                </a:solidFill>
                <a:latin typeface="Söhne Halbfett"/>
                <a:cs typeface="Söhne Halbfett"/>
              </a:rPr>
              <a:t>→  </a:t>
            </a:r>
            <a:r>
              <a:rPr sz="1100" b="1" i="0">
                <a:solidFill>
                  <a:srgbClr val="0E1430"/>
                </a:solidFill>
                <a:latin typeface="Söhne Halbfett"/>
                <a:cs typeface="Söhne Halbfett"/>
              </a:rPr>
              <a:t>SESSION_SECRET — </a:t>
            </a:r>
            <a:r>
              <a:rPr sz="1100" b="0" i="0">
                <a:solidFill>
                  <a:srgbClr val="4A5170"/>
                </a:solidFill>
                <a:latin typeface="Söhne"/>
                <a:cs typeface="Söhne"/>
              </a:rPr>
              <a:t>generate a brand-new random value on the new host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D06643"/>
                </a:solidFill>
                <a:latin typeface="Söhne Halbfett"/>
                <a:cs typeface="Söhne Halbfett"/>
              </a:rPr>
              <a:t>→  </a:t>
            </a:r>
            <a:r>
              <a:rPr sz="1100" b="1" i="0">
                <a:solidFill>
                  <a:srgbClr val="0E1430"/>
                </a:solidFill>
                <a:latin typeface="Söhne Halbfett"/>
                <a:cs typeface="Söhne Halbfett"/>
              </a:rPr>
              <a:t>CMC_API_KEY — </a:t>
            </a:r>
            <a:r>
              <a:rPr sz="1100" b="0" i="0">
                <a:solidFill>
                  <a:srgbClr val="4A5170"/>
                </a:solidFill>
                <a:latin typeface="Söhne"/>
                <a:cs typeface="Söhne"/>
              </a:rPr>
              <a:t>register Teroxx's own CoinMarketCap account &amp; key; stop using the shared default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D06643"/>
                </a:solidFill>
                <a:latin typeface="Söhne Halbfett"/>
                <a:cs typeface="Söhne Halbfett"/>
              </a:rPr>
              <a:t>→  </a:t>
            </a:r>
            <a:r>
              <a:rPr sz="1100" b="1" i="0">
                <a:solidFill>
                  <a:srgbClr val="0E1430"/>
                </a:solidFill>
                <a:latin typeface="Söhne Halbfett"/>
                <a:cs typeface="Söhne Halbfett"/>
              </a:rPr>
              <a:t>COINGECKO_API_KEY — </a:t>
            </a:r>
            <a:r>
              <a:rPr sz="1100" b="0" i="0">
                <a:solidFill>
                  <a:srgbClr val="4A5170"/>
                </a:solidFill>
                <a:latin typeface="Söhne"/>
                <a:cs typeface="Söhne"/>
              </a:rPr>
              <a:t>register Teroxx's own CoinGecko key; stop using the personal one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D06643"/>
                </a:solidFill>
                <a:latin typeface="Söhne Halbfett"/>
                <a:cs typeface="Söhne Halbfett"/>
              </a:rPr>
              <a:t>→  </a:t>
            </a:r>
            <a:r>
              <a:rPr sz="1100" b="1" i="0">
                <a:solidFill>
                  <a:srgbClr val="0E1430"/>
                </a:solidFill>
                <a:latin typeface="Söhne Halbfett"/>
                <a:cs typeface="Söhne Halbfett"/>
              </a:rPr>
              <a:t>Google service account — </a:t>
            </a:r>
            <a:r>
              <a:rPr sz="1100" b="0" i="0">
                <a:solidFill>
                  <a:srgbClr val="4A5170"/>
                </a:solidFill>
                <a:latin typeface="Söhne"/>
                <a:cs typeface="Söhne"/>
              </a:rPr>
              <a:t>re-issue under Teroxx Workspace; share the Drive folder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D06643"/>
                </a:solidFill>
                <a:latin typeface="Söhne Halbfett"/>
                <a:cs typeface="Söhne Halbfett"/>
              </a:rPr>
              <a:t>→  </a:t>
            </a:r>
            <a:r>
              <a:rPr sz="1100" b="1" i="0">
                <a:solidFill>
                  <a:srgbClr val="0E1430"/>
                </a:solidFill>
                <a:latin typeface="Söhne Halbfett"/>
                <a:cs typeface="Söhne Halbfett"/>
              </a:rPr>
              <a:t>Repo access — </a:t>
            </a:r>
            <a:r>
              <a:rPr sz="1100" b="0" i="0">
                <a:solidFill>
                  <a:srgbClr val="4A5170"/>
                </a:solidFill>
                <a:latin typeface="Söhne"/>
                <a:cs typeface="Söhne"/>
              </a:rPr>
              <a:t>transfer GitLab ownership to IT; retire the personal GitHub mirror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D06643"/>
                </a:solidFill>
                <a:latin typeface="Söhne Halbfett"/>
                <a:cs typeface="Söhne Halbfett"/>
              </a:rPr>
              <a:t>→  </a:t>
            </a:r>
            <a:r>
              <a:rPr sz="1100" b="1" i="0">
                <a:solidFill>
                  <a:srgbClr val="0E1430"/>
                </a:solidFill>
                <a:latin typeface="Söhne Halbfett"/>
                <a:cs typeface="Söhne Halbfett"/>
              </a:rPr>
              <a:t>Render account — </a:t>
            </a:r>
            <a:r>
              <a:rPr sz="1100" b="0" i="0">
                <a:solidFill>
                  <a:srgbClr val="4A5170"/>
                </a:solidFill>
                <a:latin typeface="Söhne"/>
                <a:cs typeface="Söhne"/>
              </a:rPr>
              <a:t>hand over or rebuild; then delete the personal deployment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45352" y="1874519"/>
            <a:ext cx="5394960" cy="4069080"/>
          </a:xfrm>
          <a:prstGeom prst="rect">
            <a:avLst/>
          </a:prstGeom>
          <a:solidFill>
            <a:srgbClr val="F0F5F7"/>
          </a:solidFill>
          <a:ln w="9525">
            <a:solidFill>
              <a:srgbClr val="0B68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2029968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30">
                <a:solidFill>
                  <a:srgbClr val="0B688C"/>
                </a:solidFill>
                <a:latin typeface="Söhne Halbfett"/>
                <a:cs typeface="Söhne Halbfett"/>
              </a:rPr>
              <a:t>MOVING EXISTING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450592"/>
            <a:ext cx="493776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A5170"/>
                </a:solidFill>
                <a:latin typeface="Söhne"/>
                <a:cs typeface="Söhne"/>
              </a:rPr>
              <a:t>Because the current deployment uses ephemeral SQLite, there is likely </a:t>
            </a:r>
            <a:r>
              <a:rPr sz="1200" b="1" i="0">
                <a:solidFill>
                  <a:srgbClr val="0E1430"/>
                </a:solidFill>
                <a:latin typeface="Söhne Halbfett"/>
                <a:cs typeface="Söhne Halbfett"/>
              </a:rPr>
              <a:t>little or no durable client data</a:t>
            </a:r>
            <a:r>
              <a:rPr sz="1200" b="0" i="0">
                <a:solidFill>
                  <a:srgbClr val="4A5170"/>
                </a:solidFill>
                <a:latin typeface="Söhne"/>
                <a:cs typeface="Söhne"/>
              </a:rPr>
              <a:t> to migrate — clients are typically re-entered as needed.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500" b="0" i="0">
                <a:solidFill>
                  <a:srgbClr val="4A5170"/>
                </a:solidFill>
                <a:latin typeface="Söhne"/>
                <a:cs typeface="Söhne"/>
              </a:rPr>
              <a:t/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E1430"/>
                </a:solidFill>
                <a:latin typeface="Söhne Halbfett"/>
                <a:cs typeface="Söhne Halbfett"/>
              </a:rPr>
              <a:t>If any records must be preserved: </a:t>
            </a:r>
            <a:r>
              <a:rPr sz="1200" b="0" i="0">
                <a:solidFill>
                  <a:srgbClr val="4A5170"/>
                </a:solidFill>
                <a:latin typeface="Söhne"/>
                <a:cs typeface="Söhne"/>
              </a:rPr>
              <a:t>export the current SQLite tables (Client, ClientLot, Scenario) and import them into the new Postgres before cut-over. The schema is identical — SQLAlchemy creates it automatically.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500" b="0" i="0">
                <a:solidFill>
                  <a:srgbClr val="4A5170"/>
                </a:solidFill>
                <a:latin typeface="Söhne"/>
                <a:cs typeface="Söhne"/>
              </a:rPr>
              <a:t/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A8A4A"/>
                </a:solidFill>
                <a:latin typeface="Söhne Halbfett"/>
                <a:cs typeface="Söhne Halbfett"/>
              </a:rPr>
              <a:t>Going forward: </a:t>
            </a:r>
            <a:r>
              <a:rPr sz="1200" b="0" i="0">
                <a:solidFill>
                  <a:srgbClr val="4A5170"/>
                </a:solidFill>
                <a:latin typeface="Söhne"/>
                <a:cs typeface="Söhne"/>
              </a:rPr>
              <a:t>with managed Postgres, enable automated daily backups. Client data then survives restarts and is recoverable.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0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060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27432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0" b="0" i="0">
                <a:solidFill>
                  <a:srgbClr val="D06643"/>
                </a:solidFill>
                <a:latin typeface="Sometimes Times Medium"/>
                <a:cs typeface="Sometimes Times Medium"/>
              </a:rPr>
              <a:t>5</a:t>
            </a:r>
          </a:p>
        </p:txBody>
      </p:sp>
      <p:sp>
        <p:nvSpPr>
          <p:cNvPr id="5" name="Rectangle 4"/>
          <p:cNvSpPr/>
          <p:nvPr/>
        </p:nvSpPr>
        <p:spPr>
          <a:xfrm>
            <a:off x="4480560" y="2286000"/>
            <a:ext cx="31750" cy="2194560"/>
          </a:xfrm>
          <a:prstGeom prst="rect">
            <a:avLst/>
          </a:prstGeom>
          <a:solidFill>
            <a:srgbClr val="D066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00600" y="2331720"/>
            <a:ext cx="6858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 i="0">
                <a:solidFill>
                  <a:srgbClr val="FFFFFF"/>
                </a:solidFill>
                <a:latin typeface="Sometimes Times Medium"/>
                <a:cs typeface="Sometimes Times Medium"/>
              </a:rPr>
              <a:t>Ownership &amp; handover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28032" y="3703320"/>
            <a:ext cx="66751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D06643"/>
                </a:solidFill>
                <a:latin typeface="Söhne Halbfett"/>
                <a:cs typeface="Söhne Halbfett"/>
              </a:rPr>
              <a:t>—  </a:t>
            </a:r>
            <a:r>
              <a:rPr sz="1400" b="0" i="0">
                <a:solidFill>
                  <a:srgbClr val="ECE8E5"/>
                </a:solidFill>
                <a:latin typeface="Söhne"/>
                <a:cs typeface="Söhne"/>
              </a:rPr>
              <a:t>Who owns what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D06643"/>
                </a:solidFill>
                <a:latin typeface="Söhne Halbfett"/>
                <a:cs typeface="Söhne Halbfett"/>
              </a:rPr>
              <a:t>—  </a:t>
            </a:r>
            <a:r>
              <a:rPr sz="1400" b="0" i="0">
                <a:solidFill>
                  <a:srgbClr val="ECE8E5"/>
                </a:solidFill>
                <a:latin typeface="Söhne"/>
                <a:cs typeface="Söhne"/>
              </a:rPr>
              <a:t>First-week checklist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D06643"/>
                </a:solidFill>
                <a:latin typeface="Söhne Halbfett"/>
                <a:cs typeface="Söhne Halbfett"/>
              </a:rPr>
              <a:t>—  </a:t>
            </a:r>
            <a:r>
              <a:rPr sz="1400" b="0" i="0">
                <a:solidFill>
                  <a:srgbClr val="ECE8E5"/>
                </a:solidFill>
                <a:latin typeface="Söhne"/>
                <a:cs typeface="Söhne"/>
              </a:rPr>
              <a:t>Contacts &amp; references</a:t>
            </a:r>
          </a:p>
        </p:txBody>
      </p:sp>
      <p:pic>
        <p:nvPicPr>
          <p:cNvPr id="8" name="Picture 7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6172200"/>
            <a:ext cx="1036320" cy="31089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828032" y="1783080"/>
            <a:ext cx="1737360" cy="329184"/>
          </a:xfrm>
          <a:prstGeom prst="rect">
            <a:avLst/>
          </a:prstGeom>
          <a:noFill/>
          <a:ln w="15875">
            <a:solidFill>
              <a:srgbClr val="BFB3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28032" y="1783080"/>
            <a:ext cx="17373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50">
                <a:solidFill>
                  <a:srgbClr val="BFB3A8"/>
                </a:solidFill>
                <a:latin typeface="Söhne Halbfett"/>
                <a:cs typeface="Söhne Halbfett"/>
              </a:rPr>
              <a:t>RESEARCH + IT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220">
                <a:solidFill>
                  <a:srgbClr val="0B688C"/>
                </a:solidFill>
                <a:latin typeface="Söhne Halbfett"/>
                <a:cs typeface="Söhne Halbfett"/>
              </a:rPr>
              <a:t>SECTION 5 · OWNERSHIP &amp; HANDOVER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0">
                <a:solidFill>
                  <a:srgbClr val="060D43"/>
                </a:solidFill>
                <a:latin typeface="Sometimes Times Medium"/>
                <a:cs typeface="Sometimes Times Medium"/>
              </a:rPr>
              <a:t>Who owns what, going forward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33856"/>
            <a:ext cx="11091672" cy="25400"/>
          </a:xfrm>
          <a:prstGeom prst="rect">
            <a:avLst/>
          </a:prstGeom>
          <a:solidFill>
            <a:srgbClr val="0B6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0" y="347472"/>
            <a:ext cx="1600200" cy="310896"/>
          </a:xfrm>
          <a:prstGeom prst="rect">
            <a:avLst/>
          </a:prstGeom>
          <a:noFill/>
          <a:ln w="15875">
            <a:solidFill>
              <a:srgbClr val="060D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347472"/>
            <a:ext cx="1600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50">
                <a:solidFill>
                  <a:srgbClr val="060D43"/>
                </a:solidFill>
                <a:latin typeface="Söhne Halbfett"/>
                <a:cs typeface="Söhne Halbfett"/>
              </a:rPr>
              <a:t>RESEARCH +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095AB"/>
                </a:solidFill>
                <a:latin typeface="Söhne"/>
                <a:cs typeface="Söhne"/>
              </a:rPr>
              <a:t>Teroxx  ·  Portfolio Allocation App — Handover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55664"/>
            <a:ext cx="1033271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095AB"/>
                </a:solidFill>
                <a:latin typeface="Söhne Halbfett"/>
                <a:cs typeface="Söhne Halbfett"/>
              </a:rPr>
              <a:t>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3258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170"/>
                </a:solidFill>
                <a:latin typeface="Söhne"/>
                <a:cs typeface="Söhne"/>
              </a:rPr>
              <a:t>A clean split: Research owns the content and daily use; IT owns the platform it runs 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965960"/>
            <a:ext cx="5486400" cy="3977639"/>
          </a:xfrm>
          <a:prstGeom prst="rect">
            <a:avLst/>
          </a:prstGeom>
          <a:solidFill>
            <a:srgbClr val="F4F2EF"/>
          </a:solidFill>
          <a:ln w="9525">
            <a:solidFill>
              <a:srgbClr val="0B68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965960"/>
            <a:ext cx="5486400" cy="566928"/>
          </a:xfrm>
          <a:prstGeom prst="rect">
            <a:avLst/>
          </a:prstGeom>
          <a:solidFill>
            <a:srgbClr val="0B6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1965960"/>
            <a:ext cx="5029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öhne Halbfett"/>
                <a:cs typeface="Söhne Halbfett"/>
              </a:rPr>
              <a:t>RESEARCH  —  Jannick &amp; Leonardo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743200"/>
            <a:ext cx="502920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200" b="1" i="0">
                <a:solidFill>
                  <a:srgbClr val="0B688C"/>
                </a:solidFill>
                <a:latin typeface="Söhne Halbfett"/>
                <a:cs typeface="Söhne Halbfett"/>
              </a:rPr>
              <a:t>—  </a:t>
            </a:r>
            <a:r>
              <a:rPr sz="1200" b="0" i="0">
                <a:solidFill>
                  <a:srgbClr val="0E1430"/>
                </a:solidFill>
                <a:latin typeface="Söhne"/>
                <a:cs typeface="Söhne"/>
              </a:rPr>
              <a:t>Day-to-day use: allocations, proposals, client reviews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200" b="1" i="0">
                <a:solidFill>
                  <a:srgbClr val="0B688C"/>
                </a:solidFill>
                <a:latin typeface="Söhne Halbfett"/>
                <a:cs typeface="Söhne Halbfett"/>
              </a:rPr>
              <a:t>—  </a:t>
            </a:r>
            <a:r>
              <a:rPr sz="1200" b="0" i="0">
                <a:solidFill>
                  <a:srgbClr val="0E1430"/>
                </a:solidFill>
                <a:latin typeface="Söhne"/>
                <a:cs typeface="Söhne"/>
              </a:rPr>
              <a:t>The model: universe, factor weights, tier rules, tilts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200" b="1" i="0">
                <a:solidFill>
                  <a:srgbClr val="0B688C"/>
                </a:solidFill>
                <a:latin typeface="Söhne Halbfett"/>
                <a:cs typeface="Söhne Halbfett"/>
              </a:rPr>
              <a:t>—  </a:t>
            </a:r>
            <a:r>
              <a:rPr sz="1200" b="0" i="0">
                <a:solidFill>
                  <a:srgbClr val="0E1430"/>
                </a:solidFill>
                <a:latin typeface="Söhne"/>
                <a:cs typeface="Söhne"/>
              </a:rPr>
              <a:t>Proposal content: narrative templates, EN/DE wording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200" b="1" i="0">
                <a:solidFill>
                  <a:srgbClr val="0B688C"/>
                </a:solidFill>
                <a:latin typeface="Söhne Halbfett"/>
                <a:cs typeface="Söhne Halbfett"/>
              </a:rPr>
              <a:t>—  </a:t>
            </a:r>
            <a:r>
              <a:rPr sz="1200" b="0" i="0">
                <a:solidFill>
                  <a:srgbClr val="0E1430"/>
                </a:solidFill>
                <a:latin typeface="Söhne"/>
                <a:cs typeface="Söhne"/>
              </a:rPr>
              <a:t>Deciding what changes are needed and prioritising them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200" b="1" i="0">
                <a:solidFill>
                  <a:srgbClr val="0B688C"/>
                </a:solidFill>
                <a:latin typeface="Söhne Halbfett"/>
                <a:cs typeface="Söhne Halbfett"/>
              </a:rPr>
              <a:t>—  </a:t>
            </a:r>
            <a:r>
              <a:rPr sz="1200" b="0" i="0">
                <a:solidFill>
                  <a:srgbClr val="0E1430"/>
                </a:solidFill>
                <a:latin typeface="Söhne"/>
                <a:cs typeface="Söhne"/>
              </a:rPr>
              <a:t>Adding / offboarding client records and advisor users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45352" y="1965960"/>
            <a:ext cx="5394960" cy="3977639"/>
          </a:xfrm>
          <a:prstGeom prst="rect">
            <a:avLst/>
          </a:prstGeom>
          <a:solidFill>
            <a:srgbClr val="F4F2EF"/>
          </a:solidFill>
          <a:ln w="9525">
            <a:solidFill>
              <a:srgbClr val="D066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45352" y="1965960"/>
            <a:ext cx="5394960" cy="566928"/>
          </a:xfrm>
          <a:prstGeom prst="rect">
            <a:avLst/>
          </a:prstGeom>
          <a:solidFill>
            <a:srgbClr val="D066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2" y="1965960"/>
            <a:ext cx="49377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öhne Halbfett"/>
                <a:cs typeface="Söhne Halbfett"/>
              </a:rPr>
              <a:t>IT  —  Emil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2743200"/>
            <a:ext cx="493776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200" b="1" i="0">
                <a:solidFill>
                  <a:srgbClr val="D06643"/>
                </a:solidFill>
                <a:latin typeface="Söhne Halbfett"/>
                <a:cs typeface="Söhne Halbfett"/>
              </a:rPr>
              <a:t>—  </a:t>
            </a:r>
            <a:r>
              <a:rPr sz="1200" b="0" i="0">
                <a:solidFill>
                  <a:srgbClr val="0E1430"/>
                </a:solidFill>
                <a:latin typeface="Söhne"/>
                <a:cs typeface="Söhne"/>
              </a:rPr>
              <a:t>The cloud host, the database and its backups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200" b="1" i="0">
                <a:solidFill>
                  <a:srgbClr val="D06643"/>
                </a:solidFill>
                <a:latin typeface="Söhne Halbfett"/>
                <a:cs typeface="Söhne Halbfett"/>
              </a:rPr>
              <a:t>—  </a:t>
            </a:r>
            <a:r>
              <a:rPr sz="1200" b="0" i="0">
                <a:solidFill>
                  <a:srgbClr val="0E1430"/>
                </a:solidFill>
                <a:latin typeface="Söhne"/>
                <a:cs typeface="Söhne"/>
              </a:rPr>
              <a:t>Secrets &amp; environment variables (rotation, storage)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200" b="1" i="0">
                <a:solidFill>
                  <a:srgbClr val="D06643"/>
                </a:solidFill>
                <a:latin typeface="Söhne Halbfett"/>
                <a:cs typeface="Söhne Halbfett"/>
              </a:rPr>
              <a:t>—  </a:t>
            </a:r>
            <a:r>
              <a:rPr sz="1200" b="0" i="0">
                <a:solidFill>
                  <a:srgbClr val="0E1430"/>
                </a:solidFill>
                <a:latin typeface="Söhne"/>
                <a:cs typeface="Söhne"/>
              </a:rPr>
              <a:t>The repo, CI/CD and deployments on push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200" b="1" i="0">
                <a:solidFill>
                  <a:srgbClr val="D06643"/>
                </a:solidFill>
                <a:latin typeface="Söhne Halbfett"/>
                <a:cs typeface="Söhne Halbfett"/>
              </a:rPr>
              <a:t>—  </a:t>
            </a:r>
            <a:r>
              <a:rPr sz="1200" b="0" i="0">
                <a:solidFill>
                  <a:srgbClr val="0E1430"/>
                </a:solidFill>
                <a:latin typeface="Söhne"/>
                <a:cs typeface="Söhne"/>
              </a:rPr>
              <a:t>Domain, TLS, uptime and monitoring /health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200" b="1" i="0">
                <a:solidFill>
                  <a:srgbClr val="D06643"/>
                </a:solidFill>
                <a:latin typeface="Söhne Halbfett"/>
                <a:cs typeface="Söhne Halbfett"/>
              </a:rPr>
              <a:t>—  </a:t>
            </a:r>
            <a:r>
              <a:rPr sz="1200" b="0" i="0">
                <a:solidFill>
                  <a:srgbClr val="0E1430"/>
                </a:solidFill>
                <a:latin typeface="Söhne"/>
                <a:cs typeface="Söhne"/>
              </a:rPr>
              <a:t>Applying code changes Research requests (or a dev)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220">
                <a:solidFill>
                  <a:srgbClr val="0B688C"/>
                </a:solidFill>
                <a:latin typeface="Söhne Halbfett"/>
                <a:cs typeface="Söhne Halbfett"/>
              </a:rPr>
              <a:t>SECTION 5 · OWNERSHIP &amp; HANDOVER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0">
                <a:solidFill>
                  <a:srgbClr val="060D43"/>
                </a:solidFill>
                <a:latin typeface="Sometimes Times Medium"/>
                <a:cs typeface="Sometimes Times Medium"/>
              </a:rPr>
              <a:t>First-week checklist &amp; key references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33856"/>
            <a:ext cx="11091672" cy="25400"/>
          </a:xfrm>
          <a:prstGeom prst="rect">
            <a:avLst/>
          </a:prstGeom>
          <a:solidFill>
            <a:srgbClr val="0B6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0" y="347472"/>
            <a:ext cx="1600200" cy="310896"/>
          </a:xfrm>
          <a:prstGeom prst="rect">
            <a:avLst/>
          </a:prstGeom>
          <a:noFill/>
          <a:ln w="15875">
            <a:solidFill>
              <a:srgbClr val="060D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347472"/>
            <a:ext cx="1600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50">
                <a:solidFill>
                  <a:srgbClr val="060D43"/>
                </a:solidFill>
                <a:latin typeface="Söhne Halbfett"/>
                <a:cs typeface="Söhne Halbfett"/>
              </a:rPr>
              <a:t>RESEARCH +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095AB"/>
                </a:solidFill>
                <a:latin typeface="Söhne"/>
                <a:cs typeface="Söhne"/>
              </a:rPr>
              <a:t>Teroxx  ·  Portfolio Allocation App — Handover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55664"/>
            <a:ext cx="1033271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095AB"/>
                </a:solidFill>
                <a:latin typeface="Söhne Halbfett"/>
                <a:cs typeface="Söhne Halbfett"/>
              </a:rPr>
              <a:t>20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371600"/>
            <a:ext cx="5486400" cy="4572000"/>
          </a:xfrm>
          <a:prstGeom prst="rect">
            <a:avLst/>
          </a:prstGeom>
          <a:solidFill>
            <a:srgbClr val="F0F5F7"/>
          </a:solidFill>
          <a:ln w="9525">
            <a:solidFill>
              <a:srgbClr val="0B68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536192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30">
                <a:solidFill>
                  <a:srgbClr val="0B688C"/>
                </a:solidFill>
                <a:latin typeface="Söhne Halbfett"/>
                <a:cs typeface="Söhne Halbfett"/>
              </a:rPr>
              <a:t>FIRST WEEK — IN ORDER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993392"/>
            <a:ext cx="502920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850"/>
              </a:spcAft>
            </a:pPr>
            <a:r>
              <a:rPr sz="1150" b="1" i="0">
                <a:solidFill>
                  <a:srgbClr val="060D43"/>
                </a:solidFill>
                <a:latin typeface="Söhne Halbfett"/>
                <a:cs typeface="Söhne Halbfett"/>
              </a:rPr>
              <a:t>☐  </a:t>
            </a:r>
            <a:r>
              <a:rPr sz="1150" b="0" i="0">
                <a:solidFill>
                  <a:srgbClr val="0E1430"/>
                </a:solidFill>
                <a:latin typeface="Söhne"/>
                <a:cs typeface="Söhne"/>
              </a:rPr>
              <a:t>IT takes ownership of the GitLab repo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50"/>
              </a:spcAft>
            </a:pPr>
            <a:r>
              <a:rPr sz="1150" b="1" i="0">
                <a:solidFill>
                  <a:srgbClr val="060D43"/>
                </a:solidFill>
                <a:latin typeface="Söhne Halbfett"/>
                <a:cs typeface="Söhne Halbfett"/>
              </a:rPr>
              <a:t>☐  </a:t>
            </a:r>
            <a:r>
              <a:rPr sz="1150" b="0" i="0">
                <a:solidFill>
                  <a:srgbClr val="0E1430"/>
                </a:solidFill>
                <a:latin typeface="Söhne"/>
                <a:cs typeface="Söhne"/>
              </a:rPr>
              <a:t>Provision Postgres + container host (Section 4)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50"/>
              </a:spcAft>
            </a:pPr>
            <a:r>
              <a:rPr sz="1150" b="1" i="0">
                <a:solidFill>
                  <a:srgbClr val="060D43"/>
                </a:solidFill>
                <a:latin typeface="Söhne Halbfett"/>
                <a:cs typeface="Söhne Halbfett"/>
              </a:rPr>
              <a:t>☐  </a:t>
            </a:r>
            <a:r>
              <a:rPr sz="1150" b="0" i="0">
                <a:solidFill>
                  <a:srgbClr val="0E1430"/>
                </a:solidFill>
                <a:latin typeface="Söhne"/>
                <a:cs typeface="Söhne"/>
              </a:rPr>
              <a:t>Securely receive &amp; set the secrets; rotate keys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50"/>
              </a:spcAft>
            </a:pPr>
            <a:r>
              <a:rPr sz="1150" b="1" i="0">
                <a:solidFill>
                  <a:srgbClr val="060D43"/>
                </a:solidFill>
                <a:latin typeface="Söhne Halbfett"/>
                <a:cs typeface="Söhne Halbfett"/>
              </a:rPr>
              <a:t>☐  </a:t>
            </a:r>
            <a:r>
              <a:rPr sz="1150" b="0" i="0">
                <a:solidFill>
                  <a:srgbClr val="0E1430"/>
                </a:solidFill>
                <a:latin typeface="Söhne"/>
                <a:cs typeface="Söhne"/>
              </a:rPr>
              <a:t>Deploy; verify /health, login, a test PDF proposal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50"/>
              </a:spcAft>
            </a:pPr>
            <a:r>
              <a:rPr sz="1150" b="1" i="0">
                <a:solidFill>
                  <a:srgbClr val="060D43"/>
                </a:solidFill>
                <a:latin typeface="Söhne Halbfett"/>
                <a:cs typeface="Söhne Halbfett"/>
              </a:rPr>
              <a:t>☐  </a:t>
            </a:r>
            <a:r>
              <a:rPr sz="1150" b="0" i="0">
                <a:solidFill>
                  <a:srgbClr val="0E1430"/>
                </a:solidFill>
                <a:latin typeface="Söhne"/>
                <a:cs typeface="Söhne"/>
              </a:rPr>
              <a:t>Map a Teroxx domain + TLS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50"/>
              </a:spcAft>
            </a:pPr>
            <a:r>
              <a:rPr sz="1150" b="1" i="0">
                <a:solidFill>
                  <a:srgbClr val="060D43"/>
                </a:solidFill>
                <a:latin typeface="Söhne Halbfett"/>
                <a:cs typeface="Söhne Halbfett"/>
              </a:rPr>
              <a:t>☐  </a:t>
            </a:r>
            <a:r>
              <a:rPr sz="1150" b="0" i="0">
                <a:solidFill>
                  <a:srgbClr val="0E1430"/>
                </a:solidFill>
                <a:latin typeface="Söhne"/>
                <a:cs typeface="Söhne"/>
              </a:rPr>
              <a:t>Add Emil's login; confirm Research can log in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50"/>
              </a:spcAft>
            </a:pPr>
            <a:r>
              <a:rPr sz="1150" b="1" i="0">
                <a:solidFill>
                  <a:srgbClr val="060D43"/>
                </a:solidFill>
                <a:latin typeface="Söhne Halbfett"/>
                <a:cs typeface="Söhne Halbfett"/>
              </a:rPr>
              <a:t>☐  </a:t>
            </a:r>
            <a:r>
              <a:rPr sz="1150" b="0" i="0">
                <a:solidFill>
                  <a:srgbClr val="0E1430"/>
                </a:solidFill>
                <a:latin typeface="Söhne"/>
                <a:cs typeface="Söhne"/>
              </a:rPr>
              <a:t>Cut over, then suspend the personal Render app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50"/>
              </a:spcAft>
            </a:pPr>
            <a:r>
              <a:rPr sz="1150" b="1" i="0">
                <a:solidFill>
                  <a:srgbClr val="060D43"/>
                </a:solidFill>
                <a:latin typeface="Söhne Halbfett"/>
                <a:cs typeface="Söhne Halbfett"/>
              </a:rPr>
              <a:t>☐  </a:t>
            </a:r>
            <a:r>
              <a:rPr sz="1150" b="0" i="0">
                <a:solidFill>
                  <a:srgbClr val="0E1430"/>
                </a:solidFill>
                <a:latin typeface="Söhne"/>
                <a:cs typeface="Söhne"/>
              </a:rPr>
              <a:t>Turn on database backups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5352" y="1371600"/>
            <a:ext cx="5394960" cy="4572000"/>
          </a:xfrm>
          <a:prstGeom prst="rect">
            <a:avLst/>
          </a:prstGeom>
          <a:solidFill>
            <a:srgbClr val="F4F2EF"/>
          </a:solidFill>
          <a:ln w="9525">
            <a:solidFill>
              <a:srgbClr val="C9C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536192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30">
                <a:solidFill>
                  <a:srgbClr val="D06643"/>
                </a:solidFill>
                <a:latin typeface="Söhne Halbfett"/>
                <a:cs typeface="Söhne Halbfett"/>
              </a:rPr>
              <a:t>KEY FILES IN THE REPO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1993392"/>
            <a:ext cx="493776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850"/>
              </a:spcAft>
            </a:pPr>
            <a:r>
              <a:rPr sz="1150" b="1" i="0">
                <a:solidFill>
                  <a:srgbClr val="060D43"/>
                </a:solidFill>
                <a:latin typeface="Söhne Halbfett"/>
                <a:cs typeface="Söhne Halbfett"/>
              </a:rPr>
              <a:t>Dockerfile</a:t>
            </a:r>
            <a:r>
              <a:rPr sz="1100" b="0" i="0">
                <a:solidFill>
                  <a:srgbClr val="4A5170"/>
                </a:solidFill>
                <a:latin typeface="Söhne"/>
                <a:cs typeface="Söhne"/>
              </a:rPr>
              <a:t>   the entire runtime recipe</a:t>
            </a:r>
          </a:p>
          <a:p>
            <a:pPr>
              <a:lnSpc>
                <a:spcPct val="110000"/>
              </a:lnSpc>
              <a:spcAft>
                <a:spcPts val="850"/>
              </a:spcAft>
            </a:pPr>
            <a:r>
              <a:rPr sz="1150" b="1" i="0">
                <a:solidFill>
                  <a:srgbClr val="060D43"/>
                </a:solidFill>
                <a:latin typeface="Söhne Halbfett"/>
                <a:cs typeface="Söhne Halbfett"/>
              </a:rPr>
              <a:t>render.yaml</a:t>
            </a:r>
            <a:r>
              <a:rPr sz="1100" b="0" i="0">
                <a:solidFill>
                  <a:srgbClr val="4A5170"/>
                </a:solidFill>
                <a:latin typeface="Söhne"/>
                <a:cs typeface="Söhne"/>
              </a:rPr>
              <a:t>   current deploy config &amp; env keys</a:t>
            </a:r>
          </a:p>
          <a:p>
            <a:pPr>
              <a:lnSpc>
                <a:spcPct val="110000"/>
              </a:lnSpc>
              <a:spcAft>
                <a:spcPts val="850"/>
              </a:spcAft>
            </a:pPr>
            <a:r>
              <a:rPr sz="1150" b="1" i="0">
                <a:solidFill>
                  <a:srgbClr val="060D43"/>
                </a:solidFill>
                <a:latin typeface="Söhne Halbfett"/>
                <a:cs typeface="Söhne Halbfett"/>
              </a:rPr>
              <a:t>requirements.txt</a:t>
            </a:r>
            <a:r>
              <a:rPr sz="1100" b="0" i="0">
                <a:solidFill>
                  <a:srgbClr val="4A5170"/>
                </a:solidFill>
                <a:latin typeface="Söhne"/>
                <a:cs typeface="Söhne"/>
              </a:rPr>
              <a:t>   Python dependencies</a:t>
            </a:r>
          </a:p>
          <a:p>
            <a:pPr>
              <a:lnSpc>
                <a:spcPct val="110000"/>
              </a:lnSpc>
              <a:spcAft>
                <a:spcPts val="850"/>
              </a:spcAft>
            </a:pPr>
            <a:r>
              <a:rPr sz="1150" b="1" i="0">
                <a:solidFill>
                  <a:srgbClr val="060D43"/>
                </a:solidFill>
                <a:latin typeface="Söhne Halbfett"/>
                <a:cs typeface="Söhne Halbfett"/>
              </a:rPr>
              <a:t>app/db.py</a:t>
            </a:r>
            <a:r>
              <a:rPr sz="1100" b="0" i="0">
                <a:solidFill>
                  <a:srgbClr val="4A5170"/>
                </a:solidFill>
                <a:latin typeface="Söhne"/>
                <a:cs typeface="Söhne"/>
              </a:rPr>
              <a:t>   database models &amp; connection logic</a:t>
            </a:r>
          </a:p>
          <a:p>
            <a:pPr>
              <a:lnSpc>
                <a:spcPct val="110000"/>
              </a:lnSpc>
              <a:spcAft>
                <a:spcPts val="850"/>
              </a:spcAft>
            </a:pPr>
            <a:r>
              <a:rPr sz="1150" b="1" i="0">
                <a:solidFill>
                  <a:srgbClr val="060D43"/>
                </a:solidFill>
                <a:latin typeface="Söhne Halbfett"/>
                <a:cs typeface="Söhne Halbfett"/>
              </a:rPr>
              <a:t>app/auth.py</a:t>
            </a:r>
            <a:r>
              <a:rPr sz="1100" b="0" i="0">
                <a:solidFill>
                  <a:srgbClr val="4A5170"/>
                </a:solidFill>
                <a:latin typeface="Söhne"/>
                <a:cs typeface="Söhne"/>
              </a:rPr>
              <a:t>   users &amp; session secret</a:t>
            </a:r>
          </a:p>
          <a:p>
            <a:pPr>
              <a:lnSpc>
                <a:spcPct val="110000"/>
              </a:lnSpc>
              <a:spcAft>
                <a:spcPts val="850"/>
              </a:spcAft>
            </a:pPr>
            <a:r>
              <a:rPr sz="1150" b="1" i="0">
                <a:solidFill>
                  <a:srgbClr val="060D43"/>
                </a:solidFill>
                <a:latin typeface="Söhne Halbfett"/>
                <a:cs typeface="Söhne Halbfett"/>
              </a:rPr>
              <a:t>app/main.py</a:t>
            </a:r>
            <a:r>
              <a:rPr sz="1100" b="0" i="0">
                <a:solidFill>
                  <a:srgbClr val="4A5170"/>
                </a:solidFill>
                <a:latin typeface="Söhne"/>
                <a:cs typeface="Söhne"/>
              </a:rPr>
              <a:t>   all routes / the API surface</a:t>
            </a:r>
          </a:p>
          <a:p>
            <a:pPr>
              <a:lnSpc>
                <a:spcPct val="110000"/>
              </a:lnSpc>
              <a:spcAft>
                <a:spcPts val="850"/>
              </a:spcAft>
            </a:pPr>
            <a:r>
              <a:rPr sz="1150" b="1" i="0">
                <a:solidFill>
                  <a:srgbClr val="060D43"/>
                </a:solidFill>
                <a:latin typeface="Söhne Halbfett"/>
                <a:cs typeface="Söhne Halbfett"/>
              </a:rPr>
              <a:t>app/pdf/</a:t>
            </a:r>
            <a:r>
              <a:rPr sz="1100" b="0" i="0">
                <a:solidFill>
                  <a:srgbClr val="4A5170"/>
                </a:solidFill>
                <a:latin typeface="Söhne"/>
                <a:cs typeface="Söhne"/>
              </a:rPr>
              <a:t>   the proposal (DOCX/PDF/GDoc) engine</a:t>
            </a:r>
          </a:p>
          <a:p>
            <a:pPr>
              <a:lnSpc>
                <a:spcPct val="110000"/>
              </a:lnSpc>
              <a:spcAft>
                <a:spcPts val="850"/>
              </a:spcAft>
            </a:pPr>
            <a:r>
              <a:rPr sz="1150" b="1" i="0">
                <a:solidFill>
                  <a:srgbClr val="060D43"/>
                </a:solidFill>
                <a:latin typeface="Söhne Halbfett"/>
                <a:cs typeface="Söhne Halbfett"/>
              </a:rPr>
              <a:t>CLAUDE.md</a:t>
            </a:r>
            <a:r>
              <a:rPr sz="1100" b="0" i="0">
                <a:solidFill>
                  <a:srgbClr val="4A5170"/>
                </a:solidFill>
                <a:latin typeface="Söhne"/>
                <a:cs typeface="Söhne"/>
              </a:rPr>
              <a:t>   in-repo notes &amp; design decisions</a:t>
            </a:r>
          </a:p>
          <a:p>
            <a:pPr>
              <a:lnSpc>
                <a:spcPct val="110000"/>
              </a:lnSpc>
              <a:spcAft>
                <a:spcPts val="850"/>
              </a:spcAft>
            </a:pPr>
            <a:r>
              <a:rPr sz="1150" b="1" i="0">
                <a:solidFill>
                  <a:srgbClr val="060D43"/>
                </a:solidFill>
                <a:latin typeface="Söhne Halbfett"/>
                <a:cs typeface="Söhne Halbfett"/>
              </a:rPr>
              <a:t>handover/</a:t>
            </a:r>
            <a:r>
              <a:rPr sz="1100" b="0" i="0">
                <a:solidFill>
                  <a:srgbClr val="4A5170"/>
                </a:solidFill>
                <a:latin typeface="Söhne"/>
                <a:cs typeface="Söhne"/>
              </a:rPr>
              <a:t>   this deck + companion runbook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0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97680"/>
            <a:ext cx="12191695" cy="2560320"/>
          </a:xfrm>
          <a:prstGeom prst="rect">
            <a:avLst/>
          </a:prstGeom>
          <a:solidFill>
            <a:srgbClr val="060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371600"/>
            <a:ext cx="1554480" cy="38100"/>
          </a:xfrm>
          <a:prstGeom prst="rect">
            <a:avLst/>
          </a:prstGeom>
          <a:solidFill>
            <a:srgbClr val="D066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"/>
            <a:ext cx="15240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160020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4000" b="0" i="0">
                <a:solidFill>
                  <a:srgbClr val="FFFFFF"/>
                </a:solidFill>
                <a:latin typeface="Sometimes Times Medium"/>
                <a:cs typeface="Sometimes Times Medium"/>
              </a:rPr>
              <a:t>Thank you — over to you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ECE8E5"/>
                </a:solidFill>
                <a:latin typeface="Sometimes Times Medium"/>
                <a:cs typeface="Sometimes Times Medium"/>
              </a:rPr>
              <a:t>The app is small, self-contained and fully documented. Migrating it is a provision-and-deploy exercise, not a rewrite.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947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200">
                <a:solidFill>
                  <a:srgbClr val="BFB3A8"/>
                </a:solidFill>
                <a:latin typeface="Söhne Halbfett"/>
                <a:cs typeface="Söhne Halbfett"/>
              </a:rPr>
              <a:t>QUESTIONS DURING TRANSITION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72000"/>
            <a:ext cx="338327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 spc="100">
                <a:solidFill>
                  <a:srgbClr val="D06643"/>
                </a:solidFill>
                <a:latin typeface="Söhne Halbfett"/>
                <a:cs typeface="Söhne Halbfett"/>
              </a:rPr>
              <a:t>Handover from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öhne Halbfett"/>
                <a:cs typeface="Söhne Halbfett"/>
              </a:rPr>
              <a:t>Aleksander Biesaga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ECE8E5"/>
                </a:solidFill>
                <a:latin typeface="Söhne"/>
                <a:cs typeface="Söhne"/>
              </a:rPr>
              <a:t>aleksander.biesaga@teroxx.com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4572000"/>
            <a:ext cx="338327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 spc="100">
                <a:solidFill>
                  <a:srgbClr val="D06643"/>
                </a:solidFill>
                <a:latin typeface="Söhne Halbfett"/>
                <a:cs typeface="Söhne Halbfett"/>
              </a:rPr>
              <a:t>Research owners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öhne Halbfett"/>
                <a:cs typeface="Söhne Halbfett"/>
              </a:rPr>
              <a:t>Jannick Broering · Leonardo Larieira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ECE8E5"/>
                </a:solidFill>
                <a:latin typeface="Söhne"/>
                <a:cs typeface="Söhne"/>
              </a:rPr>
              <a:t>product &amp; daily 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4572000"/>
            <a:ext cx="338327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 spc="100">
                <a:solidFill>
                  <a:srgbClr val="D06643"/>
                </a:solidFill>
                <a:latin typeface="Söhne Halbfett"/>
                <a:cs typeface="Söhne Halbfett"/>
              </a:rPr>
              <a:t>IT owner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öhne Halbfett"/>
                <a:cs typeface="Söhne Halbfett"/>
              </a:rPr>
              <a:t>Emil Jorgensen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ECE8E5"/>
                </a:solidFill>
                <a:latin typeface="Söhne"/>
                <a:cs typeface="Söhne"/>
              </a:rPr>
              <a:t>platform &amp; deployment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35508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095AB"/>
                </a:solidFill>
                <a:latin typeface="Söhne"/>
                <a:cs typeface="Söhne"/>
              </a:rPr>
              <a:t>Teroxx  ·  Portfolio Allocation App  ·  Handover  ·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