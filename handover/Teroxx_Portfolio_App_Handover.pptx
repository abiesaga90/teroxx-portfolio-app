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1554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58496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BFB3A8"/>
                </a:solidFill>
                <a:latin typeface="Söhne Halbfett"/>
                <a:cs typeface="Söhne Halbfett"/>
              </a:rPr>
              <a:t>PROJECT HANDOVER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Portfolio Allocation App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ECE8E5"/>
                </a:solidFill>
                <a:latin typeface="Sometimes Times Medium"/>
                <a:cs typeface="Sometimes Times Medium"/>
              </a:rPr>
              <a:t>Status, architecture &amp; how to run it on Teroxx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öhne Kräftig"/>
                <a:cs typeface="Söhne Kräftig"/>
              </a:rPr>
              <a:t>Prepared by Aleksander Biesaga  —  Digital Assets, Teroxx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 spc="200">
                <a:solidFill>
                  <a:srgbClr val="BFB3A8"/>
                </a:solidFill>
                <a:latin typeface="Söhne Halbfett"/>
                <a:cs typeface="Söhne Halbfett"/>
              </a:rPr>
              <a:t>Handover 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CE8E5"/>
                </a:solidFill>
                <a:latin typeface="Söhne"/>
                <a:cs typeface="Söhne"/>
              </a:rPr>
              <a:t>Research — Jannick Broering, Leonardo Larieira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CE8E5"/>
                </a:solidFill>
                <a:latin typeface="Söhne"/>
                <a:cs typeface="Söhne"/>
              </a:rPr>
              <a:t>IT — Emil Jorgensen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095AB"/>
                </a:solidFill>
                <a:latin typeface="Söhne"/>
                <a:cs typeface="Söhne"/>
              </a:rPr>
              <a:t>Confidential — 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to read this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This one deck serves two audiences. 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Every slide is tagged so you can read only what is relevant to you — or read it all for the full picture.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5394960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03120"/>
            <a:ext cx="82296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8600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What the app does, the day-to-day workflow, the model, and where it lives. No code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5394960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82296" cy="141732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28600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Architecture, data, security, integrations, and a step-by-step runbook to redeploy on Teroxx-owned cloud.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00">
                <a:solidFill>
                  <a:srgbClr val="0B688C"/>
                </a:solidFill>
                <a:latin typeface="Söhne Halbfett"/>
                <a:cs typeface="Söhne Halbfett"/>
              </a:rPr>
              <a:t>WHAT'S INSIDE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33087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What the app does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Capabilities, workflow, the model &amp; data — plain language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177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902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Project status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What's live, known limitations, where it runs today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474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Architecture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Stack, data, security, the proposal engine, integrations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321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046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Standing it up on your cloud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Migration runbook, recommended path, credentials transfer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9893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9893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9618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Ownership &amp; handover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Who owns what, first-week checklist, contacts &amp;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What the app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Capabilities &amp; the advisor workflow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investable universes &amp; baskets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allocation model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Where the data comes from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FOR 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In one minute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430"/>
                </a:solidFill>
                <a:latin typeface="Söhne Halbfett"/>
                <a:cs typeface="Söhne Halbfett"/>
              </a:rPr>
              <a:t>The Portfolio Allocation App is the web version of Teroxx's Portfolio Allocation Model (v5.0). </a:t>
            </a:r>
            <a:r>
              <a:rPr sz="1450" b="0" i="0">
                <a:solidFill>
                  <a:srgbClr val="4A5170"/>
                </a:solidFill>
                <a:latin typeface="Söhne"/>
                <a:cs typeface="Söhne"/>
              </a:rPr>
              <a:t>An advisor picks a client's risk profile and investable universe; the app scores 79 crypto assets, builds a personalised allocation, tracks the live portfolio, and exports a fully branded client proposal as Word, PDF or Google Doc.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assets scored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multi-factor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4992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advisor tabs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allocate → propose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export formats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DOCX · PDF · GDoc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696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in daily use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by the advisory desk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97680"/>
            <a:ext cx="11091672" cy="1691640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297680"/>
            <a:ext cx="82296" cy="169164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480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D06643"/>
                </a:solidFill>
                <a:latin typeface="Söhne Halbfett"/>
                <a:cs typeface="Söhne Halbfett"/>
              </a:rPr>
              <a:t>WHY THIS HANDOVER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Today the app runs on Aleksander's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private personal Render account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. When that account goes away, so does the deployment. The goal of this handover is to move it onto Teroxx-owned cloud and Teroxx-owned credentials, with Research owning the content and IT owning the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eight advisor tabs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1732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41732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57276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Allocator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Risk profile + universe → target allocation table &amp; donut chart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41732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41732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41732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157276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Your Portfolio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Enter a portfolio value → position sizes with BUY actions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9748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69748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9748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" y="285292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Recurring Buys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DCA planner: scope, horizon, minimum order + backtest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269748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1344" y="269748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269748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285292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Factor Scores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5-factor model: weights, radar &amp; composite scores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97763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3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7763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413308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Fundamentals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10-factor fundamental model per asset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397763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81344" y="397763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397763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413308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Allocations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Risk tilts, strategic weights, per-asset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5779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25779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541324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Rebalancing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Current vs target → concrete BUY / SELL actions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525779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1344" y="525779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81344" y="525779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848" y="541324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P&amp;L Tracker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Entry price/qty → unrealised P&amp;L against live prices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From risk profile to client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everyday advisor journey — five steps, ending in a branded document ready to send.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35023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5023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Select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Choose the client, risk profile and investable 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57015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5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Allocate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1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app scores 79 assets and builds the target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3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2623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79007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9007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1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Check positions, rebalancing actions, P&amp;L and drift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7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14615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14615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1000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4343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Personalise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Add advisor notes, market view, execution plan (EN or 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59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36607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36607" y="2148840"/>
            <a:ext cx="2084831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22992" y="2423160"/>
            <a:ext cx="512064" cy="512064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22992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5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73767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One click → branded Word, PDF or Google Doc proposal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892040"/>
            <a:ext cx="11091672" cy="105156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4748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Faithful proposals:  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when the advisor hits export, the app freezes the exact on-screen allocation, so the document is a true record of what was reviewed — not a later recompute against moved market data. The Word file is the master; PDF and Google Doc are conversions of it, so the three can never drift apart.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selectable universes &amp; baskets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Before allocating, the advisor picks a starting list. Two kinds: the firm's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model portfolios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(broad, risk-tiered) or a single-theme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thematic basket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(index-style, 100% in-theme).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0B688C"/>
                </a:solidFill>
                <a:latin typeface="Söhne Halbfett"/>
                <a:cs typeface="Söhne Halbfett"/>
              </a:rPr>
              <a:t>MODEL PORTFOLIOS  —  pick 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94560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194560"/>
            <a:ext cx="82296" cy="1170432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0448" y="2340864"/>
            <a:ext cx="502920" cy="4572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340864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3134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Core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Live, active offering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51760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USDC · EURC · PAXG · BTC · ETH · BNB · XRP · ADA · POL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56432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56432"/>
            <a:ext cx="82296" cy="1170432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70448" y="3602736"/>
            <a:ext cx="502920" cy="4572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3602736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57530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Expanded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Confirmed MVP next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913631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Core + MNT, and DeFi/infra: AAVE · UNI · COMP · EUL · PENDLE · SYRUP · ENA · ONDO · LINK · QNT · CHZ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18304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718304"/>
            <a:ext cx="82296" cy="1170432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70448" y="4864608"/>
            <a:ext cx="502920" cy="45720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0448" y="4864608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83717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Extended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Full acquirable universe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175504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Expanded + majors &amp; research picks: SOL · HYPE · TRX · AVAX · DOT · ARB · SUI · RENDER · AKT · AR · VVV · AERO · LTC · BCH · DOGE 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D06643"/>
                </a:solidFill>
                <a:latin typeface="Söhne Halbfett"/>
                <a:cs typeface="Söhne Halbfett"/>
              </a:rPr>
              <a:t>THEMATIC BASKETS  —  index-style, in-theme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219456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21945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19456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DeFi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Lending, DEXs, perps &amp; yield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834639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34639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834639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Smart-Contract L1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L1 platforms &amp; settlement networks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347472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347472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474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AI &amp; Compute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Decentralised AI, GPU compute, storage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411480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11480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1148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RWA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Tokenised real-world assets &amp; treasuries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475488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475488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Layer 2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Ethereum scaling networks &amp; rollups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20840" y="539496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0" y="53949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539496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Payments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Established P2P payment networks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943600"/>
            <a:ext cx="11091672" cy="18288"/>
          </a:xfrm>
          <a:prstGeom prst="rect">
            <a:avLst/>
          </a:prstGeom>
          <a:solidFill>
            <a:srgbClr val="C9CCD9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01675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688C"/>
                </a:solidFill>
                <a:latin typeface="Söhne Halbfett"/>
                <a:cs typeface="Söhne Halbfett"/>
              </a:rPr>
              <a:t>Then choose: 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risk profile 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(Conservative · Balanced · Growth · Aggressive)  × 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allocation mode 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(Standard = market-cap weighted ·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Fundamental = factor-score weighted, the default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).   The full research model scores 79 tokens; the 40-token union is what the firm can acquire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the allocation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Every asset earns a score; scores drive tier weights; a macro overlay tilts risk up or down. All transparent and rules-based.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3575304" cy="566928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SCORE EACH ASSET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Value-accrual signals: valuation (FDV/fees, FDV/TVL), fee revenue, dilution, buybacks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Sector-tailored signals incl. price momentum &amp; developer activity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Every signal computed live from market &amp; on-chain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5669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BUILD THE TIERS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Assets sorted into strategic tiers (core → satellite)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Risk profile sets how much sits in each 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Defensive sleeve (stablecoins + gold hedge) for ballast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2011680"/>
            <a:ext cx="3575304" cy="5669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OVERLAY THE REGIME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22-indicator macro composite scores the market 0–100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Sentiment, TradFi, on-chain and technical signals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Tilts overall risk toward the current regime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Result: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 client-ready, risk-appropriate target allocation the advisor can explain line by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the numbers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app pulls live market data from six external sources. Only two need an API key; the other four are public. Prices are cached to stay fast and within rate limits.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CoinMarketCap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Spot prices, market cap, 24h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API key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5 min cache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CoinGecko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Fallback prices, dev activity, supply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Demo key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up to 24h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5008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Binance Futures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Funding rates, open interest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5 min cache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DeFiLlama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Protocol TVL, fees, DEX volume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2 h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06824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62856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Messari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Network transactions &amp; active addresses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62856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1 h cache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65008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Macro composite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Fear/greed, VIX, treasuries, BTC trend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mix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hysteresis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Action for IT: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CoinMarketCap and CoinGecko must run on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Teroxx-owned API keys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 — the app currently relies on shared / personal defaults. The four public sources need no key.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If a source is briefly down, the app retries with backoff and falls back to cached values — it degrades gracefully rather than breaking.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Project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What is live and working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Known limitations to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Where it runs today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RESEARCH +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2 · PROJECT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What's done, and what to 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solidFill>
            <a:srgbClr val="EFF6F0"/>
          </a:solidFill>
          <a:ln w="9525">
            <a:solidFill>
              <a:srgbClr val="1A8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1A8A4A"/>
                </a:solidFill>
                <a:latin typeface="Söhne Halbfett"/>
                <a:cs typeface="Söhne Halbfett"/>
              </a:rPr>
              <a:t>LIVE &amp;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8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Allocation engine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all 8 tabs, 79 assets, both scoring models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 CRM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clients, positions/lots, drift, scenarios, audit log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Proposal export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DOCX / PDF / Google Doc, EN + DE, fully branded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Live market data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6 sources with caching and graceful fallback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Auth &amp; audit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session login; every change logged by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Stable v1 API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token-authenticated client endpoints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Deployed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auto-deploys on every git push to 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371600"/>
            <a:ext cx="5394960" cy="4572000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D06643"/>
                </a:solidFill>
                <a:latin typeface="Söhne Halbfett"/>
                <a:cs typeface="Söhne Halbfett"/>
              </a:rPr>
              <a:t>KNOWN LIMITATIONS &amp; GOTCHAS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011680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Confirm the DB backend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the app supports managed Postgres via DATABASE_URL; verify in the Render dashboard, and put the Teroxx deployment on managed Postgres (Section 4).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No automated test suite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changes are verified manually in the UI.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Free-tier memory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vector charts are off to avoid out-of-memory on 512 MB; PNG charts used instead.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Google Docs geo-blocks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export must run from an allowed region; some servers get 403.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Secrets in repo config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 few keys sit in render.yaml; rotate them on migration.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2 · PROJECT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it lives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One running deployment, two code repositories. The deployment is the single point of failure this handover resolves.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5394960" cy="1874519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539496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94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D06643"/>
                </a:solidFill>
                <a:latin typeface="Söhne Halbfett"/>
                <a:cs typeface="Söhne Halbfett"/>
              </a:rPr>
              <a:t>RUNTIME  —  action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4203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E1430"/>
                </a:solidFill>
                <a:latin typeface="Söhne Halbfett"/>
                <a:cs typeface="Söhne Halbfett"/>
              </a:rPr>
              <a:t>Render.com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  ·  free web-service tier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Hosted on Aleksander's </a:t>
            </a:r>
            <a:r>
              <a:rPr sz="1200" b="1" i="0">
                <a:solidFill>
                  <a:srgbClr val="C0432A"/>
                </a:solidFill>
                <a:latin typeface="Söhne Halbfett"/>
                <a:cs typeface="Söhne Halbfett"/>
              </a:rPr>
              <a:t>private personal account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. Docker image built from the repo; auto-deploys on push. This must move to a Teroxx-owned account/cloud.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011680"/>
            <a:ext cx="5394960" cy="187451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2011680"/>
            <a:ext cx="539496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194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0B688C"/>
                </a:solidFill>
                <a:latin typeface="Söhne Halbfett"/>
                <a:cs typeface="Söhne Halbfett"/>
              </a:rPr>
              <a:t>SOURCE CODE  —  in good shape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54203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GitLab (Teroxx)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  — IT-created group; Aleksander is maintainer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GitHub (private)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  — personal mirror, to be retired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Full codebase is on GitLab (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main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+ import). IT owns deployment going forward.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14800"/>
            <a:ext cx="11091672" cy="182880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7939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0B688C"/>
                </a:solidFill>
                <a:latin typeface="Söhne Halbfett"/>
                <a:cs typeface="Söhne Halbfett"/>
              </a:rPr>
              <a:t>TO KEEP THE APP RUNNING AFTER MIGRATION, FOUR THINGS MUST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1 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Already on Teroxx GitLab — nothing to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2  A host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Any Docker-capable cloud (Section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3  A database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 Teroxx-managed Postgres (RDS); verify current backend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4  Credentials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API keys, session secret, Google service account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stack &amp; how it fits together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Data, security &amp; the proposal engine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environment-variable contract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the system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54480"/>
            <a:ext cx="1920240" cy="91440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Advisor's browser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HTMX + Chart.js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8288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095AB"/>
                </a:solidFill>
                <a:latin typeface="Söhne Fett"/>
                <a:cs typeface="Söhne Fett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417320"/>
            <a:ext cx="5852160" cy="4160520"/>
          </a:xfrm>
          <a:prstGeom prst="rect">
            <a:avLst/>
          </a:prstGeom>
          <a:solidFill>
            <a:srgbClr val="F4F2EF"/>
          </a:solidFill>
          <a:ln w="952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150876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060D43"/>
                </a:solidFill>
                <a:latin typeface="Söhne Halbfett"/>
                <a:cs typeface="Söhne Halbfett"/>
              </a:rPr>
              <a:t>DOCKER CONTAINER  —  the whole 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965960"/>
            <a:ext cx="5394960" cy="777240"/>
          </a:xfrm>
          <a:prstGeom prst="rect">
            <a:avLst/>
          </a:prstGeom>
          <a:solidFill>
            <a:srgbClr val="060D43"/>
          </a:solidFill>
          <a:ln w="952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057400"/>
            <a:ext cx="521208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FastAPI + Uvicorn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web server · routes · session auth · v1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852928"/>
            <a:ext cx="2606040" cy="868680"/>
          </a:xfrm>
          <a:prstGeom prst="rect">
            <a:avLst/>
          </a:prstGeom>
          <a:solidFill>
            <a:srgbClr val="0B688C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944368"/>
            <a:ext cx="2423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Allocation engine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scoring · DCA · rebalance · P&amp;L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852928"/>
            <a:ext cx="2606040" cy="868680"/>
          </a:xfrm>
          <a:prstGeom prst="rect">
            <a:avLst/>
          </a:prstGeom>
          <a:solidFill>
            <a:srgbClr val="0B688C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944368"/>
            <a:ext cx="2423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Proposal engine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DOCX master → PDF / GDoc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840480"/>
            <a:ext cx="2606040" cy="777240"/>
          </a:xfrm>
          <a:prstGeom prst="rect">
            <a:avLst/>
          </a:prstGeom>
          <a:solidFill>
            <a:srgbClr val="5C6FA1"/>
          </a:solidFill>
          <a:ln w="9525">
            <a:solidFill>
              <a:srgbClr val="5C6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931920"/>
            <a:ext cx="242316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Jinja templates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server-rendered HTML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3840480"/>
            <a:ext cx="2606040" cy="777240"/>
          </a:xfrm>
          <a:prstGeom prst="rect">
            <a:avLst/>
          </a:prstGeom>
          <a:solidFill>
            <a:srgbClr val="5C6FA1"/>
          </a:solidFill>
          <a:ln w="9525">
            <a:solidFill>
              <a:srgbClr val="5C6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931920"/>
            <a:ext cx="242316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LibreOffice + fonts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DOCX→PDF · Söhne baked 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4709160"/>
            <a:ext cx="5394960" cy="731520"/>
          </a:xfrm>
          <a:prstGeom prst="rect">
            <a:avLst/>
          </a:prstGeom>
          <a:solidFill>
            <a:srgbClr val="BFB3A8"/>
          </a:solidFill>
          <a:ln w="952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480060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In-memory caches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E1430"/>
                </a:solidFill>
                <a:latin typeface="Söhne"/>
                <a:cs typeface="Söhne"/>
              </a:rPr>
              <a:t>prices · macro · DeFi (warm on startup)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1554480"/>
            <a:ext cx="2331720" cy="868680"/>
          </a:xfrm>
          <a:prstGeom prst="rect">
            <a:avLst/>
          </a:prstGeom>
          <a:solidFill>
            <a:srgbClr val="0E1430"/>
          </a:solidFill>
          <a:ln w="9525">
            <a:solidFill>
              <a:srgbClr val="0E1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1645920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PostgreSQL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clients · lots · audit · snapshots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82880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095AB"/>
                </a:solidFill>
                <a:latin typeface="Söhne Fett"/>
                <a:cs typeface="Söhne Fett"/>
              </a:rPr>
              <a:t>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2697480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788920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Market data APIs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CMC · CoinGecko · Binance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295351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675888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3767328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On-chain 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DeFiLlama · Messari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93192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4654296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745736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Google Drive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Google Doc 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4910328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77900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No dependencies on other internal Teroxx systems</a:t>
            </a:r>
            <a:r>
              <a:rPr sz="1150" b="0" i="1">
                <a:solidFill>
                  <a:srgbClr val="4A5170"/>
                </a:solidFill>
                <a:latin typeface="Söhne"/>
                <a:cs typeface="Söhne"/>
              </a:rPr>
              <a:t> (confirmed with IT) — only outbound calls to public data APIs. Everything else ships inside one container image, which is what makes it portable to any cloud.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Data &amp;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SQLAlchemy ORM. The connection string is chosen at startup: </a:t>
            </a: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DATABASE_URL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(Postgres) → </a:t>
            </a: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TEROXX_DB_PATH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→ local SQLite → /tmp fallback.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548640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B688C"/>
                </a:solidFill>
                <a:latin typeface="Söhne Halbfett"/>
                <a:cs typeface="Söhne Halbfett"/>
              </a:rPr>
              <a:t>SIX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profile, domicile, currency, defaults, overrides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ClientLot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individual holdings: ticker, qty, entry price/date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AllocationSnapshot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frozen allocations behind each proposal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AdvisorAction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full audit trail: who did what, when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ApiToken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hashed tokens for the v1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Scenario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saved A/B allocation comparisons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1965960"/>
            <a:ext cx="5394960" cy="3977639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1214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B688C"/>
                </a:solidFill>
                <a:latin typeface="Söhne Halbfett"/>
                <a:cs typeface="Söhne Halbfett"/>
              </a:rPr>
              <a:t>CONFIRM THE 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42032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The app reads </a:t>
            </a: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DATABASE_URL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 at startup. If it points at a managed Postgres (likely set in the Render dashboard), data is durable. If it is unset, the app falls back to SQLite on Render's free tier, whose disk is </a:t>
            </a: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ephemeral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Action: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confirm the current backend in the Render dashboard. Client data is mostly test/throwaway, so this is not blocking — a fresh database is fine.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8A4A"/>
                </a:solidFill>
                <a:latin typeface="Söhne Halbfett"/>
                <a:cs typeface="Söhne Halbfett"/>
              </a:rPr>
              <a:t>For Teroxx: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deploy on a managed Postgres (RDS) with DATABASE_URL set, and enable backups. The code already supports it — no changes needed (step 2 of the runbook).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Access &amp; security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17320"/>
            <a:ext cx="3575304" cy="530352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WHO CAN LOG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Session-based login, no external identity provider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Four users today: Jannick, Leonardo, Aleksander, Christopher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Passwords stored salted + SHA-256 hashed in auth.py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Emil (IT) has no login yet — add on handover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417320"/>
            <a:ext cx="3575304" cy="530352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HOW SESSIONS ARE SIGNED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Signed cookies via SESSION_SECRET (7-day expiry)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Default dev secret MUST be overridden in production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Middleware guards all UI routes; /health &amp; static are open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Regenerate the secret on migration (logs everyone out once)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8" y="1417320"/>
            <a:ext cx="3575304" cy="530352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MACHINE ACCESS (v1 API)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Bearer tokens for /api/v1/* integrations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Tokens stored hashed; plaintext shown once at creation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Scoped (read / write / admin); revocable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Lost tokens can't be recovered — mint a new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Note for IT: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this is lightweight internal auth, adequate for a small trusted desk. If the app is ever exposed more widely, front it with SSO / an identity-aware proxy and move users out of source code.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proposal engine (and its dependencies)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One design rule keeps the three outputs identical: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the Word document is the single source of truth.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Build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proposal.py assembles allocation + market data + narrative (EN/DE)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4992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4992" y="2057400"/>
            <a:ext cx="2697480" cy="381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Render DOCX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proposal_docx.py — python-docx, brand fonts, charts as 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2057400"/>
            <a:ext cx="2697480" cy="3810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Convert 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LibreOffice (soffice) renders the DOCX to 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1392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97696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7696" y="2057400"/>
            <a:ext cx="2697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Or Google Doc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upload DOCX to Drive → native Google Doc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931920"/>
            <a:ext cx="11091672" cy="201168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09651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0B688C"/>
                </a:solidFill>
                <a:latin typeface="Söhne Halbfett"/>
                <a:cs typeface="Söhne Halbfett"/>
              </a:rPr>
              <a:t>WHAT THE CONTAINER MUST PROVIDE (all baked into the Docker image already)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LibreOffice Writer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converts DOCX → PDF (the soffice binary)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Pango / Cairo / HarfBuzz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rasterise SVG charts and shape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Brand fonts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Söhne + Sometimes Times installed system-wide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TEROXX_VECTOR_CHARTS=0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PNG charts on small instances to avoid OOM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Environment-variable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Everything configurable is an environment variable. This is the full contract between the app and its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11091672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74519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VARIABLE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874519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874519"/>
            <a:ext cx="2606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ON MIGRATION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1874519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REQ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258568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258568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DATABASE_URL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258568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Postgres connection string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258568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Set on 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2258568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0432A"/>
                </a:solidFill>
                <a:latin typeface="Söhne Halbfett"/>
                <a:cs typeface="Söhne Halbfett"/>
              </a:rPr>
              <a:t>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626156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SESSION_SECRET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626156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Signs login cookies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626156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Regenerate — secret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2626156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0432A"/>
                </a:solidFill>
                <a:latin typeface="Söhne Halbfett"/>
                <a:cs typeface="Söhne Halbfett"/>
              </a:rPr>
              <a:t>required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993745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993745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CMC_API_KEY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2993745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CoinMarketCap prices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2993745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Has public default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82528" y="2993745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3361334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COINGECKO_API_KEY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8768" y="3361334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CoinGecko fallback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3361334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Has demo default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82528" y="3361334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28923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28923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GOOGLE_SERVICE_ACCOUNT_JSON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58768" y="3728923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Google Doc export credentials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3728923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Feature-off if unset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82528" y="3728923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096512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GOOGLE_DRIVE_FOLDER_ID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8768" y="4096512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Target Drive/Shared-Drive folder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4096512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Optional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4096512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464100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4464100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GOOGLE_IMPERSONATE_SUBJECT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8768" y="4464100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Domain-wide delegation 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9327" y="4464100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Optional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82528" y="4464100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831689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GOOGLE_DOCS_SHARE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58768" y="4831689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Share mode: none / domain / anyone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9327" y="4831689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Default none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82528" y="4831689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199278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5199278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TEROXX_VECTOR_CHARTS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58768" y="5199278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Vector(1)/PNG(0) charts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5199278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0 on small hosts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82528" y="5199278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566867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PORT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58768" y="5566867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Port the server binds 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5566867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Host usually sets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82528" y="5566867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00760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095AB"/>
                </a:solidFill>
                <a:latin typeface="Söhne"/>
                <a:cs typeface="Söhne"/>
              </a:rPr>
              <a:t>● required for a healthy production deploy    ◐ needed only for Google Doc export    ○ safe default exists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Standing it up on your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migration in one picture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A step-by-step runbook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Hosting options &amp; credentials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migration in one picture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app is a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single Docker container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 plus a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Postgres database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 plus a handful of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environment variables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. Anything that can run a container can run this — no code changes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286000"/>
            <a:ext cx="82296" cy="169164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468880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80360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Built from the repo's Dockerfile. Bundles the app, LibreOffice and brand fonts. Nothing else to install.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286000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2286000"/>
            <a:ext cx="82296" cy="169164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468880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880360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 managed PostgreSQL. Point the app at it with DATABASE_URL. Durable, backed up, no 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42232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42232"/>
            <a:ext cx="82296" cy="169164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325112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secrets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736592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~5 environment variables (Section 3 table). Set once in the host's dashboard.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1344" y="4142232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1344" y="4142232"/>
            <a:ext cx="82296" cy="169164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325112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domain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36592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Optional: map a Teroxx URL and TLS certificate. Most hosts do this in a click.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Step-by-step deployment runbook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1508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Get the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Clone from Teroxx GitLab. IT should own the repo and CI going forward.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371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371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1508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Provision Postgres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Create a managed PostgreSQL; copy its connection string.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14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14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514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2651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Provision the 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Create a container service pointing at the repo's Dockerfile.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2514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1344" y="2514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2514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2651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Set env vars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DATABASE_URL, a fresh SESSION_SECRET, API keys, TEROXX_VECTOR_CHARTS.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657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657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57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3794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Build the image and start it. Tables auto-create on first boot.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3657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81344" y="3657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3657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59" y="3794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Verify health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Hit /health (200 OK), log in, generate a test PDF proposal.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800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800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800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937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Map the domain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Point a Teroxx subdomain at the service; enable TLS.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4800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1344" y="4800600"/>
            <a:ext cx="457200" cy="10241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81344" y="4800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59" y="4937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Cut over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Update bookmarks, add Emil's login, suspend the old Render app.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Because the whole runtime is in the image, steps 3–5 are the same on every provider — only the dashboard differs. A companion runbook with exact commands accompanies this deck.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to run it — a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11091672" cy="1508760"/>
          </a:xfrm>
          <a:prstGeom prst="rect">
            <a:avLst/>
          </a:prstGeom>
          <a:solidFill>
            <a:srgbClr val="EFF6F0"/>
          </a:solidFill>
          <a:ln w="9525">
            <a:solidFill>
              <a:srgbClr val="1A8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91440" cy="1508760"/>
          </a:xfrm>
          <a:prstGeom prst="rect">
            <a:avLst/>
          </a:prstGeom>
          <a:solidFill>
            <a:srgbClr val="1A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361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1A8A4A"/>
                </a:solidFill>
                <a:latin typeface="Söhne Halbfett"/>
                <a:cs typeface="Söhne Halbfett"/>
              </a:rPr>
              <a:t>RECOMMENDED — AWS, aligned with Teroxx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IT has indicated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AWS with the EKS container platform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as Teroxx's standard, plus a managed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RDS Postgres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. The app is a single small, stateless service, so on EKS it is just one Deployment + Service + Ingress. If lower operational overhead is preferred, the same image runs unchanged on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AWS App Runner or ECS Fargate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. Exact setup to be finalised with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0B688C"/>
                </a:solidFill>
                <a:latin typeface="Söhne Halbfett"/>
                <a:cs typeface="Söhne Halbfett"/>
              </a:rPr>
              <a:t>OPTIONS AT A GLANCE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2697480" cy="44450"/>
          </a:xfrm>
          <a:prstGeom prst="rect">
            <a:avLst/>
          </a:prstGeom>
          <a:solidFill>
            <a:srgbClr val="1A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AWS EKS
(Teroxx container standard)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One Deployment + Service + Ingress, with RDS Postgres alongside. IT's named platform.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8A4A"/>
                </a:solidFill>
                <a:latin typeface="Söhne Halbfett"/>
                <a:cs typeface="Söhne Halbfett"/>
              </a:rPr>
              <a:t>Target — align with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3429000"/>
            <a:ext cx="2697480" cy="4445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AWS App Runner / ECS Fargate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Same image, AWS-native, far less to operate than a full cluster.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688C"/>
                </a:solidFill>
                <a:latin typeface="Söhne Halbfett"/>
                <a:cs typeface="Söhne Halbfett"/>
              </a:rPr>
              <a:t>Lower-ops AWS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429000"/>
            <a:ext cx="2697480" cy="4445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PaaS
(Render / Railway / Fly.io)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Same model as today; render.yaml already in the repo. A quick bridge.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06643"/>
                </a:solidFill>
                <a:latin typeface="Söhne Halbfett"/>
                <a:cs typeface="Söhne Halbfett"/>
              </a:rPr>
              <a:t>Fastest lift-and-shift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7696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97696" y="3429000"/>
            <a:ext cx="2697480" cy="44450"/>
          </a:xfrm>
          <a:prstGeom prst="rect">
            <a:avLst/>
          </a:prstGeom>
          <a:solidFill>
            <a:srgbClr val="4A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576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Other clouds
(Cloud Run / Container Apps)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576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The identical container runs anywhere — noted for completeness.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170"/>
                </a:solidFill>
                <a:latin typeface="Söhne Halbfett"/>
                <a:cs typeface="Söhne Halbfett"/>
              </a:rPr>
              <a:t>Portable if ever needed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Credentials &amp; data transfer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No live secrets are printed in this deck.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Aleksander will hand these over through a secure channel (password manager / vault), not email or chat.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5486400" cy="406908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2996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30">
                <a:solidFill>
                  <a:srgbClr val="D06643"/>
                </a:solidFill>
                <a:latin typeface="Söhne Halbfett"/>
                <a:cs typeface="Söhne Halbfett"/>
              </a:rPr>
              <a:t>SECRETS TO TRANSFER &amp; ROTATE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50592"/>
            <a:ext cx="50292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SESSION_SECRET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generate a brand-new random value on the new host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CMC_API_KEY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register Teroxx's own CoinMarketCap account &amp; key; stop using the shared default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COINGECKO_API_KEY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register Teroxx's own CoinGecko key; stop using the personal one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Google service account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re-issue under Teroxx Workspace; share the Drive folder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Repo access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transfer GitLab ownership to IT; retire the personal GitHub mirror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Render account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hand over or rebuild; then delete the personal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1874519"/>
            <a:ext cx="5394960" cy="406908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2996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30">
                <a:solidFill>
                  <a:srgbClr val="0B688C"/>
                </a:solidFill>
                <a:latin typeface="Söhne Halbfett"/>
                <a:cs typeface="Söhne Halbfett"/>
              </a:rPr>
              <a:t>MOVING EXISTING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50592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Client data is </a:t>
            </a: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mostly test / throwaway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, so migration can start with a fresh Teroxx database — clients are re-entered as needed.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If anything must be kept: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confirm the current backend, then dump it (Postgres or SQLite) and restore into the new Teroxx Postgres before cut-over. The schema is identical — SQLAlchemy creates it automatically.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8A4A"/>
                </a:solidFill>
                <a:latin typeface="Söhne Halbfett"/>
                <a:cs typeface="Söhne Halbfett"/>
              </a:rPr>
              <a:t>Going forward: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managed Postgres + automated daily backups keeps client data durable and recoverable.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Ownership &amp; handover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Who owns what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First-week checklist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Contacts &amp; references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RESEARCH + 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5 · OWNERSHIP &amp;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Who owns what, going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A clean split: Research owns the content and daily use; IT owns the platform it runs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548640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965960"/>
            <a:ext cx="5486400" cy="566928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6596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öhne Halbfett"/>
                <a:cs typeface="Söhne Halbfett"/>
              </a:rPr>
              <a:t>RESEARCH  —  Jannick &amp; Leonardo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Day-to-day use: allocations, proposals, client reviews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model: universe, factor weights, tier rules, tilts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Proposal content: narrative templates, EN/DE wording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Deciding what changes are needed and prioritising them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Adding / offboarding client records and advisor users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965960"/>
            <a:ext cx="539496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965960"/>
            <a:ext cx="5394960" cy="5669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965960"/>
            <a:ext cx="4937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öhne Halbfett"/>
                <a:cs typeface="Söhne Halbfett"/>
              </a:rPr>
              <a:t>IT  —  Emil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743200"/>
            <a:ext cx="49377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cloud host, the database and its backups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Secrets &amp; environment variables (rotation, storage)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repo, CI/CD and deployments on push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Domain, TLS, uptime and monitoring /health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Applying code changes Research requests (or a dev)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5 · OWNERSHIP &amp;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First-week checklist &amp; key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30">
                <a:solidFill>
                  <a:srgbClr val="0B688C"/>
                </a:solidFill>
                <a:latin typeface="Söhne Halbfett"/>
                <a:cs typeface="Söhne Halbfett"/>
              </a:rPr>
              <a:t>FIRST WEEK — IN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93392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IT takes ownership of the GitLab repo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Provision Postgres + container host (Section 4)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Securely receive &amp; set the secrets; rotate keys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Deploy; verify /health, login, a test PDF proposal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Map a Teroxx domain + TLS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Add Emil's login; confirm Research can log 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Cut over, then suspend the personal Render app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Turn on database backups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371600"/>
            <a:ext cx="5394960" cy="45720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3619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30">
                <a:solidFill>
                  <a:srgbClr val="D06643"/>
                </a:solidFill>
                <a:latin typeface="Söhne Halbfett"/>
                <a:cs typeface="Söhne Halbfett"/>
              </a:rPr>
              <a:t>KEY FILES IN THE 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2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Dockerfile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the entire runtime recipe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render.yaml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current deploy config &amp; env keys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requirements.txt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Python dependencies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app/db.py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database models &amp; connection logic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app/auth.py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users &amp; session secret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app/main.py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all routes / the API surface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app/pdf/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the proposal (DOCX/PDF/GDoc) engine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CLAUDE.md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in-repo notes &amp; design decisions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handover/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this deck + companion runbook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1554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5240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00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Thank you — over to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ECE8E5"/>
                </a:solidFill>
                <a:latin typeface="Sometimes Times Medium"/>
                <a:cs typeface="Sometimes Times Medium"/>
              </a:rPr>
              <a:t>The app is small, self-contained and fully documented. Migrating it is a provision-and-deploy exercise, not a rewrite.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00">
                <a:solidFill>
                  <a:srgbClr val="BFB3A8"/>
                </a:solidFill>
                <a:latin typeface="Söhne Halbfett"/>
                <a:cs typeface="Söhne Halbfett"/>
              </a:rPr>
              <a:t>QUESTIONS DURING TRANSITION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Handover from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Aleksander Biesaga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aleksander.biesaga@teroxx.com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Research owners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Jannick Broering · Leonardo Larieira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product &amp; daily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IT owner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Emil Jorgensen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platform &amp;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 ·  Handover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